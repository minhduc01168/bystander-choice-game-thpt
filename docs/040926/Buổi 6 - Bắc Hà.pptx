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ial Bold" charset="1" panose="020B0704020202020204"/>
      <p:regular r:id="rId22"/>
    </p:embeddedFont>
    <p:embeddedFont>
      <p:font typeface="Arial" charset="1" panose="020B06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Phân biệt TC và BUG</a:t>
            </a:r>
          </a:p>
          <a:p>
            <a:r>
              <a:rPr lang="en-US"/>
              <a:t/>
            </a:r>
          </a:p>
          <a:p>
            <a:r>
              <a:rPr lang="en-US"/>
              <a:t>Test case</a:t>
            </a:r>
          </a:p>
          <a:p>
            <a:r>
              <a:rPr lang="en-US"/>
              <a:t>“Kiểm tra nút Báo giáo viên.”</a:t>
            </a:r>
          </a:p>
          <a:p>
            <a:r>
              <a:rPr lang="en-US"/>
              <a:t/>
            </a:r>
          </a:p>
          <a:p>
            <a:r>
              <a:rPr lang="en-US"/>
              <a:t>Bug</a:t>
            </a:r>
          </a:p>
          <a:p>
            <a:r>
              <a:rPr lang="en-US"/>
              <a:t>“Khi nhấn nút Báo giáo viên, game chuyển sai sang nhánh Im lặng.”</a:t>
            </a:r>
          </a:p>
          <a:p>
            <a:r>
              <a:rPr lang="en-US"/>
              <a:t/>
            </a:r>
          </a:p>
          <a:p>
            <a:r>
              <a:rPr lang="en-US"/>
              <a:t>Nói đơn giản:</a:t>
            </a:r>
          </a:p>
          <a:p>
            <a:r>
              <a:rPr lang="en-US"/>
              <a:t/>
            </a:r>
          </a:p>
          <a:p>
            <a:r>
              <a:rPr lang="en-US"/>
              <a:t>Test case = câu hỏi chúng ta đặt ra.</a:t>
            </a:r>
          </a:p>
          <a:p>
            <a:r>
              <a:rPr lang="en-US"/>
              <a:t>Bug = vấn đề chúng ta phát hiện được.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6.png" Type="http://schemas.openxmlformats.org/officeDocument/2006/relationships/image"/><Relationship Id="rId9"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2.bin" Type="http://schemas.openxmlformats.org/officeDocument/2006/relationships/oleObject"/><Relationship Id="rId2" Target="../notesSlides/notesSlide1.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2.png" Type="http://schemas.openxmlformats.org/officeDocument/2006/relationships/image"/><Relationship Id="rId9" Target="https://www.google.com/goto?url=CAESXwHrOzAVBo7X6osHdiOILQ-OGsXq15AX0meoEmGiJ5nJ08UAEL50ekvr_C0WPJHxzbVKAqMZKOx2b6q5VV-ei5ehXi_nYwRSoL4dVBwC_rtSPUFNAPyF3mungdJ_ztyz"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3.png" Type="http://schemas.openxmlformats.org/officeDocument/2006/relationships/image"/><Relationship Id="rId9" Target="../embeddings/oleObject3.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4.png" Type="http://schemas.openxmlformats.org/officeDocument/2006/relationships/image"/><Relationship Id="rId9" Target="../embeddings/oleObject4.bin" Type="http://schemas.openxmlformats.org/officeDocument/2006/relationships/oleObjec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Freeform 2" id="2"/>
          <p:cNvSpPr/>
          <p:nvPr/>
        </p:nvSpPr>
        <p:spPr>
          <a:xfrm flipH="false" flipV="false" rot="337488">
            <a:off x="2438609" y="561990"/>
            <a:ext cx="14412343" cy="9040470"/>
          </a:xfrm>
          <a:custGeom>
            <a:avLst/>
            <a:gdLst/>
            <a:ahLst/>
            <a:cxnLst/>
            <a:rect r="r" b="b" t="t" l="l"/>
            <a:pathLst>
              <a:path h="9040470" w="14412343">
                <a:moveTo>
                  <a:pt x="0" y="0"/>
                </a:moveTo>
                <a:lnTo>
                  <a:pt x="14412343" y="0"/>
                </a:lnTo>
                <a:lnTo>
                  <a:pt x="14412343" y="9040470"/>
                </a:lnTo>
                <a:lnTo>
                  <a:pt x="0" y="904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5953" y="3313902"/>
            <a:ext cx="3180174" cy="3659196"/>
          </a:xfrm>
          <a:custGeom>
            <a:avLst/>
            <a:gdLst/>
            <a:ahLst/>
            <a:cxnLst/>
            <a:rect r="r" b="b" t="t" l="l"/>
            <a:pathLst>
              <a:path h="3659196" w="3180174">
                <a:moveTo>
                  <a:pt x="0" y="0"/>
                </a:moveTo>
                <a:lnTo>
                  <a:pt x="3180175" y="0"/>
                </a:lnTo>
                <a:lnTo>
                  <a:pt x="3180175" y="3659196"/>
                </a:lnTo>
                <a:lnTo>
                  <a:pt x="0" y="3659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55694" y="498152"/>
            <a:ext cx="2497306" cy="3247088"/>
          </a:xfrm>
          <a:custGeom>
            <a:avLst/>
            <a:gdLst/>
            <a:ahLst/>
            <a:cxnLst/>
            <a:rect r="r" b="b" t="t" l="l"/>
            <a:pathLst>
              <a:path h="3247088" w="2497306">
                <a:moveTo>
                  <a:pt x="0" y="0"/>
                </a:moveTo>
                <a:lnTo>
                  <a:pt x="2497306" y="0"/>
                </a:lnTo>
                <a:lnTo>
                  <a:pt x="2497306" y="3247088"/>
                </a:lnTo>
                <a:lnTo>
                  <a:pt x="0" y="3247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420170">
            <a:off x="-115271" y="1067186"/>
            <a:ext cx="2287943" cy="3091815"/>
          </a:xfrm>
          <a:custGeom>
            <a:avLst/>
            <a:gdLst/>
            <a:ahLst/>
            <a:cxnLst/>
            <a:rect r="r" b="b" t="t" l="l"/>
            <a:pathLst>
              <a:path h="3091815" w="2287943">
                <a:moveTo>
                  <a:pt x="0" y="0"/>
                </a:moveTo>
                <a:lnTo>
                  <a:pt x="2287942" y="0"/>
                </a:lnTo>
                <a:lnTo>
                  <a:pt x="2287942" y="3091815"/>
                </a:lnTo>
                <a:lnTo>
                  <a:pt x="0" y="3091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213139">
            <a:off x="1706699" y="8142956"/>
            <a:ext cx="2495834" cy="652730"/>
            <a:chOff x="0" y="0"/>
            <a:chExt cx="3690620" cy="965200"/>
          </a:xfrm>
        </p:grpSpPr>
        <p:sp>
          <p:nvSpPr>
            <p:cNvPr name="Freeform 7" id="7"/>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8" id="8"/>
          <p:cNvGrpSpPr/>
          <p:nvPr/>
        </p:nvGrpSpPr>
        <p:grpSpPr>
          <a:xfrm rot="213139">
            <a:off x="1046524" y="8678514"/>
            <a:ext cx="2495834" cy="652730"/>
            <a:chOff x="0" y="0"/>
            <a:chExt cx="3690620" cy="965200"/>
          </a:xfrm>
        </p:grpSpPr>
        <p:sp>
          <p:nvSpPr>
            <p:cNvPr name="Freeform 9" id="9"/>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0" id="10"/>
          <p:cNvGrpSpPr/>
          <p:nvPr/>
        </p:nvGrpSpPr>
        <p:grpSpPr>
          <a:xfrm rot="0">
            <a:off x="3830955" y="3404235"/>
            <a:ext cx="7725728" cy="1876425"/>
            <a:chOff x="0" y="0"/>
            <a:chExt cx="10300970" cy="2501900"/>
          </a:xfrm>
        </p:grpSpPr>
        <p:sp>
          <p:nvSpPr>
            <p:cNvPr name="Freeform 11" id="11"/>
            <p:cNvSpPr/>
            <p:nvPr/>
          </p:nvSpPr>
          <p:spPr>
            <a:xfrm flipH="false" flipV="false" rot="0">
              <a:off x="50610" y="50682"/>
              <a:ext cx="10198377" cy="2401917"/>
            </a:xfrm>
            <a:custGeom>
              <a:avLst/>
              <a:gdLst/>
              <a:ahLst/>
              <a:cxnLst/>
              <a:rect r="r" b="b" t="t" l="l"/>
              <a:pathLst>
                <a:path h="2401917" w="10198377">
                  <a:moveTo>
                    <a:pt x="562800" y="1098668"/>
                  </a:moveTo>
                  <a:cubicBezTo>
                    <a:pt x="2036000" y="905628"/>
                    <a:pt x="2281110" y="925948"/>
                    <a:pt x="2540190" y="903088"/>
                  </a:cubicBezTo>
                  <a:cubicBezTo>
                    <a:pt x="2791650" y="880228"/>
                    <a:pt x="2973260" y="835778"/>
                    <a:pt x="3279330" y="798948"/>
                  </a:cubicBezTo>
                  <a:cubicBezTo>
                    <a:pt x="3772090" y="737988"/>
                    <a:pt x="4744910" y="651628"/>
                    <a:pt x="5217350" y="595748"/>
                  </a:cubicBezTo>
                  <a:cubicBezTo>
                    <a:pt x="5490400" y="562728"/>
                    <a:pt x="5607240" y="547488"/>
                    <a:pt x="5862510" y="510658"/>
                  </a:cubicBezTo>
                  <a:cubicBezTo>
                    <a:pt x="6242240" y="454778"/>
                    <a:pt x="6882320" y="340478"/>
                    <a:pt x="7269670" y="282058"/>
                  </a:cubicBezTo>
                  <a:cubicBezTo>
                    <a:pt x="7542720" y="241418"/>
                    <a:pt x="7735760" y="214748"/>
                    <a:pt x="7965630" y="185538"/>
                  </a:cubicBezTo>
                  <a:cubicBezTo>
                    <a:pt x="8191690" y="157598"/>
                    <a:pt x="8406320" y="142358"/>
                    <a:pt x="8638730" y="113148"/>
                  </a:cubicBezTo>
                  <a:cubicBezTo>
                    <a:pt x="8890190" y="81398"/>
                    <a:pt x="9235630" y="2658"/>
                    <a:pt x="9422320" y="118"/>
                  </a:cubicBezTo>
                  <a:cubicBezTo>
                    <a:pt x="9525190" y="-1152"/>
                    <a:pt x="9584880" y="7738"/>
                    <a:pt x="9661080" y="30598"/>
                  </a:cubicBezTo>
                  <a:cubicBezTo>
                    <a:pt x="9737280" y="52188"/>
                    <a:pt x="9814750" y="89018"/>
                    <a:pt x="9879520" y="134738"/>
                  </a:cubicBezTo>
                  <a:cubicBezTo>
                    <a:pt x="9944290" y="180458"/>
                    <a:pt x="10005250" y="238878"/>
                    <a:pt x="10052240" y="303648"/>
                  </a:cubicBezTo>
                  <a:cubicBezTo>
                    <a:pt x="10099230" y="367148"/>
                    <a:pt x="10138600" y="442078"/>
                    <a:pt x="10162730" y="518278"/>
                  </a:cubicBezTo>
                  <a:cubicBezTo>
                    <a:pt x="10186860" y="594478"/>
                    <a:pt x="10199560" y="678298"/>
                    <a:pt x="10198290" y="757038"/>
                  </a:cubicBezTo>
                  <a:cubicBezTo>
                    <a:pt x="10197020" y="837048"/>
                    <a:pt x="10181780" y="919598"/>
                    <a:pt x="10156380" y="995798"/>
                  </a:cubicBezTo>
                  <a:cubicBezTo>
                    <a:pt x="10129710" y="1070728"/>
                    <a:pt x="10089070" y="1144388"/>
                    <a:pt x="10039540" y="1206618"/>
                  </a:cubicBezTo>
                  <a:cubicBezTo>
                    <a:pt x="9991280" y="1270118"/>
                    <a:pt x="9927780" y="1327268"/>
                    <a:pt x="9861740" y="1370448"/>
                  </a:cubicBezTo>
                  <a:cubicBezTo>
                    <a:pt x="9795700" y="1414898"/>
                    <a:pt x="9718230" y="1449188"/>
                    <a:pt x="9640760" y="1469508"/>
                  </a:cubicBezTo>
                  <a:cubicBezTo>
                    <a:pt x="9564560" y="1489828"/>
                    <a:pt x="9479470" y="1497448"/>
                    <a:pt x="9400730" y="1492368"/>
                  </a:cubicBezTo>
                  <a:cubicBezTo>
                    <a:pt x="9320720" y="1486018"/>
                    <a:pt x="9238170" y="1466968"/>
                    <a:pt x="9165780" y="1436488"/>
                  </a:cubicBezTo>
                  <a:cubicBezTo>
                    <a:pt x="9092120" y="1406008"/>
                    <a:pt x="9019730" y="1361558"/>
                    <a:pt x="8960040" y="1309488"/>
                  </a:cubicBezTo>
                  <a:cubicBezTo>
                    <a:pt x="8900350" y="1256148"/>
                    <a:pt x="8845740" y="1191378"/>
                    <a:pt x="8806370" y="1122798"/>
                  </a:cubicBezTo>
                  <a:cubicBezTo>
                    <a:pt x="8765730" y="1054218"/>
                    <a:pt x="8736520" y="974208"/>
                    <a:pt x="8720010" y="896738"/>
                  </a:cubicBezTo>
                  <a:cubicBezTo>
                    <a:pt x="8703500" y="819268"/>
                    <a:pt x="8700960" y="734178"/>
                    <a:pt x="8709850" y="655438"/>
                  </a:cubicBezTo>
                  <a:cubicBezTo>
                    <a:pt x="8720010" y="576698"/>
                    <a:pt x="8744140" y="495418"/>
                    <a:pt x="8778430" y="423028"/>
                  </a:cubicBezTo>
                  <a:cubicBezTo>
                    <a:pt x="8812720" y="351908"/>
                    <a:pt x="8860980" y="282058"/>
                    <a:pt x="8916860" y="224908"/>
                  </a:cubicBezTo>
                  <a:cubicBezTo>
                    <a:pt x="8972740" y="169028"/>
                    <a:pt x="9040050" y="118228"/>
                    <a:pt x="9111170" y="81398"/>
                  </a:cubicBezTo>
                  <a:cubicBezTo>
                    <a:pt x="9182290" y="45838"/>
                    <a:pt x="9262300" y="19168"/>
                    <a:pt x="9341040" y="7738"/>
                  </a:cubicBezTo>
                  <a:cubicBezTo>
                    <a:pt x="9419780" y="-3692"/>
                    <a:pt x="9504870" y="-2422"/>
                    <a:pt x="9583610" y="11548"/>
                  </a:cubicBezTo>
                  <a:cubicBezTo>
                    <a:pt x="9661080" y="25518"/>
                    <a:pt x="9741090" y="53458"/>
                    <a:pt x="9810940" y="91558"/>
                  </a:cubicBezTo>
                  <a:cubicBezTo>
                    <a:pt x="9880790" y="129658"/>
                    <a:pt x="9946830" y="182998"/>
                    <a:pt x="10001440" y="241418"/>
                  </a:cubicBezTo>
                  <a:cubicBezTo>
                    <a:pt x="10054780" y="299838"/>
                    <a:pt x="10101770" y="369688"/>
                    <a:pt x="10133520" y="443348"/>
                  </a:cubicBezTo>
                  <a:cubicBezTo>
                    <a:pt x="10166540" y="515738"/>
                    <a:pt x="10188130" y="597018"/>
                    <a:pt x="10195750" y="677028"/>
                  </a:cubicBezTo>
                  <a:cubicBezTo>
                    <a:pt x="10202100" y="755768"/>
                    <a:pt x="10197020" y="840858"/>
                    <a:pt x="10179240" y="918328"/>
                  </a:cubicBezTo>
                  <a:cubicBezTo>
                    <a:pt x="10160190" y="994528"/>
                    <a:pt x="10128440" y="1073268"/>
                    <a:pt x="10086530" y="1140578"/>
                  </a:cubicBezTo>
                  <a:cubicBezTo>
                    <a:pt x="10044620" y="1207888"/>
                    <a:pt x="9988740" y="1272658"/>
                    <a:pt x="9926510" y="1322188"/>
                  </a:cubicBezTo>
                  <a:cubicBezTo>
                    <a:pt x="9865550" y="1372988"/>
                    <a:pt x="9791890" y="1416168"/>
                    <a:pt x="9718230" y="1444108"/>
                  </a:cubicBezTo>
                  <a:cubicBezTo>
                    <a:pt x="9643300" y="1473318"/>
                    <a:pt x="9598850" y="1474588"/>
                    <a:pt x="9482010" y="1492368"/>
                  </a:cubicBezTo>
                  <a:cubicBezTo>
                    <a:pt x="9151810" y="1545708"/>
                    <a:pt x="8172640" y="1638418"/>
                    <a:pt x="7583360" y="1715888"/>
                  </a:cubicBezTo>
                  <a:cubicBezTo>
                    <a:pt x="7067740" y="1784468"/>
                    <a:pt x="6531800" y="1875908"/>
                    <a:pt x="6134290" y="1927978"/>
                  </a:cubicBezTo>
                  <a:cubicBezTo>
                    <a:pt x="5858700" y="1963538"/>
                    <a:pt x="5674550" y="1983858"/>
                    <a:pt x="5433250" y="2009258"/>
                  </a:cubicBezTo>
                  <a:cubicBezTo>
                    <a:pt x="5176710" y="2035928"/>
                    <a:pt x="4899850" y="2063868"/>
                    <a:pt x="4635690" y="2084188"/>
                  </a:cubicBezTo>
                  <a:cubicBezTo>
                    <a:pt x="4377880" y="2104508"/>
                    <a:pt x="4114990" y="2112128"/>
                    <a:pt x="3866070" y="2133718"/>
                  </a:cubicBezTo>
                  <a:cubicBezTo>
                    <a:pt x="3632390" y="2155308"/>
                    <a:pt x="3408870" y="2190868"/>
                    <a:pt x="3185350" y="2212458"/>
                  </a:cubicBezTo>
                  <a:cubicBezTo>
                    <a:pt x="2969450" y="2232778"/>
                    <a:pt x="2764980" y="2251828"/>
                    <a:pt x="2550350" y="2260718"/>
                  </a:cubicBezTo>
                  <a:cubicBezTo>
                    <a:pt x="2329370" y="2269608"/>
                    <a:pt x="2131250" y="2249288"/>
                    <a:pt x="1878520" y="2264528"/>
                  </a:cubicBezTo>
                  <a:cubicBezTo>
                    <a:pt x="1549590" y="2284848"/>
                    <a:pt x="952690" y="2382638"/>
                    <a:pt x="748220" y="2396608"/>
                  </a:cubicBezTo>
                  <a:cubicBezTo>
                    <a:pt x="670750" y="2401688"/>
                    <a:pt x="641540" y="2404228"/>
                    <a:pt x="589470" y="2399148"/>
                  </a:cubicBezTo>
                  <a:cubicBezTo>
                    <a:pt x="537400" y="2394068"/>
                    <a:pt x="485330" y="2382638"/>
                    <a:pt x="435800" y="2364858"/>
                  </a:cubicBezTo>
                  <a:cubicBezTo>
                    <a:pt x="386270" y="2347078"/>
                    <a:pt x="338010" y="2322948"/>
                    <a:pt x="293560" y="2295008"/>
                  </a:cubicBezTo>
                  <a:cubicBezTo>
                    <a:pt x="250380" y="2265798"/>
                    <a:pt x="208470" y="2230238"/>
                    <a:pt x="174180" y="2192138"/>
                  </a:cubicBezTo>
                  <a:cubicBezTo>
                    <a:pt x="138620" y="2154038"/>
                    <a:pt x="106870" y="2109588"/>
                    <a:pt x="81470" y="2063868"/>
                  </a:cubicBezTo>
                  <a:cubicBezTo>
                    <a:pt x="56070" y="2018148"/>
                    <a:pt x="35750" y="1968618"/>
                    <a:pt x="21780" y="1917818"/>
                  </a:cubicBezTo>
                  <a:cubicBezTo>
                    <a:pt x="7810" y="1867018"/>
                    <a:pt x="190" y="1813678"/>
                    <a:pt x="190" y="1761608"/>
                  </a:cubicBezTo>
                  <a:cubicBezTo>
                    <a:pt x="-1080" y="1708268"/>
                    <a:pt x="4000" y="1654928"/>
                    <a:pt x="15430" y="1604128"/>
                  </a:cubicBezTo>
                  <a:cubicBezTo>
                    <a:pt x="26860" y="1553328"/>
                    <a:pt x="44640" y="1501258"/>
                    <a:pt x="68770" y="1454268"/>
                  </a:cubicBezTo>
                  <a:cubicBezTo>
                    <a:pt x="91630" y="1408548"/>
                    <a:pt x="120840" y="1362828"/>
                    <a:pt x="155130" y="1323458"/>
                  </a:cubicBezTo>
                  <a:cubicBezTo>
                    <a:pt x="189420" y="1282818"/>
                    <a:pt x="228790" y="1245988"/>
                    <a:pt x="271970" y="1215508"/>
                  </a:cubicBezTo>
                  <a:cubicBezTo>
                    <a:pt x="313880" y="1185028"/>
                    <a:pt x="360870" y="1158358"/>
                    <a:pt x="409130" y="1139308"/>
                  </a:cubicBezTo>
                  <a:cubicBezTo>
                    <a:pt x="458660" y="1120258"/>
                    <a:pt x="562800" y="1098668"/>
                    <a:pt x="562800" y="1098668"/>
                  </a:cubicBezTo>
                </a:path>
              </a:pathLst>
            </a:custGeom>
            <a:solidFill>
              <a:srgbClr val="C8DEF5"/>
            </a:solidFill>
            <a:ln cap="sq">
              <a:noFill/>
              <a:prstDash val="solid"/>
              <a:miter/>
            </a:ln>
          </p:spPr>
        </p:sp>
      </p:grpSp>
      <p:grpSp>
        <p:nvGrpSpPr>
          <p:cNvPr name="Group 12" id="12"/>
          <p:cNvGrpSpPr/>
          <p:nvPr/>
        </p:nvGrpSpPr>
        <p:grpSpPr>
          <a:xfrm rot="0">
            <a:off x="3722370" y="5157788"/>
            <a:ext cx="10503218" cy="2422208"/>
            <a:chOff x="0" y="0"/>
            <a:chExt cx="14004290" cy="3229610"/>
          </a:xfrm>
        </p:grpSpPr>
        <p:sp>
          <p:nvSpPr>
            <p:cNvPr name="Freeform 13" id="13"/>
            <p:cNvSpPr/>
            <p:nvPr/>
          </p:nvSpPr>
          <p:spPr>
            <a:xfrm flipH="false" flipV="false" rot="0">
              <a:off x="49329" y="49399"/>
              <a:ext cx="13907176" cy="3128310"/>
            </a:xfrm>
            <a:custGeom>
              <a:avLst/>
              <a:gdLst/>
              <a:ahLst/>
              <a:cxnLst/>
              <a:rect r="r" b="b" t="t" l="l"/>
              <a:pathLst>
                <a:path h="3128310" w="13907176">
                  <a:moveTo>
                    <a:pt x="614881" y="1821311"/>
                  </a:moveTo>
                  <a:cubicBezTo>
                    <a:pt x="2005531" y="1724791"/>
                    <a:pt x="2173171" y="1704471"/>
                    <a:pt x="2486861" y="1666371"/>
                  </a:cubicBezTo>
                  <a:cubicBezTo>
                    <a:pt x="2999941" y="1604141"/>
                    <a:pt x="4000701" y="1463171"/>
                    <a:pt x="4513781" y="1390781"/>
                  </a:cubicBezTo>
                  <a:cubicBezTo>
                    <a:pt x="4828741" y="1346331"/>
                    <a:pt x="5033211" y="1323471"/>
                    <a:pt x="5274511" y="1277751"/>
                  </a:cubicBezTo>
                  <a:cubicBezTo>
                    <a:pt x="5498031" y="1237111"/>
                    <a:pt x="5640271" y="1188851"/>
                    <a:pt x="5914591" y="1135511"/>
                  </a:cubicBezTo>
                  <a:cubicBezTo>
                    <a:pt x="6404811" y="1041531"/>
                    <a:pt x="7452561" y="892941"/>
                    <a:pt x="7966911" y="805311"/>
                  </a:cubicBezTo>
                  <a:cubicBezTo>
                    <a:pt x="8279331" y="751971"/>
                    <a:pt x="8467291" y="710061"/>
                    <a:pt x="8716211" y="669421"/>
                  </a:cubicBezTo>
                  <a:cubicBezTo>
                    <a:pt x="8962591" y="628781"/>
                    <a:pt x="9203891" y="590681"/>
                    <a:pt x="9451541" y="558931"/>
                  </a:cubicBezTo>
                  <a:cubicBezTo>
                    <a:pt x="9704271" y="527181"/>
                    <a:pt x="9955731" y="510671"/>
                    <a:pt x="10216081" y="476381"/>
                  </a:cubicBezTo>
                  <a:cubicBezTo>
                    <a:pt x="10486591" y="440821"/>
                    <a:pt x="10781231" y="386211"/>
                    <a:pt x="11044121" y="349381"/>
                  </a:cubicBezTo>
                  <a:cubicBezTo>
                    <a:pt x="11282881" y="316361"/>
                    <a:pt x="11501321" y="301121"/>
                    <a:pt x="11727381" y="265561"/>
                  </a:cubicBezTo>
                  <a:cubicBezTo>
                    <a:pt x="11954711" y="228731"/>
                    <a:pt x="12208711" y="161421"/>
                    <a:pt x="12408101" y="129671"/>
                  </a:cubicBezTo>
                  <a:cubicBezTo>
                    <a:pt x="12560501" y="106811"/>
                    <a:pt x="12701471" y="109351"/>
                    <a:pt x="12817041" y="83951"/>
                  </a:cubicBezTo>
                  <a:cubicBezTo>
                    <a:pt x="12905941" y="64901"/>
                    <a:pt x="12968171" y="21721"/>
                    <a:pt x="13045641" y="9021"/>
                  </a:cubicBezTo>
                  <a:cubicBezTo>
                    <a:pt x="13124382" y="-3679"/>
                    <a:pt x="13209471" y="-2409"/>
                    <a:pt x="13286941" y="10291"/>
                  </a:cubicBezTo>
                  <a:cubicBezTo>
                    <a:pt x="13365682" y="22991"/>
                    <a:pt x="13445691" y="50931"/>
                    <a:pt x="13515541" y="89031"/>
                  </a:cubicBezTo>
                  <a:cubicBezTo>
                    <a:pt x="13584121" y="125861"/>
                    <a:pt x="13651432" y="177931"/>
                    <a:pt x="13706041" y="235081"/>
                  </a:cubicBezTo>
                  <a:cubicBezTo>
                    <a:pt x="13760651" y="293501"/>
                    <a:pt x="13807641" y="363351"/>
                    <a:pt x="13839391" y="435741"/>
                  </a:cubicBezTo>
                  <a:cubicBezTo>
                    <a:pt x="13872410" y="508131"/>
                    <a:pt x="13895271" y="589411"/>
                    <a:pt x="13902891" y="668151"/>
                  </a:cubicBezTo>
                  <a:cubicBezTo>
                    <a:pt x="13911782" y="746891"/>
                    <a:pt x="13906701" y="831981"/>
                    <a:pt x="13888921" y="909451"/>
                  </a:cubicBezTo>
                  <a:cubicBezTo>
                    <a:pt x="13871141" y="985651"/>
                    <a:pt x="13839391" y="1064391"/>
                    <a:pt x="13798751" y="1131701"/>
                  </a:cubicBezTo>
                  <a:cubicBezTo>
                    <a:pt x="13756841" y="1200281"/>
                    <a:pt x="13702232" y="1263781"/>
                    <a:pt x="13641271" y="1314581"/>
                  </a:cubicBezTo>
                  <a:cubicBezTo>
                    <a:pt x="13580310" y="1366651"/>
                    <a:pt x="13507921" y="1408561"/>
                    <a:pt x="13434260" y="1437771"/>
                  </a:cubicBezTo>
                  <a:cubicBezTo>
                    <a:pt x="13360601" y="1466981"/>
                    <a:pt x="13276782" y="1484761"/>
                    <a:pt x="13198041" y="1488571"/>
                  </a:cubicBezTo>
                  <a:cubicBezTo>
                    <a:pt x="13119301" y="1492381"/>
                    <a:pt x="13035482" y="1482221"/>
                    <a:pt x="12959282" y="1460631"/>
                  </a:cubicBezTo>
                  <a:cubicBezTo>
                    <a:pt x="12883081" y="1439041"/>
                    <a:pt x="12805611" y="1403481"/>
                    <a:pt x="12740841" y="1359031"/>
                  </a:cubicBezTo>
                  <a:cubicBezTo>
                    <a:pt x="12674801" y="1313311"/>
                    <a:pt x="12613841" y="1254891"/>
                    <a:pt x="12566851" y="1191391"/>
                  </a:cubicBezTo>
                  <a:cubicBezTo>
                    <a:pt x="12518591" y="1127891"/>
                    <a:pt x="12480491" y="1052961"/>
                    <a:pt x="12455091" y="978031"/>
                  </a:cubicBezTo>
                  <a:cubicBezTo>
                    <a:pt x="12429691" y="903101"/>
                    <a:pt x="12416991" y="819281"/>
                    <a:pt x="12416991" y="740541"/>
                  </a:cubicBezTo>
                  <a:cubicBezTo>
                    <a:pt x="12418261" y="660531"/>
                    <a:pt x="12432231" y="577981"/>
                    <a:pt x="12457631" y="503051"/>
                  </a:cubicBezTo>
                  <a:cubicBezTo>
                    <a:pt x="12483031" y="428121"/>
                    <a:pt x="12523671" y="353191"/>
                    <a:pt x="12571931" y="289691"/>
                  </a:cubicBezTo>
                  <a:cubicBezTo>
                    <a:pt x="12620191" y="227461"/>
                    <a:pt x="12682421" y="170311"/>
                    <a:pt x="12748461" y="125861"/>
                  </a:cubicBezTo>
                  <a:cubicBezTo>
                    <a:pt x="12813231" y="81411"/>
                    <a:pt x="12890701" y="47121"/>
                    <a:pt x="12966901" y="25531"/>
                  </a:cubicBezTo>
                  <a:cubicBezTo>
                    <a:pt x="13044371" y="5211"/>
                    <a:pt x="13128191" y="-3679"/>
                    <a:pt x="13206932" y="1401"/>
                  </a:cubicBezTo>
                  <a:cubicBezTo>
                    <a:pt x="13285671" y="6481"/>
                    <a:pt x="13368221" y="24261"/>
                    <a:pt x="13441882" y="54741"/>
                  </a:cubicBezTo>
                  <a:cubicBezTo>
                    <a:pt x="13515541" y="83951"/>
                    <a:pt x="13587932" y="128401"/>
                    <a:pt x="13647621" y="179201"/>
                  </a:cubicBezTo>
                  <a:cubicBezTo>
                    <a:pt x="13707310" y="231271"/>
                    <a:pt x="13761921" y="296041"/>
                    <a:pt x="13802560" y="364621"/>
                  </a:cubicBezTo>
                  <a:cubicBezTo>
                    <a:pt x="13843201" y="433201"/>
                    <a:pt x="13873682" y="511941"/>
                    <a:pt x="13890191" y="589411"/>
                  </a:cubicBezTo>
                  <a:cubicBezTo>
                    <a:pt x="13906701" y="666881"/>
                    <a:pt x="13911782" y="750701"/>
                    <a:pt x="13901621" y="829441"/>
                  </a:cubicBezTo>
                  <a:cubicBezTo>
                    <a:pt x="13892732" y="908181"/>
                    <a:pt x="13869871" y="989461"/>
                    <a:pt x="13836851" y="1061851"/>
                  </a:cubicBezTo>
                  <a:cubicBezTo>
                    <a:pt x="13802560" y="1132971"/>
                    <a:pt x="13754301" y="1202821"/>
                    <a:pt x="13699691" y="1259971"/>
                  </a:cubicBezTo>
                  <a:cubicBezTo>
                    <a:pt x="13645082" y="1317121"/>
                    <a:pt x="13599360" y="1362841"/>
                    <a:pt x="13506651" y="1404751"/>
                  </a:cubicBezTo>
                  <a:cubicBezTo>
                    <a:pt x="13335201" y="1483491"/>
                    <a:pt x="12955471" y="1529211"/>
                    <a:pt x="12701471" y="1580011"/>
                  </a:cubicBezTo>
                  <a:cubicBezTo>
                    <a:pt x="12476681" y="1625731"/>
                    <a:pt x="12321741" y="1656211"/>
                    <a:pt x="12063931" y="1696851"/>
                  </a:cubicBezTo>
                  <a:cubicBezTo>
                    <a:pt x="11666421" y="1760351"/>
                    <a:pt x="10946331" y="1855601"/>
                    <a:pt x="10545011" y="1903861"/>
                  </a:cubicBezTo>
                  <a:cubicBezTo>
                    <a:pt x="10283391" y="1934341"/>
                    <a:pt x="10191951" y="1930531"/>
                    <a:pt x="9893501" y="1968631"/>
                  </a:cubicBezTo>
                  <a:cubicBezTo>
                    <a:pt x="9234371" y="2053721"/>
                    <a:pt x="7607501" y="2319151"/>
                    <a:pt x="6729931" y="2461391"/>
                  </a:cubicBezTo>
                  <a:cubicBezTo>
                    <a:pt x="6105091" y="2562991"/>
                    <a:pt x="5541211" y="2669671"/>
                    <a:pt x="5123381" y="2733171"/>
                  </a:cubicBezTo>
                  <a:cubicBezTo>
                    <a:pt x="4856681" y="2772541"/>
                    <a:pt x="4746191" y="2785241"/>
                    <a:pt x="4466791" y="2819531"/>
                  </a:cubicBezTo>
                  <a:cubicBezTo>
                    <a:pt x="3977841" y="2877951"/>
                    <a:pt x="2932631" y="2996061"/>
                    <a:pt x="2441141" y="3040511"/>
                  </a:cubicBezTo>
                  <a:cubicBezTo>
                    <a:pt x="2160471" y="3064641"/>
                    <a:pt x="2027121" y="3072261"/>
                    <a:pt x="1779471" y="3086231"/>
                  </a:cubicBezTo>
                  <a:cubicBezTo>
                    <a:pt x="1463241" y="3104011"/>
                    <a:pt x="894281" y="3130681"/>
                    <a:pt x="694891" y="3128141"/>
                  </a:cubicBezTo>
                  <a:cubicBezTo>
                    <a:pt x="618691" y="3128141"/>
                    <a:pt x="588211" y="3128141"/>
                    <a:pt x="537411" y="3119251"/>
                  </a:cubicBezTo>
                  <a:cubicBezTo>
                    <a:pt x="485341" y="3110361"/>
                    <a:pt x="434541" y="3093851"/>
                    <a:pt x="386281" y="3072261"/>
                  </a:cubicBezTo>
                  <a:cubicBezTo>
                    <a:pt x="338021" y="3050671"/>
                    <a:pt x="292301" y="3022731"/>
                    <a:pt x="251661" y="2990981"/>
                  </a:cubicBezTo>
                  <a:cubicBezTo>
                    <a:pt x="209751" y="2957961"/>
                    <a:pt x="171651" y="2919861"/>
                    <a:pt x="139901" y="2879221"/>
                  </a:cubicBezTo>
                  <a:cubicBezTo>
                    <a:pt x="106881" y="2837311"/>
                    <a:pt x="78941" y="2791591"/>
                    <a:pt x="57351" y="2743331"/>
                  </a:cubicBezTo>
                  <a:cubicBezTo>
                    <a:pt x="35761" y="2696341"/>
                    <a:pt x="20521" y="2644271"/>
                    <a:pt x="10361" y="2593471"/>
                  </a:cubicBezTo>
                  <a:cubicBezTo>
                    <a:pt x="1471" y="2541401"/>
                    <a:pt x="-2339" y="2486791"/>
                    <a:pt x="1471" y="2434721"/>
                  </a:cubicBezTo>
                  <a:cubicBezTo>
                    <a:pt x="4011" y="2382651"/>
                    <a:pt x="14171" y="2329311"/>
                    <a:pt x="29411" y="2279781"/>
                  </a:cubicBezTo>
                  <a:cubicBezTo>
                    <a:pt x="44651" y="2230251"/>
                    <a:pt x="67511" y="2180721"/>
                    <a:pt x="94181" y="2136271"/>
                  </a:cubicBezTo>
                  <a:cubicBezTo>
                    <a:pt x="122121" y="2090551"/>
                    <a:pt x="155141" y="2048641"/>
                    <a:pt x="191971" y="2011811"/>
                  </a:cubicBezTo>
                  <a:cubicBezTo>
                    <a:pt x="228801" y="1974981"/>
                    <a:pt x="271981" y="1940691"/>
                    <a:pt x="316431" y="1914021"/>
                  </a:cubicBezTo>
                  <a:cubicBezTo>
                    <a:pt x="360881" y="1887351"/>
                    <a:pt x="410411" y="1864491"/>
                    <a:pt x="459941" y="1849251"/>
                  </a:cubicBezTo>
                  <a:cubicBezTo>
                    <a:pt x="509471" y="1834011"/>
                    <a:pt x="616151" y="1821311"/>
                    <a:pt x="616151" y="1821311"/>
                  </a:cubicBezTo>
                </a:path>
              </a:pathLst>
            </a:custGeom>
            <a:solidFill>
              <a:srgbClr val="C8DEF5"/>
            </a:solidFill>
            <a:ln cap="sq">
              <a:noFill/>
              <a:prstDash val="solid"/>
              <a:miter/>
            </a:ln>
          </p:spPr>
        </p:sp>
      </p:grpSp>
      <p:grpSp>
        <p:nvGrpSpPr>
          <p:cNvPr name="Group 14" id="14"/>
          <p:cNvGrpSpPr/>
          <p:nvPr/>
        </p:nvGrpSpPr>
        <p:grpSpPr>
          <a:xfrm rot="0">
            <a:off x="6216968" y="7155180"/>
            <a:ext cx="5996940" cy="1009650"/>
            <a:chOff x="0" y="0"/>
            <a:chExt cx="7995920" cy="1346200"/>
          </a:xfrm>
        </p:grpSpPr>
        <p:sp>
          <p:nvSpPr>
            <p:cNvPr name="Freeform 15" id="15"/>
            <p:cNvSpPr/>
            <p:nvPr/>
          </p:nvSpPr>
          <p:spPr>
            <a:xfrm flipH="false" flipV="false" rot="0">
              <a:off x="49213" y="49050"/>
              <a:ext cx="7896219" cy="1245729"/>
            </a:xfrm>
            <a:custGeom>
              <a:avLst/>
              <a:gdLst/>
              <a:ahLst/>
              <a:cxnLst/>
              <a:rect r="r" b="b" t="t" l="l"/>
              <a:pathLst>
                <a:path h="1245729" w="7896219">
                  <a:moveTo>
                    <a:pt x="208597" y="740890"/>
                  </a:moveTo>
                  <a:cubicBezTo>
                    <a:pt x="1147127" y="610080"/>
                    <a:pt x="1664017" y="621510"/>
                    <a:pt x="2038667" y="603730"/>
                  </a:cubicBezTo>
                  <a:cubicBezTo>
                    <a:pt x="2357437" y="587220"/>
                    <a:pt x="2627947" y="571980"/>
                    <a:pt x="2922587" y="544040"/>
                  </a:cubicBezTo>
                  <a:cubicBezTo>
                    <a:pt x="3219767" y="514830"/>
                    <a:pt x="3555047" y="460220"/>
                    <a:pt x="3816667" y="433550"/>
                  </a:cubicBezTo>
                  <a:cubicBezTo>
                    <a:pt x="4021137" y="411960"/>
                    <a:pt x="4197667" y="401800"/>
                    <a:pt x="4362767" y="389100"/>
                  </a:cubicBezTo>
                  <a:cubicBezTo>
                    <a:pt x="4499927" y="378940"/>
                    <a:pt x="4615497" y="368780"/>
                    <a:pt x="4738687" y="363700"/>
                  </a:cubicBezTo>
                  <a:cubicBezTo>
                    <a:pt x="4856797" y="359890"/>
                    <a:pt x="4974907" y="370050"/>
                    <a:pt x="5087937" y="361160"/>
                  </a:cubicBezTo>
                  <a:cubicBezTo>
                    <a:pt x="5194617" y="352270"/>
                    <a:pt x="5298757" y="325600"/>
                    <a:pt x="5399087" y="315440"/>
                  </a:cubicBezTo>
                  <a:cubicBezTo>
                    <a:pt x="5490527" y="306550"/>
                    <a:pt x="5543867" y="311630"/>
                    <a:pt x="5663247" y="300200"/>
                  </a:cubicBezTo>
                  <a:cubicBezTo>
                    <a:pt x="5912167" y="274800"/>
                    <a:pt x="6467157" y="197330"/>
                    <a:pt x="6811327" y="142720"/>
                  </a:cubicBezTo>
                  <a:cubicBezTo>
                    <a:pt x="7093267" y="98270"/>
                    <a:pt x="7447597" y="11910"/>
                    <a:pt x="7579677" y="1750"/>
                  </a:cubicBezTo>
                  <a:cubicBezTo>
                    <a:pt x="7624127" y="-790"/>
                    <a:pt x="7641907" y="480"/>
                    <a:pt x="7671117" y="5560"/>
                  </a:cubicBezTo>
                  <a:cubicBezTo>
                    <a:pt x="7700327" y="11910"/>
                    <a:pt x="7730807" y="23340"/>
                    <a:pt x="7756207" y="38580"/>
                  </a:cubicBezTo>
                  <a:cubicBezTo>
                    <a:pt x="7781607" y="53820"/>
                    <a:pt x="7807007" y="74140"/>
                    <a:pt x="7826057" y="97000"/>
                  </a:cubicBezTo>
                  <a:cubicBezTo>
                    <a:pt x="7846377" y="119860"/>
                    <a:pt x="7862887" y="146530"/>
                    <a:pt x="7874317" y="174470"/>
                  </a:cubicBezTo>
                  <a:cubicBezTo>
                    <a:pt x="7885747" y="202410"/>
                    <a:pt x="7893367" y="232890"/>
                    <a:pt x="7895907" y="263370"/>
                  </a:cubicBezTo>
                  <a:cubicBezTo>
                    <a:pt x="7897177" y="292580"/>
                    <a:pt x="7894637" y="325600"/>
                    <a:pt x="7887017" y="353540"/>
                  </a:cubicBezTo>
                  <a:cubicBezTo>
                    <a:pt x="7879397" y="382750"/>
                    <a:pt x="7865427" y="411960"/>
                    <a:pt x="7848917" y="437360"/>
                  </a:cubicBezTo>
                  <a:cubicBezTo>
                    <a:pt x="7832407" y="462760"/>
                    <a:pt x="7810817" y="485620"/>
                    <a:pt x="7787957" y="504670"/>
                  </a:cubicBezTo>
                  <a:cubicBezTo>
                    <a:pt x="7763827" y="522450"/>
                    <a:pt x="7735887" y="538960"/>
                    <a:pt x="7707947" y="547850"/>
                  </a:cubicBezTo>
                  <a:cubicBezTo>
                    <a:pt x="7678737" y="558010"/>
                    <a:pt x="7648257" y="564360"/>
                    <a:pt x="7617777" y="564360"/>
                  </a:cubicBezTo>
                  <a:cubicBezTo>
                    <a:pt x="7587297" y="564360"/>
                    <a:pt x="7555547" y="560550"/>
                    <a:pt x="7527607" y="550390"/>
                  </a:cubicBezTo>
                  <a:cubicBezTo>
                    <a:pt x="7498397" y="541500"/>
                    <a:pt x="7470457" y="526260"/>
                    <a:pt x="7446327" y="508480"/>
                  </a:cubicBezTo>
                  <a:cubicBezTo>
                    <a:pt x="7422197" y="490700"/>
                    <a:pt x="7399337" y="467840"/>
                    <a:pt x="7382827" y="443710"/>
                  </a:cubicBezTo>
                  <a:cubicBezTo>
                    <a:pt x="7365047" y="419580"/>
                    <a:pt x="7351077" y="390370"/>
                    <a:pt x="7343457" y="361160"/>
                  </a:cubicBezTo>
                  <a:cubicBezTo>
                    <a:pt x="7334567" y="331950"/>
                    <a:pt x="7330757" y="300200"/>
                    <a:pt x="7332027" y="270990"/>
                  </a:cubicBezTo>
                  <a:cubicBezTo>
                    <a:pt x="7333297" y="240510"/>
                    <a:pt x="7339647" y="208760"/>
                    <a:pt x="7351077" y="180820"/>
                  </a:cubicBezTo>
                  <a:cubicBezTo>
                    <a:pt x="7361237" y="152880"/>
                    <a:pt x="7377747" y="126210"/>
                    <a:pt x="7396797" y="102080"/>
                  </a:cubicBezTo>
                  <a:cubicBezTo>
                    <a:pt x="7415847" y="79220"/>
                    <a:pt x="7439977" y="58900"/>
                    <a:pt x="7465377" y="42390"/>
                  </a:cubicBezTo>
                  <a:cubicBezTo>
                    <a:pt x="7490777" y="27150"/>
                    <a:pt x="7519987" y="14450"/>
                    <a:pt x="7549197" y="8100"/>
                  </a:cubicBezTo>
                  <a:cubicBezTo>
                    <a:pt x="7578407" y="480"/>
                    <a:pt x="7611427" y="-2060"/>
                    <a:pt x="7640637" y="1750"/>
                  </a:cubicBezTo>
                  <a:cubicBezTo>
                    <a:pt x="7671117" y="4290"/>
                    <a:pt x="7701597" y="11910"/>
                    <a:pt x="7729537" y="24610"/>
                  </a:cubicBezTo>
                  <a:cubicBezTo>
                    <a:pt x="7756207" y="37310"/>
                    <a:pt x="7782877" y="55090"/>
                    <a:pt x="7805737" y="75410"/>
                  </a:cubicBezTo>
                  <a:cubicBezTo>
                    <a:pt x="7827327" y="95730"/>
                    <a:pt x="7846377" y="121130"/>
                    <a:pt x="7861617" y="146530"/>
                  </a:cubicBezTo>
                  <a:cubicBezTo>
                    <a:pt x="7875587" y="173200"/>
                    <a:pt x="7887017" y="203680"/>
                    <a:pt x="7892097" y="232890"/>
                  </a:cubicBezTo>
                  <a:cubicBezTo>
                    <a:pt x="7897177" y="262100"/>
                    <a:pt x="7897177" y="295120"/>
                    <a:pt x="7893367" y="324330"/>
                  </a:cubicBezTo>
                  <a:cubicBezTo>
                    <a:pt x="7888287" y="353540"/>
                    <a:pt x="7878127" y="384020"/>
                    <a:pt x="7865427" y="410690"/>
                  </a:cubicBezTo>
                  <a:cubicBezTo>
                    <a:pt x="7851457" y="437360"/>
                    <a:pt x="7832407" y="464030"/>
                    <a:pt x="7810817" y="484350"/>
                  </a:cubicBezTo>
                  <a:cubicBezTo>
                    <a:pt x="7789227" y="505940"/>
                    <a:pt x="7762557" y="523720"/>
                    <a:pt x="7735887" y="536420"/>
                  </a:cubicBezTo>
                  <a:cubicBezTo>
                    <a:pt x="7709217" y="549120"/>
                    <a:pt x="7695247" y="551660"/>
                    <a:pt x="7648257" y="561820"/>
                  </a:cubicBezTo>
                  <a:cubicBezTo>
                    <a:pt x="7457757" y="605000"/>
                    <a:pt x="6650037" y="733270"/>
                    <a:pt x="6197917" y="792960"/>
                  </a:cubicBezTo>
                  <a:cubicBezTo>
                    <a:pt x="5804217" y="846300"/>
                    <a:pt x="5395277" y="893290"/>
                    <a:pt x="5089207" y="912340"/>
                  </a:cubicBezTo>
                  <a:cubicBezTo>
                    <a:pt x="4872037" y="925040"/>
                    <a:pt x="4741227" y="908530"/>
                    <a:pt x="4532947" y="919960"/>
                  </a:cubicBezTo>
                  <a:cubicBezTo>
                    <a:pt x="4266247" y="933930"/>
                    <a:pt x="3897947" y="975840"/>
                    <a:pt x="3619817" y="1005050"/>
                  </a:cubicBezTo>
                  <a:cubicBezTo>
                    <a:pt x="3386137" y="1030450"/>
                    <a:pt x="3222307" y="1059660"/>
                    <a:pt x="2974657" y="1082520"/>
                  </a:cubicBezTo>
                  <a:cubicBezTo>
                    <a:pt x="2643187" y="1111730"/>
                    <a:pt x="2173287" y="1140940"/>
                    <a:pt x="1803717" y="1151100"/>
                  </a:cubicBezTo>
                  <a:cubicBezTo>
                    <a:pt x="1472247" y="1161260"/>
                    <a:pt x="1138237" y="1130780"/>
                    <a:pt x="857567" y="1151100"/>
                  </a:cubicBezTo>
                  <a:cubicBezTo>
                    <a:pt x="630237" y="1168880"/>
                    <a:pt x="366077" y="1253970"/>
                    <a:pt x="241617" y="1245080"/>
                  </a:cubicBezTo>
                  <a:cubicBezTo>
                    <a:pt x="187007" y="1241270"/>
                    <a:pt x="155257" y="1224760"/>
                    <a:pt x="126047" y="1209520"/>
                  </a:cubicBezTo>
                  <a:cubicBezTo>
                    <a:pt x="104457" y="1199360"/>
                    <a:pt x="91757" y="1186660"/>
                    <a:pt x="76517" y="1172690"/>
                  </a:cubicBezTo>
                  <a:cubicBezTo>
                    <a:pt x="62547" y="1157450"/>
                    <a:pt x="49847" y="1144750"/>
                    <a:pt x="38417" y="1124430"/>
                  </a:cubicBezTo>
                  <a:cubicBezTo>
                    <a:pt x="23177" y="1095220"/>
                    <a:pt x="5397" y="1040610"/>
                    <a:pt x="1587" y="1007590"/>
                  </a:cubicBezTo>
                  <a:cubicBezTo>
                    <a:pt x="-953" y="984730"/>
                    <a:pt x="-953" y="969490"/>
                    <a:pt x="5397" y="946630"/>
                  </a:cubicBezTo>
                  <a:cubicBezTo>
                    <a:pt x="13017" y="914880"/>
                    <a:pt x="30797" y="866620"/>
                    <a:pt x="53657" y="834870"/>
                  </a:cubicBezTo>
                  <a:cubicBezTo>
                    <a:pt x="77787" y="804390"/>
                    <a:pt x="120967" y="775180"/>
                    <a:pt x="150177" y="759940"/>
                  </a:cubicBezTo>
                  <a:cubicBezTo>
                    <a:pt x="170497" y="748510"/>
                    <a:pt x="208597" y="740890"/>
                    <a:pt x="208597" y="740890"/>
                  </a:cubicBezTo>
                </a:path>
              </a:pathLst>
            </a:custGeom>
            <a:solidFill>
              <a:srgbClr val="C8DEF5"/>
            </a:solidFill>
            <a:ln cap="sq">
              <a:noFill/>
              <a:prstDash val="solid"/>
              <a:miter/>
            </a:ln>
          </p:spPr>
        </p:sp>
      </p:grpSp>
      <p:sp>
        <p:nvSpPr>
          <p:cNvPr name="TextBox 16" id="16"/>
          <p:cNvSpPr txBox="true"/>
          <p:nvPr/>
        </p:nvSpPr>
        <p:spPr>
          <a:xfrm rot="0">
            <a:off x="4844996" y="7149394"/>
            <a:ext cx="8482224" cy="699655"/>
          </a:xfrm>
          <a:prstGeom prst="rect">
            <a:avLst/>
          </a:prstGeom>
        </p:spPr>
        <p:txBody>
          <a:bodyPr anchor="t" rtlCol="false" tIns="0" lIns="0" bIns="0" rIns="0">
            <a:spAutoFit/>
          </a:bodyPr>
          <a:lstStyle/>
          <a:p>
            <a:pPr algn="ctr">
              <a:lnSpc>
                <a:spcPts val="5536"/>
              </a:lnSpc>
            </a:pPr>
            <a:r>
              <a:rPr lang="en-US" sz="3954" b="true">
                <a:solidFill>
                  <a:srgbClr val="202F5A"/>
                </a:solidFill>
                <a:latin typeface="Arial Bold"/>
                <a:ea typeface="Arial Bold"/>
                <a:cs typeface="Arial Bold"/>
                <a:sym typeface="Arial Bold"/>
              </a:rPr>
              <a:t>Mentor: Hai Dang</a:t>
            </a:r>
          </a:p>
        </p:txBody>
      </p:sp>
      <p:sp>
        <p:nvSpPr>
          <p:cNvPr name="TextBox 17" id="17"/>
          <p:cNvSpPr txBox="true"/>
          <p:nvPr/>
        </p:nvSpPr>
        <p:spPr>
          <a:xfrm rot="0">
            <a:off x="3454495" y="3407995"/>
            <a:ext cx="12021728" cy="2653893"/>
          </a:xfrm>
          <a:prstGeom prst="rect">
            <a:avLst/>
          </a:prstGeom>
        </p:spPr>
        <p:txBody>
          <a:bodyPr anchor="t" rtlCol="false" tIns="0" lIns="0" bIns="0" rIns="0">
            <a:spAutoFit/>
          </a:bodyPr>
          <a:lstStyle/>
          <a:p>
            <a:pPr algn="ctr">
              <a:lnSpc>
                <a:spcPts val="7022"/>
              </a:lnSpc>
            </a:pPr>
            <a:r>
              <a:rPr lang="en-US" sz="5016" b="true">
                <a:solidFill>
                  <a:srgbClr val="202F5A"/>
                </a:solidFill>
                <a:latin typeface="Arial Bold"/>
                <a:ea typeface="Arial Bold"/>
                <a:cs typeface="Arial Bold"/>
                <a:sym typeface="Arial Bold"/>
              </a:rPr>
              <a:t>Thiết kế và đánh giá các hệ thống thích ứng dựa trên trò chơi nhằm can thiệp tình trạng bắt nạt học đường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Freeform 2" id="2"/>
          <p:cNvSpPr/>
          <p:nvPr/>
        </p:nvSpPr>
        <p:spPr>
          <a:xfrm flipH="false" flipV="false" rot="337488">
            <a:off x="2438609" y="561990"/>
            <a:ext cx="14412343" cy="9040470"/>
          </a:xfrm>
          <a:custGeom>
            <a:avLst/>
            <a:gdLst/>
            <a:ahLst/>
            <a:cxnLst/>
            <a:rect r="r" b="b" t="t" l="l"/>
            <a:pathLst>
              <a:path h="9040470" w="14412343">
                <a:moveTo>
                  <a:pt x="0" y="0"/>
                </a:moveTo>
                <a:lnTo>
                  <a:pt x="14412343" y="0"/>
                </a:lnTo>
                <a:lnTo>
                  <a:pt x="14412343" y="9040470"/>
                </a:lnTo>
                <a:lnTo>
                  <a:pt x="0" y="904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5953" y="3313902"/>
            <a:ext cx="3180174" cy="3659196"/>
          </a:xfrm>
          <a:custGeom>
            <a:avLst/>
            <a:gdLst/>
            <a:ahLst/>
            <a:cxnLst/>
            <a:rect r="r" b="b" t="t" l="l"/>
            <a:pathLst>
              <a:path h="3659196" w="3180174">
                <a:moveTo>
                  <a:pt x="0" y="0"/>
                </a:moveTo>
                <a:lnTo>
                  <a:pt x="3180175" y="0"/>
                </a:lnTo>
                <a:lnTo>
                  <a:pt x="3180175" y="3659196"/>
                </a:lnTo>
                <a:lnTo>
                  <a:pt x="0" y="3659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55694" y="498152"/>
            <a:ext cx="2497306" cy="3247088"/>
          </a:xfrm>
          <a:custGeom>
            <a:avLst/>
            <a:gdLst/>
            <a:ahLst/>
            <a:cxnLst/>
            <a:rect r="r" b="b" t="t" l="l"/>
            <a:pathLst>
              <a:path h="3247088" w="2497306">
                <a:moveTo>
                  <a:pt x="0" y="0"/>
                </a:moveTo>
                <a:lnTo>
                  <a:pt x="2497306" y="0"/>
                </a:lnTo>
                <a:lnTo>
                  <a:pt x="2497306" y="3247088"/>
                </a:lnTo>
                <a:lnTo>
                  <a:pt x="0" y="3247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420170">
            <a:off x="-115271" y="1067186"/>
            <a:ext cx="2287943" cy="3091815"/>
          </a:xfrm>
          <a:custGeom>
            <a:avLst/>
            <a:gdLst/>
            <a:ahLst/>
            <a:cxnLst/>
            <a:rect r="r" b="b" t="t" l="l"/>
            <a:pathLst>
              <a:path h="3091815" w="2287943">
                <a:moveTo>
                  <a:pt x="0" y="0"/>
                </a:moveTo>
                <a:lnTo>
                  <a:pt x="2287942" y="0"/>
                </a:lnTo>
                <a:lnTo>
                  <a:pt x="2287942" y="3091815"/>
                </a:lnTo>
                <a:lnTo>
                  <a:pt x="0" y="3091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213139">
            <a:off x="1706699" y="8142956"/>
            <a:ext cx="2495834" cy="652730"/>
            <a:chOff x="0" y="0"/>
            <a:chExt cx="3690620" cy="965200"/>
          </a:xfrm>
        </p:grpSpPr>
        <p:sp>
          <p:nvSpPr>
            <p:cNvPr name="Freeform 7" id="7"/>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8" id="8"/>
          <p:cNvGrpSpPr/>
          <p:nvPr/>
        </p:nvGrpSpPr>
        <p:grpSpPr>
          <a:xfrm rot="213139">
            <a:off x="1046524" y="8678514"/>
            <a:ext cx="2495834" cy="652730"/>
            <a:chOff x="0" y="0"/>
            <a:chExt cx="3690620" cy="965200"/>
          </a:xfrm>
        </p:grpSpPr>
        <p:sp>
          <p:nvSpPr>
            <p:cNvPr name="Freeform 9" id="9"/>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0" id="10"/>
          <p:cNvGrpSpPr/>
          <p:nvPr/>
        </p:nvGrpSpPr>
        <p:grpSpPr>
          <a:xfrm rot="0">
            <a:off x="3830955" y="3404235"/>
            <a:ext cx="7725728" cy="1876425"/>
            <a:chOff x="0" y="0"/>
            <a:chExt cx="10300970" cy="2501900"/>
          </a:xfrm>
        </p:grpSpPr>
        <p:sp>
          <p:nvSpPr>
            <p:cNvPr name="Freeform 11" id="11"/>
            <p:cNvSpPr/>
            <p:nvPr/>
          </p:nvSpPr>
          <p:spPr>
            <a:xfrm flipH="false" flipV="false" rot="0">
              <a:off x="50610" y="50682"/>
              <a:ext cx="10198377" cy="2401917"/>
            </a:xfrm>
            <a:custGeom>
              <a:avLst/>
              <a:gdLst/>
              <a:ahLst/>
              <a:cxnLst/>
              <a:rect r="r" b="b" t="t" l="l"/>
              <a:pathLst>
                <a:path h="2401917" w="10198377">
                  <a:moveTo>
                    <a:pt x="562800" y="1098668"/>
                  </a:moveTo>
                  <a:cubicBezTo>
                    <a:pt x="2036000" y="905628"/>
                    <a:pt x="2281110" y="925948"/>
                    <a:pt x="2540190" y="903088"/>
                  </a:cubicBezTo>
                  <a:cubicBezTo>
                    <a:pt x="2791650" y="880228"/>
                    <a:pt x="2973260" y="835778"/>
                    <a:pt x="3279330" y="798948"/>
                  </a:cubicBezTo>
                  <a:cubicBezTo>
                    <a:pt x="3772090" y="737988"/>
                    <a:pt x="4744910" y="651628"/>
                    <a:pt x="5217350" y="595748"/>
                  </a:cubicBezTo>
                  <a:cubicBezTo>
                    <a:pt x="5490400" y="562728"/>
                    <a:pt x="5607240" y="547488"/>
                    <a:pt x="5862510" y="510658"/>
                  </a:cubicBezTo>
                  <a:cubicBezTo>
                    <a:pt x="6242240" y="454778"/>
                    <a:pt x="6882320" y="340478"/>
                    <a:pt x="7269670" y="282058"/>
                  </a:cubicBezTo>
                  <a:cubicBezTo>
                    <a:pt x="7542720" y="241418"/>
                    <a:pt x="7735760" y="214748"/>
                    <a:pt x="7965630" y="185538"/>
                  </a:cubicBezTo>
                  <a:cubicBezTo>
                    <a:pt x="8191690" y="157598"/>
                    <a:pt x="8406320" y="142358"/>
                    <a:pt x="8638730" y="113148"/>
                  </a:cubicBezTo>
                  <a:cubicBezTo>
                    <a:pt x="8890190" y="81398"/>
                    <a:pt x="9235630" y="2658"/>
                    <a:pt x="9422320" y="118"/>
                  </a:cubicBezTo>
                  <a:cubicBezTo>
                    <a:pt x="9525190" y="-1152"/>
                    <a:pt x="9584880" y="7738"/>
                    <a:pt x="9661080" y="30598"/>
                  </a:cubicBezTo>
                  <a:cubicBezTo>
                    <a:pt x="9737280" y="52188"/>
                    <a:pt x="9814750" y="89018"/>
                    <a:pt x="9879520" y="134738"/>
                  </a:cubicBezTo>
                  <a:cubicBezTo>
                    <a:pt x="9944290" y="180458"/>
                    <a:pt x="10005250" y="238878"/>
                    <a:pt x="10052240" y="303648"/>
                  </a:cubicBezTo>
                  <a:cubicBezTo>
                    <a:pt x="10099230" y="367148"/>
                    <a:pt x="10138600" y="442078"/>
                    <a:pt x="10162730" y="518278"/>
                  </a:cubicBezTo>
                  <a:cubicBezTo>
                    <a:pt x="10186860" y="594478"/>
                    <a:pt x="10199560" y="678298"/>
                    <a:pt x="10198290" y="757038"/>
                  </a:cubicBezTo>
                  <a:cubicBezTo>
                    <a:pt x="10197020" y="837048"/>
                    <a:pt x="10181780" y="919598"/>
                    <a:pt x="10156380" y="995798"/>
                  </a:cubicBezTo>
                  <a:cubicBezTo>
                    <a:pt x="10129710" y="1070728"/>
                    <a:pt x="10089070" y="1144388"/>
                    <a:pt x="10039540" y="1206618"/>
                  </a:cubicBezTo>
                  <a:cubicBezTo>
                    <a:pt x="9991280" y="1270118"/>
                    <a:pt x="9927780" y="1327268"/>
                    <a:pt x="9861740" y="1370448"/>
                  </a:cubicBezTo>
                  <a:cubicBezTo>
                    <a:pt x="9795700" y="1414898"/>
                    <a:pt x="9718230" y="1449188"/>
                    <a:pt x="9640760" y="1469508"/>
                  </a:cubicBezTo>
                  <a:cubicBezTo>
                    <a:pt x="9564560" y="1489828"/>
                    <a:pt x="9479470" y="1497448"/>
                    <a:pt x="9400730" y="1492368"/>
                  </a:cubicBezTo>
                  <a:cubicBezTo>
                    <a:pt x="9320720" y="1486018"/>
                    <a:pt x="9238170" y="1466968"/>
                    <a:pt x="9165780" y="1436488"/>
                  </a:cubicBezTo>
                  <a:cubicBezTo>
                    <a:pt x="9092120" y="1406008"/>
                    <a:pt x="9019730" y="1361558"/>
                    <a:pt x="8960040" y="1309488"/>
                  </a:cubicBezTo>
                  <a:cubicBezTo>
                    <a:pt x="8900350" y="1256148"/>
                    <a:pt x="8845740" y="1191378"/>
                    <a:pt x="8806370" y="1122798"/>
                  </a:cubicBezTo>
                  <a:cubicBezTo>
                    <a:pt x="8765730" y="1054218"/>
                    <a:pt x="8736520" y="974208"/>
                    <a:pt x="8720010" y="896738"/>
                  </a:cubicBezTo>
                  <a:cubicBezTo>
                    <a:pt x="8703500" y="819268"/>
                    <a:pt x="8700960" y="734178"/>
                    <a:pt x="8709850" y="655438"/>
                  </a:cubicBezTo>
                  <a:cubicBezTo>
                    <a:pt x="8720010" y="576698"/>
                    <a:pt x="8744140" y="495418"/>
                    <a:pt x="8778430" y="423028"/>
                  </a:cubicBezTo>
                  <a:cubicBezTo>
                    <a:pt x="8812720" y="351908"/>
                    <a:pt x="8860980" y="282058"/>
                    <a:pt x="8916860" y="224908"/>
                  </a:cubicBezTo>
                  <a:cubicBezTo>
                    <a:pt x="8972740" y="169028"/>
                    <a:pt x="9040050" y="118228"/>
                    <a:pt x="9111170" y="81398"/>
                  </a:cubicBezTo>
                  <a:cubicBezTo>
                    <a:pt x="9182290" y="45838"/>
                    <a:pt x="9262300" y="19168"/>
                    <a:pt x="9341040" y="7738"/>
                  </a:cubicBezTo>
                  <a:cubicBezTo>
                    <a:pt x="9419780" y="-3692"/>
                    <a:pt x="9504870" y="-2422"/>
                    <a:pt x="9583610" y="11548"/>
                  </a:cubicBezTo>
                  <a:cubicBezTo>
                    <a:pt x="9661080" y="25518"/>
                    <a:pt x="9741090" y="53458"/>
                    <a:pt x="9810940" y="91558"/>
                  </a:cubicBezTo>
                  <a:cubicBezTo>
                    <a:pt x="9880790" y="129658"/>
                    <a:pt x="9946830" y="182998"/>
                    <a:pt x="10001440" y="241418"/>
                  </a:cubicBezTo>
                  <a:cubicBezTo>
                    <a:pt x="10054780" y="299838"/>
                    <a:pt x="10101770" y="369688"/>
                    <a:pt x="10133520" y="443348"/>
                  </a:cubicBezTo>
                  <a:cubicBezTo>
                    <a:pt x="10166540" y="515738"/>
                    <a:pt x="10188130" y="597018"/>
                    <a:pt x="10195750" y="677028"/>
                  </a:cubicBezTo>
                  <a:cubicBezTo>
                    <a:pt x="10202100" y="755768"/>
                    <a:pt x="10197020" y="840858"/>
                    <a:pt x="10179240" y="918328"/>
                  </a:cubicBezTo>
                  <a:cubicBezTo>
                    <a:pt x="10160190" y="994528"/>
                    <a:pt x="10128440" y="1073268"/>
                    <a:pt x="10086530" y="1140578"/>
                  </a:cubicBezTo>
                  <a:cubicBezTo>
                    <a:pt x="10044620" y="1207888"/>
                    <a:pt x="9988740" y="1272658"/>
                    <a:pt x="9926510" y="1322188"/>
                  </a:cubicBezTo>
                  <a:cubicBezTo>
                    <a:pt x="9865550" y="1372988"/>
                    <a:pt x="9791890" y="1416168"/>
                    <a:pt x="9718230" y="1444108"/>
                  </a:cubicBezTo>
                  <a:cubicBezTo>
                    <a:pt x="9643300" y="1473318"/>
                    <a:pt x="9598850" y="1474588"/>
                    <a:pt x="9482010" y="1492368"/>
                  </a:cubicBezTo>
                  <a:cubicBezTo>
                    <a:pt x="9151810" y="1545708"/>
                    <a:pt x="8172640" y="1638418"/>
                    <a:pt x="7583360" y="1715888"/>
                  </a:cubicBezTo>
                  <a:cubicBezTo>
                    <a:pt x="7067740" y="1784468"/>
                    <a:pt x="6531800" y="1875908"/>
                    <a:pt x="6134290" y="1927978"/>
                  </a:cubicBezTo>
                  <a:cubicBezTo>
                    <a:pt x="5858700" y="1963538"/>
                    <a:pt x="5674550" y="1983858"/>
                    <a:pt x="5433250" y="2009258"/>
                  </a:cubicBezTo>
                  <a:cubicBezTo>
                    <a:pt x="5176710" y="2035928"/>
                    <a:pt x="4899850" y="2063868"/>
                    <a:pt x="4635690" y="2084188"/>
                  </a:cubicBezTo>
                  <a:cubicBezTo>
                    <a:pt x="4377880" y="2104508"/>
                    <a:pt x="4114990" y="2112128"/>
                    <a:pt x="3866070" y="2133718"/>
                  </a:cubicBezTo>
                  <a:cubicBezTo>
                    <a:pt x="3632390" y="2155308"/>
                    <a:pt x="3408870" y="2190868"/>
                    <a:pt x="3185350" y="2212458"/>
                  </a:cubicBezTo>
                  <a:cubicBezTo>
                    <a:pt x="2969450" y="2232778"/>
                    <a:pt x="2764980" y="2251828"/>
                    <a:pt x="2550350" y="2260718"/>
                  </a:cubicBezTo>
                  <a:cubicBezTo>
                    <a:pt x="2329370" y="2269608"/>
                    <a:pt x="2131250" y="2249288"/>
                    <a:pt x="1878520" y="2264528"/>
                  </a:cubicBezTo>
                  <a:cubicBezTo>
                    <a:pt x="1549590" y="2284848"/>
                    <a:pt x="952690" y="2382638"/>
                    <a:pt x="748220" y="2396608"/>
                  </a:cubicBezTo>
                  <a:cubicBezTo>
                    <a:pt x="670750" y="2401688"/>
                    <a:pt x="641540" y="2404228"/>
                    <a:pt x="589470" y="2399148"/>
                  </a:cubicBezTo>
                  <a:cubicBezTo>
                    <a:pt x="537400" y="2394068"/>
                    <a:pt x="485330" y="2382638"/>
                    <a:pt x="435800" y="2364858"/>
                  </a:cubicBezTo>
                  <a:cubicBezTo>
                    <a:pt x="386270" y="2347078"/>
                    <a:pt x="338010" y="2322948"/>
                    <a:pt x="293560" y="2295008"/>
                  </a:cubicBezTo>
                  <a:cubicBezTo>
                    <a:pt x="250380" y="2265798"/>
                    <a:pt x="208470" y="2230238"/>
                    <a:pt x="174180" y="2192138"/>
                  </a:cubicBezTo>
                  <a:cubicBezTo>
                    <a:pt x="138620" y="2154038"/>
                    <a:pt x="106870" y="2109588"/>
                    <a:pt x="81470" y="2063868"/>
                  </a:cubicBezTo>
                  <a:cubicBezTo>
                    <a:pt x="56070" y="2018148"/>
                    <a:pt x="35750" y="1968618"/>
                    <a:pt x="21780" y="1917818"/>
                  </a:cubicBezTo>
                  <a:cubicBezTo>
                    <a:pt x="7810" y="1867018"/>
                    <a:pt x="190" y="1813678"/>
                    <a:pt x="190" y="1761608"/>
                  </a:cubicBezTo>
                  <a:cubicBezTo>
                    <a:pt x="-1080" y="1708268"/>
                    <a:pt x="4000" y="1654928"/>
                    <a:pt x="15430" y="1604128"/>
                  </a:cubicBezTo>
                  <a:cubicBezTo>
                    <a:pt x="26860" y="1553328"/>
                    <a:pt x="44640" y="1501258"/>
                    <a:pt x="68770" y="1454268"/>
                  </a:cubicBezTo>
                  <a:cubicBezTo>
                    <a:pt x="91630" y="1408548"/>
                    <a:pt x="120840" y="1362828"/>
                    <a:pt x="155130" y="1323458"/>
                  </a:cubicBezTo>
                  <a:cubicBezTo>
                    <a:pt x="189420" y="1282818"/>
                    <a:pt x="228790" y="1245988"/>
                    <a:pt x="271970" y="1215508"/>
                  </a:cubicBezTo>
                  <a:cubicBezTo>
                    <a:pt x="313880" y="1185028"/>
                    <a:pt x="360870" y="1158358"/>
                    <a:pt x="409130" y="1139308"/>
                  </a:cubicBezTo>
                  <a:cubicBezTo>
                    <a:pt x="458660" y="1120258"/>
                    <a:pt x="562800" y="1098668"/>
                    <a:pt x="562800" y="1098668"/>
                  </a:cubicBezTo>
                </a:path>
              </a:pathLst>
            </a:custGeom>
            <a:solidFill>
              <a:srgbClr val="C8DEF5"/>
            </a:solidFill>
            <a:ln cap="sq">
              <a:noFill/>
              <a:prstDash val="solid"/>
              <a:miter/>
            </a:ln>
          </p:spPr>
        </p:sp>
      </p:grpSp>
      <p:grpSp>
        <p:nvGrpSpPr>
          <p:cNvPr name="Group 12" id="12"/>
          <p:cNvGrpSpPr/>
          <p:nvPr/>
        </p:nvGrpSpPr>
        <p:grpSpPr>
          <a:xfrm rot="0">
            <a:off x="3722370" y="5157788"/>
            <a:ext cx="10503218" cy="2422208"/>
            <a:chOff x="0" y="0"/>
            <a:chExt cx="14004290" cy="3229610"/>
          </a:xfrm>
        </p:grpSpPr>
        <p:sp>
          <p:nvSpPr>
            <p:cNvPr name="Freeform 13" id="13"/>
            <p:cNvSpPr/>
            <p:nvPr/>
          </p:nvSpPr>
          <p:spPr>
            <a:xfrm flipH="false" flipV="false" rot="0">
              <a:off x="49329" y="49399"/>
              <a:ext cx="13907176" cy="3128310"/>
            </a:xfrm>
            <a:custGeom>
              <a:avLst/>
              <a:gdLst/>
              <a:ahLst/>
              <a:cxnLst/>
              <a:rect r="r" b="b" t="t" l="l"/>
              <a:pathLst>
                <a:path h="3128310" w="13907176">
                  <a:moveTo>
                    <a:pt x="614881" y="1821311"/>
                  </a:moveTo>
                  <a:cubicBezTo>
                    <a:pt x="2005531" y="1724791"/>
                    <a:pt x="2173171" y="1704471"/>
                    <a:pt x="2486861" y="1666371"/>
                  </a:cubicBezTo>
                  <a:cubicBezTo>
                    <a:pt x="2999941" y="1604141"/>
                    <a:pt x="4000701" y="1463171"/>
                    <a:pt x="4513781" y="1390781"/>
                  </a:cubicBezTo>
                  <a:cubicBezTo>
                    <a:pt x="4828741" y="1346331"/>
                    <a:pt x="5033211" y="1323471"/>
                    <a:pt x="5274511" y="1277751"/>
                  </a:cubicBezTo>
                  <a:cubicBezTo>
                    <a:pt x="5498031" y="1237111"/>
                    <a:pt x="5640271" y="1188851"/>
                    <a:pt x="5914591" y="1135511"/>
                  </a:cubicBezTo>
                  <a:cubicBezTo>
                    <a:pt x="6404811" y="1041531"/>
                    <a:pt x="7452561" y="892941"/>
                    <a:pt x="7966911" y="805311"/>
                  </a:cubicBezTo>
                  <a:cubicBezTo>
                    <a:pt x="8279331" y="751971"/>
                    <a:pt x="8467291" y="710061"/>
                    <a:pt x="8716211" y="669421"/>
                  </a:cubicBezTo>
                  <a:cubicBezTo>
                    <a:pt x="8962591" y="628781"/>
                    <a:pt x="9203891" y="590681"/>
                    <a:pt x="9451541" y="558931"/>
                  </a:cubicBezTo>
                  <a:cubicBezTo>
                    <a:pt x="9704271" y="527181"/>
                    <a:pt x="9955731" y="510671"/>
                    <a:pt x="10216081" y="476381"/>
                  </a:cubicBezTo>
                  <a:cubicBezTo>
                    <a:pt x="10486591" y="440821"/>
                    <a:pt x="10781231" y="386211"/>
                    <a:pt x="11044121" y="349381"/>
                  </a:cubicBezTo>
                  <a:cubicBezTo>
                    <a:pt x="11282881" y="316361"/>
                    <a:pt x="11501321" y="301121"/>
                    <a:pt x="11727381" y="265561"/>
                  </a:cubicBezTo>
                  <a:cubicBezTo>
                    <a:pt x="11954711" y="228731"/>
                    <a:pt x="12208711" y="161421"/>
                    <a:pt x="12408101" y="129671"/>
                  </a:cubicBezTo>
                  <a:cubicBezTo>
                    <a:pt x="12560501" y="106811"/>
                    <a:pt x="12701471" y="109351"/>
                    <a:pt x="12817041" y="83951"/>
                  </a:cubicBezTo>
                  <a:cubicBezTo>
                    <a:pt x="12905941" y="64901"/>
                    <a:pt x="12968171" y="21721"/>
                    <a:pt x="13045641" y="9021"/>
                  </a:cubicBezTo>
                  <a:cubicBezTo>
                    <a:pt x="13124382" y="-3679"/>
                    <a:pt x="13209471" y="-2409"/>
                    <a:pt x="13286941" y="10291"/>
                  </a:cubicBezTo>
                  <a:cubicBezTo>
                    <a:pt x="13365682" y="22991"/>
                    <a:pt x="13445691" y="50931"/>
                    <a:pt x="13515541" y="89031"/>
                  </a:cubicBezTo>
                  <a:cubicBezTo>
                    <a:pt x="13584121" y="125861"/>
                    <a:pt x="13651432" y="177931"/>
                    <a:pt x="13706041" y="235081"/>
                  </a:cubicBezTo>
                  <a:cubicBezTo>
                    <a:pt x="13760651" y="293501"/>
                    <a:pt x="13807641" y="363351"/>
                    <a:pt x="13839391" y="435741"/>
                  </a:cubicBezTo>
                  <a:cubicBezTo>
                    <a:pt x="13872410" y="508131"/>
                    <a:pt x="13895271" y="589411"/>
                    <a:pt x="13902891" y="668151"/>
                  </a:cubicBezTo>
                  <a:cubicBezTo>
                    <a:pt x="13911782" y="746891"/>
                    <a:pt x="13906701" y="831981"/>
                    <a:pt x="13888921" y="909451"/>
                  </a:cubicBezTo>
                  <a:cubicBezTo>
                    <a:pt x="13871141" y="985651"/>
                    <a:pt x="13839391" y="1064391"/>
                    <a:pt x="13798751" y="1131701"/>
                  </a:cubicBezTo>
                  <a:cubicBezTo>
                    <a:pt x="13756841" y="1200281"/>
                    <a:pt x="13702232" y="1263781"/>
                    <a:pt x="13641271" y="1314581"/>
                  </a:cubicBezTo>
                  <a:cubicBezTo>
                    <a:pt x="13580310" y="1366651"/>
                    <a:pt x="13507921" y="1408561"/>
                    <a:pt x="13434260" y="1437771"/>
                  </a:cubicBezTo>
                  <a:cubicBezTo>
                    <a:pt x="13360601" y="1466981"/>
                    <a:pt x="13276782" y="1484761"/>
                    <a:pt x="13198041" y="1488571"/>
                  </a:cubicBezTo>
                  <a:cubicBezTo>
                    <a:pt x="13119301" y="1492381"/>
                    <a:pt x="13035482" y="1482221"/>
                    <a:pt x="12959282" y="1460631"/>
                  </a:cubicBezTo>
                  <a:cubicBezTo>
                    <a:pt x="12883081" y="1439041"/>
                    <a:pt x="12805611" y="1403481"/>
                    <a:pt x="12740841" y="1359031"/>
                  </a:cubicBezTo>
                  <a:cubicBezTo>
                    <a:pt x="12674801" y="1313311"/>
                    <a:pt x="12613841" y="1254891"/>
                    <a:pt x="12566851" y="1191391"/>
                  </a:cubicBezTo>
                  <a:cubicBezTo>
                    <a:pt x="12518591" y="1127891"/>
                    <a:pt x="12480491" y="1052961"/>
                    <a:pt x="12455091" y="978031"/>
                  </a:cubicBezTo>
                  <a:cubicBezTo>
                    <a:pt x="12429691" y="903101"/>
                    <a:pt x="12416991" y="819281"/>
                    <a:pt x="12416991" y="740541"/>
                  </a:cubicBezTo>
                  <a:cubicBezTo>
                    <a:pt x="12418261" y="660531"/>
                    <a:pt x="12432231" y="577981"/>
                    <a:pt x="12457631" y="503051"/>
                  </a:cubicBezTo>
                  <a:cubicBezTo>
                    <a:pt x="12483031" y="428121"/>
                    <a:pt x="12523671" y="353191"/>
                    <a:pt x="12571931" y="289691"/>
                  </a:cubicBezTo>
                  <a:cubicBezTo>
                    <a:pt x="12620191" y="227461"/>
                    <a:pt x="12682421" y="170311"/>
                    <a:pt x="12748461" y="125861"/>
                  </a:cubicBezTo>
                  <a:cubicBezTo>
                    <a:pt x="12813231" y="81411"/>
                    <a:pt x="12890701" y="47121"/>
                    <a:pt x="12966901" y="25531"/>
                  </a:cubicBezTo>
                  <a:cubicBezTo>
                    <a:pt x="13044371" y="5211"/>
                    <a:pt x="13128191" y="-3679"/>
                    <a:pt x="13206932" y="1401"/>
                  </a:cubicBezTo>
                  <a:cubicBezTo>
                    <a:pt x="13285671" y="6481"/>
                    <a:pt x="13368221" y="24261"/>
                    <a:pt x="13441882" y="54741"/>
                  </a:cubicBezTo>
                  <a:cubicBezTo>
                    <a:pt x="13515541" y="83951"/>
                    <a:pt x="13587932" y="128401"/>
                    <a:pt x="13647621" y="179201"/>
                  </a:cubicBezTo>
                  <a:cubicBezTo>
                    <a:pt x="13707310" y="231271"/>
                    <a:pt x="13761921" y="296041"/>
                    <a:pt x="13802560" y="364621"/>
                  </a:cubicBezTo>
                  <a:cubicBezTo>
                    <a:pt x="13843201" y="433201"/>
                    <a:pt x="13873682" y="511941"/>
                    <a:pt x="13890191" y="589411"/>
                  </a:cubicBezTo>
                  <a:cubicBezTo>
                    <a:pt x="13906701" y="666881"/>
                    <a:pt x="13911782" y="750701"/>
                    <a:pt x="13901621" y="829441"/>
                  </a:cubicBezTo>
                  <a:cubicBezTo>
                    <a:pt x="13892732" y="908181"/>
                    <a:pt x="13869871" y="989461"/>
                    <a:pt x="13836851" y="1061851"/>
                  </a:cubicBezTo>
                  <a:cubicBezTo>
                    <a:pt x="13802560" y="1132971"/>
                    <a:pt x="13754301" y="1202821"/>
                    <a:pt x="13699691" y="1259971"/>
                  </a:cubicBezTo>
                  <a:cubicBezTo>
                    <a:pt x="13645082" y="1317121"/>
                    <a:pt x="13599360" y="1362841"/>
                    <a:pt x="13506651" y="1404751"/>
                  </a:cubicBezTo>
                  <a:cubicBezTo>
                    <a:pt x="13335201" y="1483491"/>
                    <a:pt x="12955471" y="1529211"/>
                    <a:pt x="12701471" y="1580011"/>
                  </a:cubicBezTo>
                  <a:cubicBezTo>
                    <a:pt x="12476681" y="1625731"/>
                    <a:pt x="12321741" y="1656211"/>
                    <a:pt x="12063931" y="1696851"/>
                  </a:cubicBezTo>
                  <a:cubicBezTo>
                    <a:pt x="11666421" y="1760351"/>
                    <a:pt x="10946331" y="1855601"/>
                    <a:pt x="10545011" y="1903861"/>
                  </a:cubicBezTo>
                  <a:cubicBezTo>
                    <a:pt x="10283391" y="1934341"/>
                    <a:pt x="10191951" y="1930531"/>
                    <a:pt x="9893501" y="1968631"/>
                  </a:cubicBezTo>
                  <a:cubicBezTo>
                    <a:pt x="9234371" y="2053721"/>
                    <a:pt x="7607501" y="2319151"/>
                    <a:pt x="6729931" y="2461391"/>
                  </a:cubicBezTo>
                  <a:cubicBezTo>
                    <a:pt x="6105091" y="2562991"/>
                    <a:pt x="5541211" y="2669671"/>
                    <a:pt x="5123381" y="2733171"/>
                  </a:cubicBezTo>
                  <a:cubicBezTo>
                    <a:pt x="4856681" y="2772541"/>
                    <a:pt x="4746191" y="2785241"/>
                    <a:pt x="4466791" y="2819531"/>
                  </a:cubicBezTo>
                  <a:cubicBezTo>
                    <a:pt x="3977841" y="2877951"/>
                    <a:pt x="2932631" y="2996061"/>
                    <a:pt x="2441141" y="3040511"/>
                  </a:cubicBezTo>
                  <a:cubicBezTo>
                    <a:pt x="2160471" y="3064641"/>
                    <a:pt x="2027121" y="3072261"/>
                    <a:pt x="1779471" y="3086231"/>
                  </a:cubicBezTo>
                  <a:cubicBezTo>
                    <a:pt x="1463241" y="3104011"/>
                    <a:pt x="894281" y="3130681"/>
                    <a:pt x="694891" y="3128141"/>
                  </a:cubicBezTo>
                  <a:cubicBezTo>
                    <a:pt x="618691" y="3128141"/>
                    <a:pt x="588211" y="3128141"/>
                    <a:pt x="537411" y="3119251"/>
                  </a:cubicBezTo>
                  <a:cubicBezTo>
                    <a:pt x="485341" y="3110361"/>
                    <a:pt x="434541" y="3093851"/>
                    <a:pt x="386281" y="3072261"/>
                  </a:cubicBezTo>
                  <a:cubicBezTo>
                    <a:pt x="338021" y="3050671"/>
                    <a:pt x="292301" y="3022731"/>
                    <a:pt x="251661" y="2990981"/>
                  </a:cubicBezTo>
                  <a:cubicBezTo>
                    <a:pt x="209751" y="2957961"/>
                    <a:pt x="171651" y="2919861"/>
                    <a:pt x="139901" y="2879221"/>
                  </a:cubicBezTo>
                  <a:cubicBezTo>
                    <a:pt x="106881" y="2837311"/>
                    <a:pt x="78941" y="2791591"/>
                    <a:pt x="57351" y="2743331"/>
                  </a:cubicBezTo>
                  <a:cubicBezTo>
                    <a:pt x="35761" y="2696341"/>
                    <a:pt x="20521" y="2644271"/>
                    <a:pt x="10361" y="2593471"/>
                  </a:cubicBezTo>
                  <a:cubicBezTo>
                    <a:pt x="1471" y="2541401"/>
                    <a:pt x="-2339" y="2486791"/>
                    <a:pt x="1471" y="2434721"/>
                  </a:cubicBezTo>
                  <a:cubicBezTo>
                    <a:pt x="4011" y="2382651"/>
                    <a:pt x="14171" y="2329311"/>
                    <a:pt x="29411" y="2279781"/>
                  </a:cubicBezTo>
                  <a:cubicBezTo>
                    <a:pt x="44651" y="2230251"/>
                    <a:pt x="67511" y="2180721"/>
                    <a:pt x="94181" y="2136271"/>
                  </a:cubicBezTo>
                  <a:cubicBezTo>
                    <a:pt x="122121" y="2090551"/>
                    <a:pt x="155141" y="2048641"/>
                    <a:pt x="191971" y="2011811"/>
                  </a:cubicBezTo>
                  <a:cubicBezTo>
                    <a:pt x="228801" y="1974981"/>
                    <a:pt x="271981" y="1940691"/>
                    <a:pt x="316431" y="1914021"/>
                  </a:cubicBezTo>
                  <a:cubicBezTo>
                    <a:pt x="360881" y="1887351"/>
                    <a:pt x="410411" y="1864491"/>
                    <a:pt x="459941" y="1849251"/>
                  </a:cubicBezTo>
                  <a:cubicBezTo>
                    <a:pt x="509471" y="1834011"/>
                    <a:pt x="616151" y="1821311"/>
                    <a:pt x="616151" y="1821311"/>
                  </a:cubicBezTo>
                </a:path>
              </a:pathLst>
            </a:custGeom>
            <a:solidFill>
              <a:srgbClr val="C8DEF5"/>
            </a:solidFill>
            <a:ln cap="sq">
              <a:noFill/>
              <a:prstDash val="solid"/>
              <a:miter/>
            </a:ln>
          </p:spPr>
        </p:sp>
      </p:grpSp>
      <p:grpSp>
        <p:nvGrpSpPr>
          <p:cNvPr name="Group 14" id="14"/>
          <p:cNvGrpSpPr/>
          <p:nvPr/>
        </p:nvGrpSpPr>
        <p:grpSpPr>
          <a:xfrm rot="0">
            <a:off x="6216968" y="7155180"/>
            <a:ext cx="5996940" cy="1009650"/>
            <a:chOff x="0" y="0"/>
            <a:chExt cx="7995920" cy="1346200"/>
          </a:xfrm>
        </p:grpSpPr>
        <p:sp>
          <p:nvSpPr>
            <p:cNvPr name="Freeform 15" id="15"/>
            <p:cNvSpPr/>
            <p:nvPr/>
          </p:nvSpPr>
          <p:spPr>
            <a:xfrm flipH="false" flipV="false" rot="0">
              <a:off x="49213" y="49050"/>
              <a:ext cx="7896219" cy="1245729"/>
            </a:xfrm>
            <a:custGeom>
              <a:avLst/>
              <a:gdLst/>
              <a:ahLst/>
              <a:cxnLst/>
              <a:rect r="r" b="b" t="t" l="l"/>
              <a:pathLst>
                <a:path h="1245729" w="7896219">
                  <a:moveTo>
                    <a:pt x="208597" y="740890"/>
                  </a:moveTo>
                  <a:cubicBezTo>
                    <a:pt x="1147127" y="610080"/>
                    <a:pt x="1664017" y="621510"/>
                    <a:pt x="2038667" y="603730"/>
                  </a:cubicBezTo>
                  <a:cubicBezTo>
                    <a:pt x="2357437" y="587220"/>
                    <a:pt x="2627947" y="571980"/>
                    <a:pt x="2922587" y="544040"/>
                  </a:cubicBezTo>
                  <a:cubicBezTo>
                    <a:pt x="3219767" y="514830"/>
                    <a:pt x="3555047" y="460220"/>
                    <a:pt x="3816667" y="433550"/>
                  </a:cubicBezTo>
                  <a:cubicBezTo>
                    <a:pt x="4021137" y="411960"/>
                    <a:pt x="4197667" y="401800"/>
                    <a:pt x="4362767" y="389100"/>
                  </a:cubicBezTo>
                  <a:cubicBezTo>
                    <a:pt x="4499927" y="378940"/>
                    <a:pt x="4615497" y="368780"/>
                    <a:pt x="4738687" y="363700"/>
                  </a:cubicBezTo>
                  <a:cubicBezTo>
                    <a:pt x="4856797" y="359890"/>
                    <a:pt x="4974907" y="370050"/>
                    <a:pt x="5087937" y="361160"/>
                  </a:cubicBezTo>
                  <a:cubicBezTo>
                    <a:pt x="5194617" y="352270"/>
                    <a:pt x="5298757" y="325600"/>
                    <a:pt x="5399087" y="315440"/>
                  </a:cubicBezTo>
                  <a:cubicBezTo>
                    <a:pt x="5490527" y="306550"/>
                    <a:pt x="5543867" y="311630"/>
                    <a:pt x="5663247" y="300200"/>
                  </a:cubicBezTo>
                  <a:cubicBezTo>
                    <a:pt x="5912167" y="274800"/>
                    <a:pt x="6467157" y="197330"/>
                    <a:pt x="6811327" y="142720"/>
                  </a:cubicBezTo>
                  <a:cubicBezTo>
                    <a:pt x="7093267" y="98270"/>
                    <a:pt x="7447597" y="11910"/>
                    <a:pt x="7579677" y="1750"/>
                  </a:cubicBezTo>
                  <a:cubicBezTo>
                    <a:pt x="7624127" y="-790"/>
                    <a:pt x="7641907" y="480"/>
                    <a:pt x="7671117" y="5560"/>
                  </a:cubicBezTo>
                  <a:cubicBezTo>
                    <a:pt x="7700327" y="11910"/>
                    <a:pt x="7730807" y="23340"/>
                    <a:pt x="7756207" y="38580"/>
                  </a:cubicBezTo>
                  <a:cubicBezTo>
                    <a:pt x="7781607" y="53820"/>
                    <a:pt x="7807007" y="74140"/>
                    <a:pt x="7826057" y="97000"/>
                  </a:cubicBezTo>
                  <a:cubicBezTo>
                    <a:pt x="7846377" y="119860"/>
                    <a:pt x="7862887" y="146530"/>
                    <a:pt x="7874317" y="174470"/>
                  </a:cubicBezTo>
                  <a:cubicBezTo>
                    <a:pt x="7885747" y="202410"/>
                    <a:pt x="7893367" y="232890"/>
                    <a:pt x="7895907" y="263370"/>
                  </a:cubicBezTo>
                  <a:cubicBezTo>
                    <a:pt x="7897177" y="292580"/>
                    <a:pt x="7894637" y="325600"/>
                    <a:pt x="7887017" y="353540"/>
                  </a:cubicBezTo>
                  <a:cubicBezTo>
                    <a:pt x="7879397" y="382750"/>
                    <a:pt x="7865427" y="411960"/>
                    <a:pt x="7848917" y="437360"/>
                  </a:cubicBezTo>
                  <a:cubicBezTo>
                    <a:pt x="7832407" y="462760"/>
                    <a:pt x="7810817" y="485620"/>
                    <a:pt x="7787957" y="504670"/>
                  </a:cubicBezTo>
                  <a:cubicBezTo>
                    <a:pt x="7763827" y="522450"/>
                    <a:pt x="7735887" y="538960"/>
                    <a:pt x="7707947" y="547850"/>
                  </a:cubicBezTo>
                  <a:cubicBezTo>
                    <a:pt x="7678737" y="558010"/>
                    <a:pt x="7648257" y="564360"/>
                    <a:pt x="7617777" y="564360"/>
                  </a:cubicBezTo>
                  <a:cubicBezTo>
                    <a:pt x="7587297" y="564360"/>
                    <a:pt x="7555547" y="560550"/>
                    <a:pt x="7527607" y="550390"/>
                  </a:cubicBezTo>
                  <a:cubicBezTo>
                    <a:pt x="7498397" y="541500"/>
                    <a:pt x="7470457" y="526260"/>
                    <a:pt x="7446327" y="508480"/>
                  </a:cubicBezTo>
                  <a:cubicBezTo>
                    <a:pt x="7422197" y="490700"/>
                    <a:pt x="7399337" y="467840"/>
                    <a:pt x="7382827" y="443710"/>
                  </a:cubicBezTo>
                  <a:cubicBezTo>
                    <a:pt x="7365047" y="419580"/>
                    <a:pt x="7351077" y="390370"/>
                    <a:pt x="7343457" y="361160"/>
                  </a:cubicBezTo>
                  <a:cubicBezTo>
                    <a:pt x="7334567" y="331950"/>
                    <a:pt x="7330757" y="300200"/>
                    <a:pt x="7332027" y="270990"/>
                  </a:cubicBezTo>
                  <a:cubicBezTo>
                    <a:pt x="7333297" y="240510"/>
                    <a:pt x="7339647" y="208760"/>
                    <a:pt x="7351077" y="180820"/>
                  </a:cubicBezTo>
                  <a:cubicBezTo>
                    <a:pt x="7361237" y="152880"/>
                    <a:pt x="7377747" y="126210"/>
                    <a:pt x="7396797" y="102080"/>
                  </a:cubicBezTo>
                  <a:cubicBezTo>
                    <a:pt x="7415847" y="79220"/>
                    <a:pt x="7439977" y="58900"/>
                    <a:pt x="7465377" y="42390"/>
                  </a:cubicBezTo>
                  <a:cubicBezTo>
                    <a:pt x="7490777" y="27150"/>
                    <a:pt x="7519987" y="14450"/>
                    <a:pt x="7549197" y="8100"/>
                  </a:cubicBezTo>
                  <a:cubicBezTo>
                    <a:pt x="7578407" y="480"/>
                    <a:pt x="7611427" y="-2060"/>
                    <a:pt x="7640637" y="1750"/>
                  </a:cubicBezTo>
                  <a:cubicBezTo>
                    <a:pt x="7671117" y="4290"/>
                    <a:pt x="7701597" y="11910"/>
                    <a:pt x="7729537" y="24610"/>
                  </a:cubicBezTo>
                  <a:cubicBezTo>
                    <a:pt x="7756207" y="37310"/>
                    <a:pt x="7782877" y="55090"/>
                    <a:pt x="7805737" y="75410"/>
                  </a:cubicBezTo>
                  <a:cubicBezTo>
                    <a:pt x="7827327" y="95730"/>
                    <a:pt x="7846377" y="121130"/>
                    <a:pt x="7861617" y="146530"/>
                  </a:cubicBezTo>
                  <a:cubicBezTo>
                    <a:pt x="7875587" y="173200"/>
                    <a:pt x="7887017" y="203680"/>
                    <a:pt x="7892097" y="232890"/>
                  </a:cubicBezTo>
                  <a:cubicBezTo>
                    <a:pt x="7897177" y="262100"/>
                    <a:pt x="7897177" y="295120"/>
                    <a:pt x="7893367" y="324330"/>
                  </a:cubicBezTo>
                  <a:cubicBezTo>
                    <a:pt x="7888287" y="353540"/>
                    <a:pt x="7878127" y="384020"/>
                    <a:pt x="7865427" y="410690"/>
                  </a:cubicBezTo>
                  <a:cubicBezTo>
                    <a:pt x="7851457" y="437360"/>
                    <a:pt x="7832407" y="464030"/>
                    <a:pt x="7810817" y="484350"/>
                  </a:cubicBezTo>
                  <a:cubicBezTo>
                    <a:pt x="7789227" y="505940"/>
                    <a:pt x="7762557" y="523720"/>
                    <a:pt x="7735887" y="536420"/>
                  </a:cubicBezTo>
                  <a:cubicBezTo>
                    <a:pt x="7709217" y="549120"/>
                    <a:pt x="7695247" y="551660"/>
                    <a:pt x="7648257" y="561820"/>
                  </a:cubicBezTo>
                  <a:cubicBezTo>
                    <a:pt x="7457757" y="605000"/>
                    <a:pt x="6650037" y="733270"/>
                    <a:pt x="6197917" y="792960"/>
                  </a:cubicBezTo>
                  <a:cubicBezTo>
                    <a:pt x="5804217" y="846300"/>
                    <a:pt x="5395277" y="893290"/>
                    <a:pt x="5089207" y="912340"/>
                  </a:cubicBezTo>
                  <a:cubicBezTo>
                    <a:pt x="4872037" y="925040"/>
                    <a:pt x="4741227" y="908530"/>
                    <a:pt x="4532947" y="919960"/>
                  </a:cubicBezTo>
                  <a:cubicBezTo>
                    <a:pt x="4266247" y="933930"/>
                    <a:pt x="3897947" y="975840"/>
                    <a:pt x="3619817" y="1005050"/>
                  </a:cubicBezTo>
                  <a:cubicBezTo>
                    <a:pt x="3386137" y="1030450"/>
                    <a:pt x="3222307" y="1059660"/>
                    <a:pt x="2974657" y="1082520"/>
                  </a:cubicBezTo>
                  <a:cubicBezTo>
                    <a:pt x="2643187" y="1111730"/>
                    <a:pt x="2173287" y="1140940"/>
                    <a:pt x="1803717" y="1151100"/>
                  </a:cubicBezTo>
                  <a:cubicBezTo>
                    <a:pt x="1472247" y="1161260"/>
                    <a:pt x="1138237" y="1130780"/>
                    <a:pt x="857567" y="1151100"/>
                  </a:cubicBezTo>
                  <a:cubicBezTo>
                    <a:pt x="630237" y="1168880"/>
                    <a:pt x="366077" y="1253970"/>
                    <a:pt x="241617" y="1245080"/>
                  </a:cubicBezTo>
                  <a:cubicBezTo>
                    <a:pt x="187007" y="1241270"/>
                    <a:pt x="155257" y="1224760"/>
                    <a:pt x="126047" y="1209520"/>
                  </a:cubicBezTo>
                  <a:cubicBezTo>
                    <a:pt x="104457" y="1199360"/>
                    <a:pt x="91757" y="1186660"/>
                    <a:pt x="76517" y="1172690"/>
                  </a:cubicBezTo>
                  <a:cubicBezTo>
                    <a:pt x="62547" y="1157450"/>
                    <a:pt x="49847" y="1144750"/>
                    <a:pt x="38417" y="1124430"/>
                  </a:cubicBezTo>
                  <a:cubicBezTo>
                    <a:pt x="23177" y="1095220"/>
                    <a:pt x="5397" y="1040610"/>
                    <a:pt x="1587" y="1007590"/>
                  </a:cubicBezTo>
                  <a:cubicBezTo>
                    <a:pt x="-953" y="984730"/>
                    <a:pt x="-953" y="969490"/>
                    <a:pt x="5397" y="946630"/>
                  </a:cubicBezTo>
                  <a:cubicBezTo>
                    <a:pt x="13017" y="914880"/>
                    <a:pt x="30797" y="866620"/>
                    <a:pt x="53657" y="834870"/>
                  </a:cubicBezTo>
                  <a:cubicBezTo>
                    <a:pt x="77787" y="804390"/>
                    <a:pt x="120967" y="775180"/>
                    <a:pt x="150177" y="759940"/>
                  </a:cubicBezTo>
                  <a:cubicBezTo>
                    <a:pt x="170497" y="748510"/>
                    <a:pt x="208597" y="740890"/>
                    <a:pt x="208597" y="740890"/>
                  </a:cubicBezTo>
                </a:path>
              </a:pathLst>
            </a:custGeom>
            <a:solidFill>
              <a:srgbClr val="C8DEF5"/>
            </a:solidFill>
            <a:ln cap="sq">
              <a:noFill/>
              <a:prstDash val="solid"/>
              <a:miter/>
            </a:ln>
          </p:spPr>
        </p:sp>
      </p:grpSp>
      <p:sp>
        <p:nvSpPr>
          <p:cNvPr name="TextBox 16" id="16"/>
          <p:cNvSpPr txBox="true"/>
          <p:nvPr/>
        </p:nvSpPr>
        <p:spPr>
          <a:xfrm rot="0">
            <a:off x="1823337" y="5437893"/>
            <a:ext cx="14275817" cy="1768068"/>
          </a:xfrm>
          <a:prstGeom prst="rect">
            <a:avLst/>
          </a:prstGeom>
        </p:spPr>
        <p:txBody>
          <a:bodyPr anchor="t" rtlCol="false" tIns="0" lIns="0" bIns="0" rIns="0">
            <a:spAutoFit/>
          </a:bodyPr>
          <a:lstStyle/>
          <a:p>
            <a:pPr algn="ctr">
              <a:lnSpc>
                <a:spcPts val="7022"/>
              </a:lnSpc>
            </a:pPr>
            <a:r>
              <a:rPr lang="en-US" sz="5016" b="true">
                <a:solidFill>
                  <a:srgbClr val="202F5A"/>
                </a:solidFill>
                <a:latin typeface="Arial Bold"/>
                <a:ea typeface="Arial Bold"/>
                <a:cs typeface="Arial Bold"/>
                <a:sym typeface="Arial Bold"/>
              </a:rPr>
              <a:t>Buổi 6: KIỂM THỬ PHẦN MỀM</a:t>
            </a:r>
          </a:p>
          <a:p>
            <a:pPr algn="ctr">
              <a:lnSpc>
                <a:spcPts val="702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2801302"/>
            <a:ext cx="11768317" cy="75775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Kiến thức</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Giải</a:t>
            </a:r>
            <a:r>
              <a:rPr lang="en-US" sz="2600">
                <a:solidFill>
                  <a:srgbClr val="202F5A"/>
                </a:solidFill>
                <a:latin typeface="Arial"/>
                <a:ea typeface="Arial"/>
                <a:cs typeface="Arial"/>
                <a:sym typeface="Arial"/>
              </a:rPr>
              <a:t> t</a:t>
            </a:r>
            <a:r>
              <a:rPr lang="en-US" sz="2600">
                <a:solidFill>
                  <a:srgbClr val="202F5A"/>
                </a:solidFill>
                <a:latin typeface="Arial"/>
                <a:ea typeface="Arial"/>
                <a:cs typeface="Arial"/>
                <a:sym typeface="Arial"/>
              </a:rPr>
              <a:t>hích được kiểm thử phần mềm là gì.</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P</a:t>
            </a:r>
            <a:r>
              <a:rPr lang="en-US" sz="2600">
                <a:solidFill>
                  <a:srgbClr val="202F5A"/>
                </a:solidFill>
                <a:latin typeface="Arial"/>
                <a:ea typeface="Arial"/>
                <a:cs typeface="Arial"/>
                <a:sym typeface="Arial"/>
              </a:rPr>
              <a:t>hân biệt được test case, expected result, a</a:t>
            </a:r>
            <a:r>
              <a:rPr lang="en-US" sz="2600">
                <a:solidFill>
                  <a:srgbClr val="202F5A"/>
                </a:solidFill>
                <a:latin typeface="Arial"/>
                <a:ea typeface="Arial"/>
                <a:cs typeface="Arial"/>
                <a:sym typeface="Arial"/>
              </a:rPr>
              <a:t>ctual </a:t>
            </a:r>
            <a:r>
              <a:rPr lang="en-US" sz="2600">
                <a:solidFill>
                  <a:srgbClr val="202F5A"/>
                </a:solidFill>
                <a:latin typeface="Arial"/>
                <a:ea typeface="Arial"/>
                <a:cs typeface="Arial"/>
                <a:sym typeface="Arial"/>
              </a:rPr>
              <a:t>result, </a:t>
            </a:r>
            <a:r>
              <a:rPr lang="en-US" sz="2600">
                <a:solidFill>
                  <a:srgbClr val="202F5A"/>
                </a:solidFill>
                <a:latin typeface="Arial"/>
                <a:ea typeface="Arial"/>
                <a:cs typeface="Arial"/>
                <a:sym typeface="Arial"/>
              </a:rPr>
              <a:t>bug</a:t>
            </a:r>
            <a:r>
              <a:rPr lang="en-US" sz="2600">
                <a:solidFill>
                  <a:srgbClr val="202F5A"/>
                </a:solidFill>
                <a:latin typeface="Arial"/>
                <a:ea typeface="Arial"/>
                <a:cs typeface="Arial"/>
                <a:sym typeface="Arial"/>
              </a:rPr>
              <a:t>.</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Nhậ</a:t>
            </a:r>
            <a:r>
              <a:rPr lang="en-US" sz="2600">
                <a:solidFill>
                  <a:srgbClr val="202F5A"/>
                </a:solidFill>
                <a:latin typeface="Arial"/>
                <a:ea typeface="Arial"/>
                <a:cs typeface="Arial"/>
                <a:sym typeface="Arial"/>
              </a:rPr>
              <a:t>n biết</a:t>
            </a:r>
            <a:r>
              <a:rPr lang="en-US" sz="2600">
                <a:solidFill>
                  <a:srgbClr val="202F5A"/>
                </a:solidFill>
                <a:latin typeface="Arial"/>
                <a:ea typeface="Arial"/>
                <a:cs typeface="Arial"/>
                <a:sym typeface="Arial"/>
              </a:rPr>
              <a:t> một số loại kiểm thử cơ bản: </a:t>
            </a:r>
            <a:r>
              <a:rPr lang="en-US" sz="2600">
                <a:solidFill>
                  <a:srgbClr val="202F5A"/>
                </a:solidFill>
                <a:latin typeface="Arial"/>
                <a:ea typeface="Arial"/>
                <a:cs typeface="Arial"/>
                <a:sym typeface="Arial"/>
              </a:rPr>
              <a:t>Functional testing; UI testing; Input validation và Boundary testing; Regression testing</a:t>
            </a:r>
          </a:p>
          <a:p>
            <a:pPr algn="just">
              <a:lnSpc>
                <a:spcPts val="2704"/>
              </a:lnSpc>
            </a:pPr>
          </a:p>
          <a:p>
            <a:pPr algn="l">
              <a:lnSpc>
                <a:spcPts val="2704"/>
              </a:lnSpc>
            </a:pPr>
            <a:r>
              <a:rPr lang="en-US" sz="2600" b="true">
                <a:solidFill>
                  <a:srgbClr val="202F5A"/>
                </a:solidFill>
                <a:latin typeface="Arial Bold"/>
                <a:ea typeface="Arial Bold"/>
                <a:cs typeface="Arial Bold"/>
                <a:sym typeface="Arial Bold"/>
              </a:rPr>
              <a:t>Kỹ năng</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Xây dựng test case cho một chức năng.</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Thực hiện test game Ren'Py.</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Kiểm tra dashboard Streamlit.</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Ghi nhận lỗi một cách có hệ thống.</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Kiểm thử lại sau khi lỗi được sửa.</a:t>
            </a:r>
          </a:p>
          <a:p>
            <a:pPr algn="just">
              <a:lnSpc>
                <a:spcPts val="2704"/>
              </a:lnSpc>
            </a:pPr>
          </a:p>
          <a:p>
            <a:pPr algn="just">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MỤC TIÊU BUỔI HỌC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3339408"/>
            <a:ext cx="12708524" cy="3462783"/>
          </a:xfrm>
          <a:prstGeom prst="rect">
            <a:avLst/>
          </a:prstGeom>
        </p:spPr>
        <p:txBody>
          <a:bodyPr anchor="t" rtlCol="false" tIns="0" lIns="0" bIns="0" rIns="0">
            <a:spAutoFit/>
          </a:bodyPr>
          <a:lstStyle/>
          <a:p>
            <a:pPr algn="just">
              <a:lnSpc>
                <a:spcPts val="2704"/>
              </a:lnSpc>
            </a:pPr>
            <a:r>
              <a:rPr lang="en-US" sz="2600">
                <a:solidFill>
                  <a:srgbClr val="202F5A"/>
                </a:solidFill>
                <a:latin typeface="Arial"/>
                <a:ea typeface="Arial"/>
                <a:cs typeface="Arial"/>
                <a:sym typeface="Arial"/>
              </a:rPr>
              <a:t>Giả sử tình huống sau:</a:t>
            </a:r>
          </a:p>
          <a:p>
            <a:pPr algn="just">
              <a:lnSpc>
                <a:spcPts val="2704"/>
              </a:lnSpc>
            </a:pPr>
          </a:p>
          <a:p>
            <a:pPr algn="just">
              <a:lnSpc>
                <a:spcPts val="2704"/>
              </a:lnSpc>
            </a:pPr>
            <a:r>
              <a:rPr lang="en-US" sz="2600">
                <a:solidFill>
                  <a:srgbClr val="202F5A"/>
                </a:solidFill>
                <a:latin typeface="Arial"/>
                <a:ea typeface="Arial"/>
                <a:cs typeface="Arial"/>
                <a:sym typeface="Arial"/>
              </a:rPr>
              <a:t>“Game có thể mở bình thường.</a:t>
            </a:r>
          </a:p>
          <a:p>
            <a:pPr algn="just">
              <a:lnSpc>
                <a:spcPts val="2704"/>
              </a:lnSpc>
            </a:pPr>
            <a:r>
              <a:rPr lang="en-US" sz="2600">
                <a:solidFill>
                  <a:srgbClr val="202F5A"/>
                </a:solidFill>
                <a:latin typeface="Arial"/>
                <a:ea typeface="Arial"/>
                <a:cs typeface="Arial"/>
                <a:sym typeface="Arial"/>
              </a:rPr>
              <a:t>⟶ Người chơi chọn “Báo với giáo viên”. Nhưng sau khi chọn, game lại chuyển sang màn hình “Im lặng và bỏ qua”.”</a:t>
            </a:r>
          </a:p>
          <a:p>
            <a:pPr algn="just">
              <a:lnSpc>
                <a:spcPts val="2704"/>
              </a:lnSpc>
            </a:pPr>
          </a:p>
          <a:p>
            <a:pPr algn="just">
              <a:lnSpc>
                <a:spcPts val="2704"/>
              </a:lnSpc>
            </a:pPr>
            <a:r>
              <a:rPr lang="en-US" sz="2600">
                <a:solidFill>
                  <a:srgbClr val="202F5A"/>
                </a:solidFill>
                <a:latin typeface="Arial"/>
                <a:ea typeface="Arial"/>
                <a:cs typeface="Arial"/>
                <a:sym typeface="Arial"/>
              </a:rPr>
              <a:t>⟶ </a:t>
            </a:r>
            <a:r>
              <a:rPr lang="en-US" sz="2600" b="true">
                <a:solidFill>
                  <a:srgbClr val="202F5A"/>
                </a:solidFill>
                <a:latin typeface="Arial Bold"/>
                <a:ea typeface="Arial Bold"/>
                <a:cs typeface="Arial Bold"/>
                <a:sym typeface="Arial Bold"/>
              </a:rPr>
              <a:t>“Theo em, game này có được xem là hoạt động đúng không?”</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 “Nếu game không bị crash nhưng đưa ra kết quả sai thì có phải lỗi không?”</a:t>
            </a:r>
          </a:p>
          <a:p>
            <a:pPr algn="just">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VÍ DỤ</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850091" y="5143500"/>
            <a:ext cx="6146083" cy="3470729"/>
          </a:xfrm>
          <a:custGeom>
            <a:avLst/>
            <a:gdLst/>
            <a:ahLst/>
            <a:cxnLst/>
            <a:rect r="r" b="b" t="t" l="l"/>
            <a:pathLst>
              <a:path h="3470729" w="6146083">
                <a:moveTo>
                  <a:pt x="0" y="0"/>
                </a:moveTo>
                <a:lnTo>
                  <a:pt x="6146083" y="0"/>
                </a:lnTo>
                <a:lnTo>
                  <a:pt x="6146083" y="3470729"/>
                </a:lnTo>
                <a:lnTo>
                  <a:pt x="0" y="3470729"/>
                </a:lnTo>
                <a:lnTo>
                  <a:pt x="0" y="0"/>
                </a:lnTo>
                <a:close/>
              </a:path>
            </a:pathLst>
          </a:custGeom>
          <a:blipFill>
            <a:blip r:embed="rId8"/>
            <a:stretch>
              <a:fillRect l="0" t="0" r="0" b="0"/>
            </a:stretch>
          </a:blipFill>
        </p:spPr>
      </p:sp>
      <p:sp>
        <p:nvSpPr>
          <p:cNvPr name="TextBox 12" id="12"/>
          <p:cNvSpPr txBox="true"/>
          <p:nvPr/>
        </p:nvSpPr>
        <p:spPr>
          <a:xfrm rot="0">
            <a:off x="2244865" y="3206386"/>
            <a:ext cx="9492161" cy="55201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Kiểm thử phần mềm (software testing)</a:t>
            </a:r>
            <a:r>
              <a:rPr lang="en-US" sz="2600">
                <a:solidFill>
                  <a:srgbClr val="202F5A"/>
                </a:solidFill>
                <a:latin typeface="Arial"/>
                <a:ea typeface="Arial"/>
                <a:cs typeface="Arial"/>
                <a:sym typeface="Arial"/>
              </a:rPr>
              <a:t> là quá trình đánh giá, xác minh và xác nhận xem một sản phẩm phần mề</a:t>
            </a:r>
            <a:r>
              <a:rPr lang="en-US" sz="2600">
                <a:solidFill>
                  <a:srgbClr val="202F5A"/>
                </a:solidFill>
                <a:latin typeface="Arial"/>
                <a:ea typeface="Arial"/>
                <a:cs typeface="Arial"/>
                <a:sym typeface="Arial"/>
              </a:rPr>
              <a:t>m có hoạt động đúng </a:t>
            </a:r>
            <a:r>
              <a:rPr lang="en-US" sz="2600">
                <a:solidFill>
                  <a:srgbClr val="202F5A"/>
                </a:solidFill>
                <a:latin typeface="Arial"/>
                <a:ea typeface="Arial"/>
                <a:cs typeface="Arial"/>
                <a:sym typeface="Arial"/>
              </a:rPr>
              <a:t>như </a:t>
            </a:r>
            <a:r>
              <a:rPr lang="en-US" sz="2600">
                <a:solidFill>
                  <a:srgbClr val="202F5A"/>
                </a:solidFill>
                <a:latin typeface="Arial"/>
                <a:ea typeface="Arial"/>
                <a:cs typeface="Arial"/>
                <a:sym typeface="Arial"/>
              </a:rPr>
              <a:t>k</a:t>
            </a:r>
            <a:r>
              <a:rPr lang="en-US" sz="2600">
                <a:solidFill>
                  <a:srgbClr val="202F5A"/>
                </a:solidFill>
                <a:latin typeface="Arial"/>
                <a:ea typeface="Arial"/>
                <a:cs typeface="Arial"/>
                <a:sym typeface="Arial"/>
              </a:rPr>
              <a:t>ỳ vọ</a:t>
            </a:r>
            <a:r>
              <a:rPr lang="en-US" sz="2600">
                <a:solidFill>
                  <a:srgbClr val="202F5A"/>
                </a:solidFill>
                <a:latin typeface="Arial"/>
                <a:ea typeface="Arial"/>
                <a:cs typeface="Arial"/>
                <a:sym typeface="Arial"/>
              </a:rPr>
              <a:t>ng</a:t>
            </a:r>
            <a:r>
              <a:rPr lang="en-US" sz="2600">
                <a:solidFill>
                  <a:srgbClr val="202F5A"/>
                </a:solidFill>
                <a:latin typeface="Arial"/>
                <a:ea typeface="Arial"/>
                <a:cs typeface="Arial"/>
                <a:sym typeface="Arial"/>
              </a:rPr>
              <a:t>,</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đáp</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ứn</a:t>
            </a:r>
            <a:r>
              <a:rPr lang="en-US" sz="2600">
                <a:solidFill>
                  <a:srgbClr val="202F5A"/>
                </a:solidFill>
                <a:latin typeface="Arial"/>
                <a:ea typeface="Arial"/>
                <a:cs typeface="Arial"/>
                <a:sym typeface="Arial"/>
              </a:rPr>
              <a:t>g </a:t>
            </a:r>
            <a:r>
              <a:rPr lang="en-US" sz="2600">
                <a:solidFill>
                  <a:srgbClr val="202F5A"/>
                </a:solidFill>
                <a:latin typeface="Arial"/>
                <a:ea typeface="Arial"/>
                <a:cs typeface="Arial"/>
                <a:sym typeface="Arial"/>
              </a:rPr>
              <a:t>các</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yêu</a:t>
            </a:r>
            <a:r>
              <a:rPr lang="en-US" sz="2600">
                <a:solidFill>
                  <a:srgbClr val="202F5A"/>
                </a:solidFill>
                <a:latin typeface="Arial"/>
                <a:ea typeface="Arial"/>
                <a:cs typeface="Arial"/>
                <a:sym typeface="Arial"/>
              </a:rPr>
              <a:t> c</a:t>
            </a:r>
            <a:r>
              <a:rPr lang="en-US" sz="2600">
                <a:solidFill>
                  <a:srgbClr val="202F5A"/>
                </a:solidFill>
                <a:latin typeface="Arial"/>
                <a:ea typeface="Arial"/>
                <a:cs typeface="Arial"/>
                <a:sym typeface="Arial"/>
              </a:rPr>
              <a:t>ầu kỹ t</a:t>
            </a:r>
            <a:r>
              <a:rPr lang="en-US" sz="2600">
                <a:solidFill>
                  <a:srgbClr val="202F5A"/>
                </a:solidFill>
                <a:latin typeface="Arial"/>
                <a:ea typeface="Arial"/>
                <a:cs typeface="Arial"/>
                <a:sym typeface="Arial"/>
              </a:rPr>
              <a:t>h</a:t>
            </a:r>
            <a:r>
              <a:rPr lang="en-US" sz="2600">
                <a:solidFill>
                  <a:srgbClr val="202F5A"/>
                </a:solidFill>
                <a:latin typeface="Arial"/>
                <a:ea typeface="Arial"/>
                <a:cs typeface="Arial"/>
                <a:sym typeface="Arial"/>
              </a:rPr>
              <a:t>uật</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lẫ</a:t>
            </a:r>
            <a:r>
              <a:rPr lang="en-US" sz="2600">
                <a:solidFill>
                  <a:srgbClr val="202F5A"/>
                </a:solidFill>
                <a:latin typeface="Arial"/>
                <a:ea typeface="Arial"/>
                <a:cs typeface="Arial"/>
                <a:sym typeface="Arial"/>
              </a:rPr>
              <a:t>n t</a:t>
            </a:r>
            <a:r>
              <a:rPr lang="en-US" sz="2600">
                <a:solidFill>
                  <a:srgbClr val="202F5A"/>
                </a:solidFill>
                <a:latin typeface="Arial"/>
                <a:ea typeface="Arial"/>
                <a:cs typeface="Arial"/>
                <a:sym typeface="Arial"/>
              </a:rPr>
              <a:t>hực</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tế</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và</a:t>
            </a: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k</a:t>
            </a:r>
            <a:r>
              <a:rPr lang="en-US" sz="2600">
                <a:solidFill>
                  <a:srgbClr val="202F5A"/>
                </a:solidFill>
                <a:latin typeface="Arial"/>
                <a:ea typeface="Arial"/>
                <a:cs typeface="Arial"/>
                <a:sym typeface="Arial"/>
              </a:rPr>
              <a:t>h</a:t>
            </a:r>
            <a:r>
              <a:rPr lang="en-US" sz="2600">
                <a:solidFill>
                  <a:srgbClr val="202F5A"/>
                </a:solidFill>
                <a:latin typeface="Arial"/>
                <a:ea typeface="Arial"/>
                <a:cs typeface="Arial"/>
                <a:sym typeface="Arial"/>
              </a:rPr>
              <a:t>ông</a:t>
            </a:r>
            <a:r>
              <a:rPr lang="en-US" sz="2600">
                <a:solidFill>
                  <a:srgbClr val="202F5A"/>
                </a:solidFill>
                <a:latin typeface="Arial"/>
                <a:ea typeface="Arial"/>
                <a:cs typeface="Arial"/>
                <a:sym typeface="Arial"/>
              </a:rPr>
              <a:t> ch</a:t>
            </a:r>
            <a:r>
              <a:rPr lang="en-US" sz="2600">
                <a:solidFill>
                  <a:srgbClr val="202F5A"/>
                </a:solidFill>
                <a:latin typeface="Arial"/>
                <a:ea typeface="Arial"/>
                <a:cs typeface="Arial"/>
                <a:sym typeface="Arial"/>
              </a:rPr>
              <a:t>ứa</a:t>
            </a:r>
            <a:r>
              <a:rPr lang="en-US" sz="2600">
                <a:solidFill>
                  <a:srgbClr val="202F5A"/>
                </a:solidFill>
                <a:latin typeface="Arial"/>
                <a:ea typeface="Arial"/>
                <a:cs typeface="Arial"/>
                <a:sym typeface="Arial"/>
              </a:rPr>
              <a:t> lỗi </a:t>
            </a:r>
            <a:r>
              <a:rPr lang="en-US" sz="2600">
                <a:solidFill>
                  <a:srgbClr val="202F5A"/>
                </a:solidFill>
                <a:latin typeface="Arial"/>
                <a:ea typeface="Arial"/>
                <a:cs typeface="Arial"/>
                <a:sym typeface="Arial"/>
              </a:rPr>
              <a:t>hay </a:t>
            </a:r>
            <a:r>
              <a:rPr lang="en-US" sz="2600">
                <a:solidFill>
                  <a:srgbClr val="202F5A"/>
                </a:solidFill>
                <a:latin typeface="Arial"/>
                <a:ea typeface="Arial"/>
                <a:cs typeface="Arial"/>
                <a:sym typeface="Arial"/>
              </a:rPr>
              <a:t>không</a:t>
            </a:r>
            <a:r>
              <a:rPr lang="en-US" sz="2600">
                <a:solidFill>
                  <a:srgbClr val="202F5A"/>
                </a:solidFill>
                <a:latin typeface="Arial"/>
                <a:ea typeface="Arial"/>
                <a:cs typeface="Arial"/>
                <a:sym typeface="Arial"/>
              </a:rPr>
              <a:t>. </a:t>
            </a:r>
          </a:p>
          <a:p>
            <a:pPr algn="just">
              <a:lnSpc>
                <a:spcPts val="2704"/>
              </a:lnSpc>
            </a:pPr>
          </a:p>
          <a:p>
            <a:pPr algn="just">
              <a:lnSpc>
                <a:spcPts val="2704"/>
              </a:lnSpc>
            </a:pPr>
            <a:r>
              <a:rPr lang="en-US" sz="2600">
                <a:solidFill>
                  <a:srgbClr val="202F5A"/>
                </a:solidFill>
                <a:latin typeface="Arial"/>
                <a:ea typeface="Arial"/>
                <a:cs typeface="Arial"/>
                <a:sym typeface="Arial"/>
              </a:rPr>
              <a:t>Hiểu đơn giản:</a:t>
            </a:r>
          </a:p>
          <a:p>
            <a:pPr algn="just">
              <a:lnSpc>
                <a:spcPts val="2704"/>
              </a:lnSpc>
            </a:pPr>
            <a:r>
              <a:rPr lang="en-US" sz="2600" b="true">
                <a:solidFill>
                  <a:srgbClr val="202F5A"/>
                </a:solidFill>
                <a:latin typeface="Arial Bold"/>
                <a:ea typeface="Arial Bold"/>
                <a:cs typeface="Arial Bold"/>
                <a:sym typeface="Arial Bold"/>
              </a:rPr>
              <a:t>Kiểm thử phần mềm</a:t>
            </a:r>
            <a:r>
              <a:rPr lang="en-US" sz="2600">
                <a:solidFill>
                  <a:srgbClr val="202F5A"/>
                </a:solidFill>
                <a:latin typeface="Arial"/>
                <a:ea typeface="Arial"/>
                <a:cs typeface="Arial"/>
                <a:sym typeface="Arial"/>
              </a:rPr>
              <a:t> là quá trình kiểm tra xem phần mềm có hoạt động đúng như yêu cầu hay không và tìm ra những lỗi có thể xảy ra.</a:t>
            </a:r>
          </a:p>
          <a:p>
            <a:pPr algn="just">
              <a:lnSpc>
                <a:spcPts val="2704"/>
              </a:lnSpc>
            </a:pP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Công thức dễ nhớ:</a:t>
            </a:r>
          </a:p>
          <a:p>
            <a:pPr algn="just">
              <a:lnSpc>
                <a:spcPts val="2704"/>
              </a:lnSpc>
            </a:pPr>
          </a:p>
          <a:p>
            <a:pPr algn="just">
              <a:lnSpc>
                <a:spcPts val="2704"/>
              </a:lnSpc>
            </a:pPr>
            <a:r>
              <a:rPr lang="en-US" sz="2600">
                <a:solidFill>
                  <a:srgbClr val="202F5A"/>
                </a:solidFill>
                <a:latin typeface="Arial"/>
                <a:ea typeface="Arial"/>
                <a:cs typeface="Arial"/>
                <a:sym typeface="Arial"/>
              </a:rPr>
              <a:t>Input → Software → Output → So sánh với Expected Result</a:t>
            </a:r>
          </a:p>
          <a:p>
            <a:pPr algn="just">
              <a:lnSpc>
                <a:spcPts val="2704"/>
              </a:lnSpc>
            </a:pPr>
          </a:p>
          <a:p>
            <a:pPr algn="just">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KIỂM THỬ PHẦN MỀM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aphicFrame>
        <p:nvGraphicFramePr>
          <p:cNvPr name="Object 11" id="11"/>
          <p:cNvGraphicFramePr/>
          <p:nvPr/>
        </p:nvGraphicFramePr>
        <p:xfrm>
          <a:off x="3375000" y="3297951"/>
          <a:ext cx="5657850" cy="4400550"/>
        </p:xfrm>
        <a:graphic>
          <a:graphicData uri="http://schemas.openxmlformats.org/presentationml/2006/ole">
            <p:oleObj imgW="6781800" imgH="5524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MỘT SỐ KHÁI NIỆM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536253" y="4003002"/>
            <a:ext cx="5527497" cy="3778806"/>
          </a:xfrm>
          <a:custGeom>
            <a:avLst/>
            <a:gdLst/>
            <a:ahLst/>
            <a:cxnLst/>
            <a:rect r="r" b="b" t="t" l="l"/>
            <a:pathLst>
              <a:path h="3778806" w="5527497">
                <a:moveTo>
                  <a:pt x="0" y="0"/>
                </a:moveTo>
                <a:lnTo>
                  <a:pt x="5527497" y="0"/>
                </a:lnTo>
                <a:lnTo>
                  <a:pt x="5527497" y="3778806"/>
                </a:lnTo>
                <a:lnTo>
                  <a:pt x="0" y="3778806"/>
                </a:lnTo>
                <a:lnTo>
                  <a:pt x="0" y="0"/>
                </a:lnTo>
                <a:close/>
              </a:path>
            </a:pathLst>
          </a:custGeom>
          <a:blipFill>
            <a:blip r:embed="rId8"/>
            <a:stretch>
              <a:fillRect l="-28343" t="0" r="-2406" b="0"/>
            </a:stretch>
          </a:blipFill>
        </p:spPr>
      </p:sp>
      <p:sp>
        <p:nvSpPr>
          <p:cNvPr name="TextBox 12" id="12"/>
          <p:cNvSpPr txBox="true"/>
          <p:nvPr/>
        </p:nvSpPr>
        <p:spPr>
          <a:xfrm rot="0">
            <a:off x="2225063" y="3878580"/>
            <a:ext cx="7777654" cy="48343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Test case</a:t>
            </a:r>
            <a:r>
              <a:rPr lang="en-US" sz="2600">
                <a:solidFill>
                  <a:srgbClr val="202F5A"/>
                </a:solidFill>
                <a:latin typeface="Arial"/>
                <a:ea typeface="Arial"/>
                <a:cs typeface="Arial"/>
                <a:sym typeface="Arial"/>
              </a:rPr>
              <a:t> </a:t>
            </a:r>
            <a:r>
              <a:rPr lang="en-US" sz="2600" b="true">
                <a:solidFill>
                  <a:srgbClr val="202F5A"/>
                </a:solidFill>
                <a:latin typeface="Arial Bold"/>
                <a:ea typeface="Arial Bold"/>
                <a:cs typeface="Arial Bold"/>
                <a:sym typeface="Arial Bold"/>
              </a:rPr>
              <a:t>(trường hợp kiểm thử hay kịch bản kiểm thử) </a:t>
            </a:r>
            <a:r>
              <a:rPr lang="en-US" sz="2600">
                <a:solidFill>
                  <a:srgbClr val="202F5A"/>
                </a:solidFill>
                <a:latin typeface="Arial"/>
                <a:ea typeface="Arial"/>
                <a:cs typeface="Arial"/>
                <a:sym typeface="Arial"/>
              </a:rPr>
              <a:t>là một tập hợp các điều kiện, bước thao tác, dữ liệu đầu vào và kết quả mong đợi được thiết kế để xác minh xem một chức năng hoặc hệ thống phần mềm có hoạt động đúng như yêu cầu hay không. </a:t>
            </a:r>
          </a:p>
          <a:p>
            <a:pPr algn="just">
              <a:lnSpc>
                <a:spcPts val="2704"/>
              </a:lnSpc>
            </a:pPr>
          </a:p>
          <a:p>
            <a:pPr algn="just">
              <a:lnSpc>
                <a:spcPts val="2704"/>
              </a:lnSpc>
            </a:pPr>
            <a:r>
              <a:rPr lang="en-US" sz="2600">
                <a:solidFill>
                  <a:srgbClr val="202F5A"/>
                </a:solidFill>
                <a:latin typeface="Arial"/>
                <a:ea typeface="Arial"/>
                <a:cs typeface="Arial"/>
                <a:sym typeface="Arial"/>
              </a:rPr>
              <a:t>Đơn giản:</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Test case </a:t>
            </a:r>
            <a:r>
              <a:rPr lang="en-US" sz="2600">
                <a:solidFill>
                  <a:srgbClr val="202F5A"/>
                </a:solidFill>
                <a:latin typeface="Arial"/>
                <a:ea typeface="Arial"/>
                <a:cs typeface="Arial"/>
                <a:sym typeface="Arial"/>
              </a:rPr>
              <a:t>là một kịch bản kiểm thử cụ thể, mô tả ta sẽ kiểm tra cái gì, bằng dữ liệu nào, mong đợi điều gì và thực tế xảy ra điều gì.</a:t>
            </a:r>
          </a:p>
          <a:p>
            <a:pPr algn="just">
              <a:lnSpc>
                <a:spcPts val="2704"/>
              </a:lnSpc>
            </a:pPr>
          </a:p>
          <a:p>
            <a:pPr algn="just">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TEST CASE LÀ GÌ?</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aphicFrame>
        <p:nvGraphicFramePr>
          <p:cNvPr name="Object 11" id="11"/>
          <p:cNvGraphicFramePr/>
          <p:nvPr/>
        </p:nvGraphicFramePr>
        <p:xfrm>
          <a:off x="3634776" y="3324190"/>
          <a:ext cx="3771900" cy="5657850"/>
        </p:xfrm>
        <a:graphic>
          <a:graphicData uri="http://schemas.openxmlformats.org/presentationml/2006/ole">
            <p:oleObj imgW="4902200" imgH="67818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TextBox 12" id="12"/>
          <p:cNvSpPr txBox="true"/>
          <p:nvPr/>
        </p:nvSpPr>
        <p:spPr>
          <a:xfrm rot="0">
            <a:off x="2955377" y="2947507"/>
            <a:ext cx="10364195" cy="376683"/>
          </a:xfrm>
          <a:prstGeom prst="rect">
            <a:avLst/>
          </a:prstGeom>
        </p:spPr>
        <p:txBody>
          <a:bodyPr anchor="t" rtlCol="false" tIns="0" lIns="0" bIns="0" rIns="0">
            <a:spAutoFit/>
          </a:bodyPr>
          <a:lstStyle/>
          <a:p>
            <a:pPr algn="just">
              <a:lnSpc>
                <a:spcPts val="2704"/>
              </a:lnSpc>
            </a:pPr>
            <a:r>
              <a:rPr lang="en-US" sz="2600">
                <a:solidFill>
                  <a:srgbClr val="202F5A"/>
                </a:solidFill>
                <a:latin typeface="Arial"/>
                <a:ea typeface="Arial"/>
                <a:cs typeface="Arial"/>
                <a:sym typeface="Arial"/>
              </a:rPr>
              <a:t>Một test case đơn giản gồm:</a:t>
            </a: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TEST CASE LÀ GÌ?</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844753" y="4903768"/>
            <a:ext cx="6086236" cy="3477849"/>
          </a:xfrm>
          <a:custGeom>
            <a:avLst/>
            <a:gdLst/>
            <a:ahLst/>
            <a:cxnLst/>
            <a:rect r="r" b="b" t="t" l="l"/>
            <a:pathLst>
              <a:path h="3477849" w="6086236">
                <a:moveTo>
                  <a:pt x="0" y="0"/>
                </a:moveTo>
                <a:lnTo>
                  <a:pt x="6086237" y="0"/>
                </a:lnTo>
                <a:lnTo>
                  <a:pt x="6086237" y="3477850"/>
                </a:lnTo>
                <a:lnTo>
                  <a:pt x="0" y="3477850"/>
                </a:lnTo>
                <a:lnTo>
                  <a:pt x="0" y="0"/>
                </a:lnTo>
                <a:close/>
              </a:path>
            </a:pathLst>
          </a:custGeom>
          <a:blipFill>
            <a:blip r:embed="rId8"/>
            <a:stretch>
              <a:fillRect l="0" t="0" r="0" b="0"/>
            </a:stretch>
          </a:blipFill>
        </p:spPr>
      </p:sp>
      <p:sp>
        <p:nvSpPr>
          <p:cNvPr name="TextBox 12" id="12"/>
          <p:cNvSpPr txBox="true"/>
          <p:nvPr/>
        </p:nvSpPr>
        <p:spPr>
          <a:xfrm rot="0">
            <a:off x="2165942" y="3167958"/>
            <a:ext cx="11132767" cy="55201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1. Functional Testing (Kiểm thử chức năng)</a:t>
            </a:r>
          </a:p>
          <a:p>
            <a:pPr algn="just">
              <a:lnSpc>
                <a:spcPts val="2704"/>
              </a:lnSpc>
            </a:pPr>
          </a:p>
          <a:p>
            <a:pPr algn="just">
              <a:lnSpc>
                <a:spcPts val="2704"/>
              </a:lnSpc>
            </a:pPr>
            <a:r>
              <a:rPr lang="en-US" sz="2600">
                <a:solidFill>
                  <a:srgbClr val="202F5A"/>
                </a:solidFill>
                <a:latin typeface="Arial"/>
                <a:ea typeface="Arial"/>
                <a:cs typeface="Arial"/>
                <a:sym typeface="Arial"/>
              </a:rPr>
              <a:t>Kiểm thử chức năng là kiểm tra xem hệ thống có hoạt động theo đúng theo các yêu cầu nghiệp vụ không? Kiểm thử chức năng được thực hiện ở tất cả các mức kiểm thử.</a:t>
            </a:r>
          </a:p>
          <a:p>
            <a:pPr algn="just">
              <a:lnSpc>
                <a:spcPts val="2704"/>
              </a:lnSpc>
            </a:pPr>
          </a:p>
          <a:p>
            <a:pPr algn="just">
              <a:lnSpc>
                <a:spcPts val="2704"/>
              </a:lnSpc>
            </a:pPr>
            <a:r>
              <a:rPr lang="en-US" sz="2600">
                <a:solidFill>
                  <a:srgbClr val="202F5A"/>
                </a:solidFill>
                <a:latin typeface="Arial"/>
                <a:ea typeface="Arial"/>
                <a:cs typeface="Arial"/>
                <a:sym typeface="Arial"/>
              </a:rPr>
              <a:t>Kiểm tra:</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Nút có hoạt động không?</a:t>
            </a:r>
          </a:p>
          <a:p>
            <a:pPr algn="just" marL="561347" indent="-280674" lvl="1">
              <a:lnSpc>
                <a:spcPts val="2704"/>
              </a:lnSpc>
              <a:buFont typeface="Arial"/>
              <a:buChar char="•"/>
            </a:pPr>
            <a:r>
              <a:rPr lang="en-US" sz="2600">
                <a:solidFill>
                  <a:srgbClr val="202F5A"/>
                </a:solidFill>
                <a:latin typeface="Arial"/>
                <a:ea typeface="Arial"/>
                <a:cs typeface="Arial"/>
                <a:sym typeface="Arial"/>
              </a:rPr>
              <a:t>Các lựa chọn có dẫn đến đúng cảnh không?</a:t>
            </a:r>
          </a:p>
          <a:p>
            <a:pPr algn="just" marL="561347" indent="-280674" lvl="1">
              <a:lnSpc>
                <a:spcPts val="2704"/>
              </a:lnSpc>
              <a:buFont typeface="Arial"/>
              <a:buChar char="•"/>
            </a:pPr>
            <a:r>
              <a:rPr lang="en-US" sz="2600">
                <a:solidFill>
                  <a:srgbClr val="202F5A"/>
                </a:solidFill>
                <a:latin typeface="Arial"/>
                <a:ea typeface="Arial"/>
                <a:cs typeface="Arial"/>
                <a:sym typeface="Arial"/>
              </a:rPr>
              <a:t>Có thể quay lại không?</a:t>
            </a:r>
          </a:p>
          <a:p>
            <a:pPr algn="just" marL="561347" indent="-280674" lvl="1">
              <a:lnSpc>
                <a:spcPts val="2704"/>
              </a:lnSpc>
              <a:buFont typeface="Arial"/>
              <a:buChar char="•"/>
            </a:pPr>
            <a:r>
              <a:rPr lang="en-US" sz="2600">
                <a:solidFill>
                  <a:srgbClr val="202F5A"/>
                </a:solidFill>
                <a:latin typeface="Arial"/>
                <a:ea typeface="Arial"/>
                <a:cs typeface="Arial"/>
                <a:sym typeface="Arial"/>
              </a:rPr>
              <a:t>Game có kết thúc đúng không?</a:t>
            </a:r>
          </a:p>
          <a:p>
            <a:pPr algn="just">
              <a:lnSpc>
                <a:spcPts val="2704"/>
              </a:lnSpc>
            </a:pPr>
          </a:p>
          <a:p>
            <a:pPr algn="just">
              <a:lnSpc>
                <a:spcPts val="2704"/>
              </a:lnSpc>
            </a:pPr>
            <a:r>
              <a:rPr lang="en-US" sz="2600">
                <a:solidFill>
                  <a:srgbClr val="202F5A"/>
                </a:solidFill>
                <a:latin typeface="Arial"/>
                <a:ea typeface="Arial"/>
                <a:cs typeface="Arial"/>
                <a:sym typeface="Arial"/>
              </a:rPr>
              <a:t>Ví dụ: </a:t>
            </a:r>
            <a:r>
              <a:rPr lang="en-US" sz="2600">
                <a:solidFill>
                  <a:srgbClr val="202F5A"/>
                </a:solidFill>
                <a:latin typeface="Arial"/>
                <a:ea typeface="Arial"/>
                <a:cs typeface="Arial"/>
                <a:sym typeface="Arial"/>
              </a:rPr>
              <a:t>Nhấn "Báo giáo viên" ⟶ Có chuyển cảnh không? </a:t>
            </a:r>
          </a:p>
          <a:p>
            <a:pPr algn="just">
              <a:lnSpc>
                <a:spcPts val="2704"/>
              </a:lnSpc>
            </a:pPr>
            <a:r>
              <a:rPr lang="en-US" sz="2600">
                <a:solidFill>
                  <a:srgbClr val="202F5A"/>
                </a:solidFill>
                <a:latin typeface="Arial"/>
                <a:ea typeface="Arial"/>
                <a:cs typeface="Arial"/>
                <a:sym typeface="Arial"/>
              </a:rPr>
              <a:t>⟶ Có đúng cảnh không? ⟶ PASS / FAIL</a:t>
            </a:r>
          </a:p>
          <a:p>
            <a:pPr algn="just">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CÁC LOẠI KIỂM THỬ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165942" y="3167958"/>
            <a:ext cx="12729032" cy="17482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2. UI Testing (Kiểm thử giao diện)</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Kiểm thử giao diện người dùng </a:t>
            </a:r>
            <a:r>
              <a:rPr lang="en-US" sz="2600">
                <a:solidFill>
                  <a:srgbClr val="202F5A"/>
                </a:solidFill>
                <a:latin typeface="Arial"/>
                <a:ea typeface="Arial"/>
                <a:cs typeface="Arial"/>
                <a:sym typeface="Arial"/>
              </a:rPr>
              <a:t>là quá trình kiểm tra các thành phần trực quan của phần mềm như </a:t>
            </a:r>
            <a:r>
              <a:rPr lang="en-US" sz="2600">
                <a:solidFill>
                  <a:srgbClr val="202F5A"/>
                </a:solidFill>
                <a:latin typeface="Arial"/>
                <a:ea typeface="Arial"/>
                <a:cs typeface="Arial"/>
                <a:sym typeface="Arial"/>
              </a:rPr>
              <a:t>màu sắc, bố cục, nút bấm và biểu mẫu để đảm bảo chúng hiển</a:t>
            </a:r>
            <a:r>
              <a:rPr lang="en-US" sz="2600">
                <a:solidFill>
                  <a:srgbClr val="202F5A"/>
                </a:solidFill>
                <a:latin typeface="Arial"/>
                <a:ea typeface="Arial"/>
                <a:cs typeface="Arial"/>
                <a:sym typeface="Arial"/>
              </a:rPr>
              <a:t> t</a:t>
            </a:r>
            <a:r>
              <a:rPr lang="en-US" sz="2600">
                <a:solidFill>
                  <a:srgbClr val="202F5A"/>
                </a:solidFill>
                <a:latin typeface="Arial"/>
                <a:ea typeface="Arial"/>
                <a:cs typeface="Arial"/>
                <a:sym typeface="Arial"/>
              </a:rPr>
              <a:t>hị và hoạt động đúng thiết kế.</a:t>
            </a:r>
          </a:p>
        </p:txBody>
      </p:sp>
      <p:sp>
        <p:nvSpPr>
          <p:cNvPr name="Freeform 12" id="12"/>
          <p:cNvSpPr/>
          <p:nvPr/>
        </p:nvSpPr>
        <p:spPr>
          <a:xfrm flipH="false" flipV="false" rot="0">
            <a:off x="10679119" y="4859655"/>
            <a:ext cx="6363099" cy="4545071"/>
          </a:xfrm>
          <a:custGeom>
            <a:avLst/>
            <a:gdLst/>
            <a:ahLst/>
            <a:cxnLst/>
            <a:rect r="r" b="b" t="t" l="l"/>
            <a:pathLst>
              <a:path h="4545071" w="6363099">
                <a:moveTo>
                  <a:pt x="0" y="0"/>
                </a:moveTo>
                <a:lnTo>
                  <a:pt x="6363099" y="0"/>
                </a:lnTo>
                <a:lnTo>
                  <a:pt x="6363099" y="4545071"/>
                </a:lnTo>
                <a:lnTo>
                  <a:pt x="0" y="4545071"/>
                </a:lnTo>
                <a:lnTo>
                  <a:pt x="0" y="0"/>
                </a:lnTo>
                <a:close/>
              </a:path>
            </a:pathLst>
          </a:custGeom>
          <a:blipFill>
            <a:blip r:embed="rId8"/>
            <a:stretch>
              <a:fillRect l="0" t="0" r="0" b="0"/>
            </a:stretch>
          </a:blipFill>
        </p:spPr>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CÁC LOẠI KIỂM THỬ </a:t>
            </a:r>
          </a:p>
        </p:txBody>
      </p:sp>
      <p:sp>
        <p:nvSpPr>
          <p:cNvPr name="TextBox 14" id="14"/>
          <p:cNvSpPr txBox="true"/>
          <p:nvPr/>
        </p:nvSpPr>
        <p:spPr>
          <a:xfrm rot="0">
            <a:off x="2165942" y="5124605"/>
            <a:ext cx="8427984" cy="55201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UI Testing:</a:t>
            </a:r>
            <a:r>
              <a:rPr lang="en-US" sz="2600">
                <a:solidFill>
                  <a:srgbClr val="202F5A"/>
                </a:solidFill>
                <a:latin typeface="Arial"/>
                <a:ea typeface="Arial"/>
                <a:cs typeface="Arial"/>
                <a:sym typeface="Arial"/>
              </a:rPr>
              <a:t> Kiểm tra tính chính xác của giao diện so với thiết kế (nút có bấm được không, màu sắc đúng không).</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UX Testing:</a:t>
            </a:r>
            <a:r>
              <a:rPr lang="en-US" sz="2600">
                <a:solidFill>
                  <a:srgbClr val="202F5A"/>
                </a:solidFill>
                <a:latin typeface="Arial"/>
                <a:ea typeface="Arial"/>
                <a:cs typeface="Arial"/>
                <a:sym typeface="Arial"/>
              </a:rPr>
              <a:t> Kiểm tra trải nghiệm thực tế của người dùng (sản phẩm có dễ dùng và mang lại cảm giác thoải mái không).</a:t>
            </a:r>
          </a:p>
          <a:p>
            <a:pPr algn="l">
              <a:lnSpc>
                <a:spcPts val="2704"/>
              </a:lnSpc>
            </a:pPr>
          </a:p>
          <a:p>
            <a:pPr algn="l">
              <a:lnSpc>
                <a:spcPts val="2704"/>
              </a:lnSpc>
            </a:pPr>
            <a:r>
              <a:rPr lang="en-US" sz="2600">
                <a:solidFill>
                  <a:srgbClr val="202F5A"/>
                </a:solidFill>
                <a:latin typeface="Arial"/>
                <a:ea typeface="Arial"/>
                <a:cs typeface="Arial"/>
                <a:sym typeface="Arial"/>
              </a:rPr>
              <a:t>Ví dụ:</a:t>
            </a:r>
          </a:p>
          <a:p>
            <a:pPr algn="l" marL="561347" indent="-280674" lvl="1">
              <a:lnSpc>
                <a:spcPts val="2704"/>
              </a:lnSpc>
              <a:buFont typeface="Arial"/>
              <a:buChar char="•"/>
            </a:pPr>
            <a:r>
              <a:rPr lang="en-US" sz="2600">
                <a:solidFill>
                  <a:srgbClr val="202F5A"/>
                </a:solidFill>
                <a:latin typeface="Arial"/>
                <a:ea typeface="Arial"/>
                <a:cs typeface="Arial"/>
                <a:sym typeface="Arial"/>
              </a:rPr>
              <a:t>Nút có hiển thị không?</a:t>
            </a:r>
          </a:p>
          <a:p>
            <a:pPr algn="l" marL="561347" indent="-280674" lvl="1">
              <a:lnSpc>
                <a:spcPts val="2704"/>
              </a:lnSpc>
              <a:buFont typeface="Arial"/>
              <a:buChar char="•"/>
            </a:pPr>
            <a:r>
              <a:rPr lang="en-US" sz="2600">
                <a:solidFill>
                  <a:srgbClr val="202F5A"/>
                </a:solidFill>
                <a:latin typeface="Arial"/>
                <a:ea typeface="Arial"/>
                <a:cs typeface="Arial"/>
                <a:sym typeface="Arial"/>
              </a:rPr>
              <a:t>Chữ có bị che không?</a:t>
            </a:r>
          </a:p>
          <a:p>
            <a:pPr algn="l" marL="561347" indent="-280674" lvl="1">
              <a:lnSpc>
                <a:spcPts val="2704"/>
              </a:lnSpc>
              <a:buFont typeface="Arial"/>
              <a:buChar char="•"/>
            </a:pPr>
            <a:r>
              <a:rPr lang="en-US" sz="2600">
                <a:solidFill>
                  <a:srgbClr val="202F5A"/>
                </a:solidFill>
                <a:latin typeface="Arial"/>
                <a:ea typeface="Arial"/>
                <a:cs typeface="Arial"/>
                <a:sym typeface="Arial"/>
              </a:rPr>
              <a:t>Hình ảnh có đúng không?</a:t>
            </a:r>
          </a:p>
          <a:p>
            <a:pPr algn="l" marL="561347" indent="-280674" lvl="1">
              <a:lnSpc>
                <a:spcPts val="2704"/>
              </a:lnSpc>
              <a:buFont typeface="Arial"/>
              <a:buChar char="•"/>
            </a:pPr>
            <a:r>
              <a:rPr lang="en-US" sz="2600">
                <a:solidFill>
                  <a:srgbClr val="202F5A"/>
                </a:solidFill>
                <a:latin typeface="Arial"/>
                <a:ea typeface="Arial"/>
                <a:cs typeface="Arial"/>
                <a:sym typeface="Arial"/>
              </a:rPr>
              <a:t>Dashboard có bị tràn màn hình không?</a:t>
            </a:r>
          </a:p>
          <a:p>
            <a:pPr algn="l" marL="561347" indent="-280674" lvl="1">
              <a:lnSpc>
                <a:spcPts val="2704"/>
              </a:lnSpc>
              <a:buFont typeface="Arial"/>
              <a:buChar char="•"/>
            </a:pPr>
            <a:r>
              <a:rPr lang="en-US" sz="2600">
                <a:solidFill>
                  <a:srgbClr val="202F5A"/>
                </a:solidFill>
                <a:latin typeface="Arial"/>
                <a:ea typeface="Arial"/>
                <a:cs typeface="Arial"/>
                <a:sym typeface="Arial"/>
              </a:rPr>
              <a:t>Font có dễ đọc không?</a:t>
            </a:r>
          </a:p>
          <a:p>
            <a:pPr algn="l">
              <a:lnSpc>
                <a:spcPts val="2704"/>
              </a:lnSpc>
            </a:pPr>
          </a:p>
          <a:p>
            <a:pPr algn="just">
              <a:lnSpc>
                <a:spcPts val="2704"/>
              </a:lnSpc>
            </a:pPr>
          </a:p>
          <a:p>
            <a:pPr algn="just">
              <a:lnSpc>
                <a:spcPts val="270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829040" y="5018395"/>
            <a:ext cx="6357870" cy="4239905"/>
          </a:xfrm>
          <a:custGeom>
            <a:avLst/>
            <a:gdLst/>
            <a:ahLst/>
            <a:cxnLst/>
            <a:rect r="r" b="b" t="t" l="l"/>
            <a:pathLst>
              <a:path h="4239905" w="6357870">
                <a:moveTo>
                  <a:pt x="0" y="0"/>
                </a:moveTo>
                <a:lnTo>
                  <a:pt x="6357870" y="0"/>
                </a:lnTo>
                <a:lnTo>
                  <a:pt x="6357870" y="4239905"/>
                </a:lnTo>
                <a:lnTo>
                  <a:pt x="0" y="4239905"/>
                </a:lnTo>
                <a:lnTo>
                  <a:pt x="0" y="0"/>
                </a:lnTo>
                <a:close/>
              </a:path>
            </a:pathLst>
          </a:custGeom>
          <a:blipFill>
            <a:blip r:embed="rId8"/>
            <a:stretch>
              <a:fillRect l="0" t="0" r="0" b="0"/>
            </a:stretch>
          </a:blipFill>
        </p:spPr>
      </p:sp>
      <p:sp>
        <p:nvSpPr>
          <p:cNvPr name="TextBox 12" id="12"/>
          <p:cNvSpPr txBox="true"/>
          <p:nvPr/>
        </p:nvSpPr>
        <p:spPr>
          <a:xfrm rot="0">
            <a:off x="2165942" y="3167958"/>
            <a:ext cx="12729032" cy="17482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2. Regression Testing (Kiểm thử hồi quy)</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Kiểm thử hồi quy </a:t>
            </a:r>
            <a:r>
              <a:rPr lang="en-US" sz="2600">
                <a:solidFill>
                  <a:srgbClr val="202F5A"/>
                </a:solidFill>
                <a:latin typeface="Arial"/>
                <a:ea typeface="Arial"/>
                <a:cs typeface="Arial"/>
                <a:sym typeface="Arial"/>
              </a:rPr>
              <a:t>là quá trình kiểm thử lại một phần hoặc toàn bộ phần mềm sau khi có sự thay đổi </a:t>
            </a:r>
            <a:r>
              <a:rPr lang="en-US" sz="2600">
                <a:solidFill>
                  <a:srgbClr val="202F5A"/>
                </a:solidFill>
                <a:latin typeface="Arial"/>
                <a:ea typeface="Arial"/>
                <a:cs typeface="Arial"/>
                <a:sym typeface="Arial"/>
              </a:rPr>
              <a:t>mã nguồn (như sửa lỗi, thêm tính năng mới, hoặc thay đổi cấu hình) để đảm bảo các tính năng cũ vẫn hoạt động bình thường.</a:t>
            </a: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CÁC LOẠI KIỂM THỬ </a:t>
            </a:r>
          </a:p>
        </p:txBody>
      </p:sp>
      <p:sp>
        <p:nvSpPr>
          <p:cNvPr name="TextBox 14" id="14"/>
          <p:cNvSpPr txBox="true"/>
          <p:nvPr/>
        </p:nvSpPr>
        <p:spPr>
          <a:xfrm rot="0">
            <a:off x="2165942" y="5124605"/>
            <a:ext cx="8427984" cy="27769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 </a:t>
            </a:r>
            <a:r>
              <a:rPr lang="en-US" sz="2600">
                <a:solidFill>
                  <a:srgbClr val="202F5A"/>
                </a:solidFill>
                <a:latin typeface="Arial"/>
                <a:ea typeface="Arial"/>
                <a:cs typeface="Arial"/>
                <a:sym typeface="Arial"/>
              </a:rPr>
              <a:t>Không chỉ kiểm tra bug vừa sửa mà còn kiểm tra xem việc sửa có làm hỏng chức năng khác hay không.</a:t>
            </a:r>
          </a:p>
          <a:p>
            <a:pPr algn="l">
              <a:lnSpc>
                <a:spcPts val="2704"/>
              </a:lnSpc>
            </a:pPr>
          </a:p>
          <a:p>
            <a:pPr algn="l">
              <a:lnSpc>
                <a:spcPts val="2704"/>
              </a:lnSpc>
            </a:pPr>
            <a:r>
              <a:rPr lang="en-US" sz="2600">
                <a:solidFill>
                  <a:srgbClr val="202F5A"/>
                </a:solidFill>
                <a:latin typeface="Arial"/>
                <a:ea typeface="Arial"/>
                <a:cs typeface="Arial"/>
                <a:sym typeface="Arial"/>
              </a:rPr>
              <a:t>Thông thường có </a:t>
            </a:r>
            <a:r>
              <a:rPr lang="en-US" sz="2600" b="true">
                <a:solidFill>
                  <a:srgbClr val="202F5A"/>
                </a:solidFill>
                <a:latin typeface="Arial Bold"/>
                <a:ea typeface="Arial Bold"/>
                <a:cs typeface="Arial Bold"/>
                <a:sym typeface="Arial Bold"/>
              </a:rPr>
              <a:t>3 phương pháp </a:t>
            </a:r>
            <a:r>
              <a:rPr lang="en-US" sz="2600">
                <a:solidFill>
                  <a:srgbClr val="202F5A"/>
                </a:solidFill>
                <a:latin typeface="Arial"/>
                <a:ea typeface="Arial"/>
                <a:cs typeface="Arial"/>
                <a:sym typeface="Arial"/>
              </a:rPr>
              <a:t>để kiểm tra hồi quy:</a:t>
            </a:r>
          </a:p>
          <a:p>
            <a:pPr algn="l">
              <a:lnSpc>
                <a:spcPts val="2704"/>
              </a:lnSpc>
            </a:pPr>
          </a:p>
          <a:p>
            <a:pPr algn="l" marL="561347" indent="-280674" lvl="1">
              <a:lnSpc>
                <a:spcPts val="2704"/>
              </a:lnSpc>
              <a:buFont typeface="Arial"/>
              <a:buChar char="•"/>
            </a:pPr>
            <a:r>
              <a:rPr lang="en-US" sz="2600" spc="-7">
                <a:solidFill>
                  <a:srgbClr val="202F5A"/>
                </a:solidFill>
                <a:latin typeface="Arial"/>
                <a:ea typeface="Arial"/>
                <a:cs typeface="Arial"/>
                <a:sym typeface="Arial"/>
              </a:rPr>
              <a:t>Kiểm tra lại tất cả</a:t>
            </a:r>
          </a:p>
          <a:p>
            <a:pPr algn="l" marL="561347" indent="-280674" lvl="1">
              <a:lnSpc>
                <a:spcPts val="2704"/>
              </a:lnSpc>
              <a:buFont typeface="Arial"/>
              <a:buChar char="•"/>
            </a:pPr>
            <a:r>
              <a:rPr lang="en-US" sz="2600" spc="-7">
                <a:solidFill>
                  <a:srgbClr val="202F5A"/>
                </a:solidFill>
                <a:latin typeface="Arial"/>
                <a:ea typeface="Arial"/>
                <a:cs typeface="Arial"/>
                <a:sym typeface="Arial"/>
              </a:rPr>
              <a:t>Lựa chọn kiểm tra hồi quy</a:t>
            </a:r>
          </a:p>
          <a:p>
            <a:pPr algn="l" marL="561347" indent="-280674" lvl="1">
              <a:lnSpc>
                <a:spcPts val="2704"/>
              </a:lnSpc>
              <a:buFont typeface="Arial"/>
              <a:buChar char="•"/>
            </a:pPr>
            <a:r>
              <a:rPr lang="en-US" sz="2600">
                <a:solidFill>
                  <a:srgbClr val="202F5A"/>
                </a:solidFill>
                <a:latin typeface="Arial"/>
                <a:ea typeface="Arial"/>
                <a:cs typeface="Arial"/>
                <a:sym typeface="Arial"/>
              </a:rPr>
              <a:t>Ưu tiên cho trường hợp thử nghiệm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165942" y="3167958"/>
            <a:ext cx="12729032" cy="55201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2. Input &amp; Boundary Testing </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Input</a:t>
            </a:r>
            <a:r>
              <a:rPr lang="en-US" sz="2600" b="true">
                <a:solidFill>
                  <a:srgbClr val="202F5A"/>
                </a:solidFill>
                <a:latin typeface="Arial Bold"/>
                <a:ea typeface="Arial Bold"/>
                <a:cs typeface="Arial Bold"/>
                <a:sym typeface="Arial Bold"/>
              </a:rPr>
              <a:t> testing </a:t>
            </a:r>
            <a:r>
              <a:rPr lang="en-US" sz="2600">
                <a:solidFill>
                  <a:srgbClr val="202F5A"/>
                </a:solidFill>
                <a:latin typeface="Arial"/>
                <a:ea typeface="Arial"/>
                <a:cs typeface="Arial"/>
                <a:sym typeface="Arial"/>
              </a:rPr>
              <a:t>là kiểm tra dữ</a:t>
            </a:r>
            <a:r>
              <a:rPr lang="en-US" sz="2600">
                <a:solidFill>
                  <a:srgbClr val="202F5A"/>
                </a:solidFill>
                <a:latin typeface="Arial"/>
                <a:ea typeface="Arial"/>
                <a:cs typeface="Arial"/>
                <a:sym typeface="Arial"/>
              </a:rPr>
              <a:t> liệu người</a:t>
            </a:r>
            <a:r>
              <a:rPr lang="en-US" sz="2600">
                <a:solidFill>
                  <a:srgbClr val="202F5A"/>
                </a:solidFill>
                <a:latin typeface="Arial"/>
                <a:ea typeface="Arial"/>
                <a:cs typeface="Arial"/>
                <a:sym typeface="Arial"/>
              </a:rPr>
              <a:t> dù</a:t>
            </a:r>
            <a:r>
              <a:rPr lang="en-US" sz="2600">
                <a:solidFill>
                  <a:srgbClr val="202F5A"/>
                </a:solidFill>
                <a:latin typeface="Arial"/>
                <a:ea typeface="Arial"/>
                <a:cs typeface="Arial"/>
                <a:sym typeface="Arial"/>
              </a:rPr>
              <a:t>ng nhập.</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Ví dụ:</a:t>
            </a:r>
            <a:r>
              <a:rPr lang="en-US" sz="2600">
                <a:solidFill>
                  <a:srgbClr val="202F5A"/>
                </a:solidFill>
                <a:latin typeface="Arial"/>
                <a:ea typeface="Arial"/>
                <a:cs typeface="Arial"/>
                <a:sym typeface="Arial"/>
              </a:rPr>
              <a:t> dashboard có ô nhập:</a:t>
            </a:r>
          </a:p>
          <a:p>
            <a:pPr algn="just">
              <a:lnSpc>
                <a:spcPts val="2704"/>
              </a:lnSpc>
            </a:pPr>
          </a:p>
          <a:p>
            <a:pPr algn="just">
              <a:lnSpc>
                <a:spcPts val="2704"/>
              </a:lnSpc>
            </a:pPr>
            <a:r>
              <a:rPr lang="en-US" sz="2600">
                <a:solidFill>
                  <a:srgbClr val="202F5A"/>
                </a:solidFill>
                <a:latin typeface="Arial"/>
                <a:ea typeface="Arial"/>
                <a:cs typeface="Arial"/>
                <a:sym typeface="Arial"/>
              </a:rPr>
              <a:t>Số lượng học sinh: </a:t>
            </a:r>
            <a:r>
              <a:rPr lang="en-US" sz="2600">
                <a:solidFill>
                  <a:srgbClr val="202F5A"/>
                </a:solidFill>
                <a:latin typeface="Arial"/>
                <a:ea typeface="Arial"/>
                <a:cs typeface="Arial"/>
                <a:sym typeface="Arial"/>
              </a:rPr>
              <a:t>-5 ⟶ </a:t>
            </a:r>
            <a:r>
              <a:rPr lang="en-US" sz="2600">
                <a:solidFill>
                  <a:srgbClr val="202F5A"/>
                </a:solidFill>
                <a:latin typeface="Arial"/>
                <a:ea typeface="Arial"/>
                <a:cs typeface="Arial"/>
                <a:sym typeface="Arial"/>
              </a:rPr>
              <a:t>“Hệ thống nên chấp nhận -5 không?”</a:t>
            </a:r>
          </a:p>
          <a:p>
            <a:pPr algn="just">
              <a:lnSpc>
                <a:spcPts val="2704"/>
              </a:lnSpc>
            </a:pPr>
          </a:p>
          <a:p>
            <a:pPr algn="just">
              <a:lnSpc>
                <a:spcPts val="2704"/>
              </a:lnSpc>
            </a:pPr>
            <a:r>
              <a:rPr lang="en-US" sz="2600" b="true">
                <a:solidFill>
                  <a:srgbClr val="202F5A"/>
                </a:solidFill>
                <a:latin typeface="Arial Bold"/>
                <a:ea typeface="Arial Bold"/>
                <a:cs typeface="Arial Bold"/>
                <a:sym typeface="Arial Bold"/>
              </a:rPr>
              <a:t>Boundary testing</a:t>
            </a:r>
            <a:r>
              <a:rPr lang="en-US" sz="2600">
                <a:solidFill>
                  <a:srgbClr val="202F5A"/>
                </a:solidFill>
                <a:latin typeface="Arial"/>
                <a:ea typeface="Arial"/>
                <a:cs typeface="Arial"/>
                <a:sym typeface="Arial"/>
              </a:rPr>
              <a:t> là kiểm tra giá trị ở biên.</a:t>
            </a:r>
          </a:p>
          <a:p>
            <a:pPr algn="just">
              <a:lnSpc>
                <a:spcPts val="2704"/>
              </a:lnSpc>
            </a:pPr>
            <a:r>
              <a:rPr lang="en-US" sz="2600" b="true">
                <a:solidFill>
                  <a:srgbClr val="202F5A"/>
                </a:solidFill>
                <a:latin typeface="Arial Bold"/>
                <a:ea typeface="Arial Bold"/>
                <a:cs typeface="Arial Bold"/>
                <a:sym typeface="Arial Bold"/>
              </a:rPr>
              <a:t>Ví dụ:</a:t>
            </a:r>
          </a:p>
          <a:p>
            <a:pPr algn="just">
              <a:lnSpc>
                <a:spcPts val="2704"/>
              </a:lnSpc>
            </a:pPr>
          </a:p>
          <a:p>
            <a:pPr algn="just">
              <a:lnSpc>
                <a:spcPts val="2704"/>
              </a:lnSpc>
            </a:pPr>
            <a:r>
              <a:rPr lang="en-US" sz="2600">
                <a:solidFill>
                  <a:srgbClr val="202F5A"/>
                </a:solidFill>
                <a:latin typeface="Arial"/>
                <a:ea typeface="Arial"/>
                <a:cs typeface="Arial"/>
                <a:sym typeface="Arial"/>
              </a:rPr>
              <a:t>Dashboard cho phép điểm từ: 0 → 10</a:t>
            </a:r>
          </a:p>
          <a:p>
            <a:pPr algn="just">
              <a:lnSpc>
                <a:spcPts val="2704"/>
              </a:lnSpc>
            </a:pPr>
          </a:p>
          <a:p>
            <a:pPr algn="just">
              <a:lnSpc>
                <a:spcPts val="2704"/>
              </a:lnSpc>
            </a:pPr>
            <a:r>
              <a:rPr lang="en-US" sz="2600">
                <a:solidFill>
                  <a:srgbClr val="202F5A"/>
                </a:solidFill>
                <a:latin typeface="Arial"/>
                <a:ea typeface="Arial"/>
                <a:cs typeface="Arial"/>
                <a:sym typeface="Arial"/>
              </a:rPr>
              <a:t>Ta không chỉ test: 5 ⟶ mà nên test: -1, 0, 0.1, 9.9, 10, 10.1, 11</a:t>
            </a:r>
          </a:p>
          <a:p>
            <a:pPr algn="just">
              <a:lnSpc>
                <a:spcPts val="2704"/>
              </a:lnSpc>
            </a:pPr>
          </a:p>
          <a:p>
            <a:pPr algn="just">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CÁC LOẠI KIỂM THỬ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683439" y="4396181"/>
            <a:ext cx="6358829" cy="3576841"/>
          </a:xfrm>
          <a:custGeom>
            <a:avLst/>
            <a:gdLst/>
            <a:ahLst/>
            <a:cxnLst/>
            <a:rect r="r" b="b" t="t" l="l"/>
            <a:pathLst>
              <a:path h="3576841" w="6358829">
                <a:moveTo>
                  <a:pt x="0" y="0"/>
                </a:moveTo>
                <a:lnTo>
                  <a:pt x="6358828" y="0"/>
                </a:lnTo>
                <a:lnTo>
                  <a:pt x="6358828" y="3576841"/>
                </a:lnTo>
                <a:lnTo>
                  <a:pt x="0" y="3576841"/>
                </a:lnTo>
                <a:lnTo>
                  <a:pt x="0" y="0"/>
                </a:lnTo>
                <a:close/>
              </a:path>
            </a:pathLst>
          </a:custGeom>
          <a:blipFill>
            <a:blip r:embed="rId8"/>
            <a:stretch>
              <a:fillRect l="0" t="0" r="0" b="0"/>
            </a:stretch>
          </a:blipFill>
        </p:spPr>
      </p:sp>
      <p:sp>
        <p:nvSpPr>
          <p:cNvPr name="TextBox 12" id="12"/>
          <p:cNvSpPr txBox="true"/>
          <p:nvPr/>
        </p:nvSpPr>
        <p:spPr>
          <a:xfrm rot="0">
            <a:off x="2165942" y="3167958"/>
            <a:ext cx="13379363" cy="14053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Bug report (báo cáo lỗi) </a:t>
            </a:r>
            <a:r>
              <a:rPr lang="en-US" sz="2600">
                <a:solidFill>
                  <a:srgbClr val="202F5A"/>
                </a:solidFill>
                <a:latin typeface="Arial"/>
                <a:ea typeface="Arial"/>
                <a:cs typeface="Arial"/>
                <a:sym typeface="Arial"/>
              </a:rPr>
              <a:t>là tài liệu </a:t>
            </a:r>
            <a:r>
              <a:rPr lang="en-US" sz="2600">
                <a:solidFill>
                  <a:srgbClr val="202F5A"/>
                </a:solidFill>
                <a:latin typeface="Arial"/>
                <a:ea typeface="Arial"/>
                <a:cs typeface="Arial"/>
                <a:sym typeface="Arial"/>
              </a:rPr>
              <a:t>mô tả chi tiết về một lỗi hoặc sự cố phát sinh trong phần mềm, giúp người kiểm thử ghi lại và</a:t>
            </a:r>
            <a:r>
              <a:rPr lang="en-US" sz="2600">
                <a:solidFill>
                  <a:srgbClr val="202F5A"/>
                </a:solidFill>
                <a:latin typeface="Arial"/>
                <a:ea typeface="Arial"/>
                <a:cs typeface="Arial"/>
                <a:sym typeface="Arial"/>
              </a:rPr>
              <a:t> gửi thông tin cho lập trình viên để họ hiểu, tái hiện và sửa lỗi nhanh chóng.</a:t>
            </a:r>
          </a:p>
          <a:p>
            <a:pPr algn="just">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BUG REPORT</a:t>
            </a:r>
          </a:p>
        </p:txBody>
      </p:sp>
      <p:sp>
        <p:nvSpPr>
          <p:cNvPr name="TextBox 14" id="14"/>
          <p:cNvSpPr txBox="true"/>
          <p:nvPr/>
        </p:nvSpPr>
        <p:spPr>
          <a:xfrm rot="0">
            <a:off x="2165942" y="4516755"/>
            <a:ext cx="8147160" cy="38056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Tầm quan trọng của Bug Report</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Giúp Dev hiểu lỗi: Cung cấp thông tin rõ ràng về việc phần mềm bị hỏng ở đâu và tại sao.</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Tiết kiệm thời gian: Tránh việc trao đổi vòng vo giữa Tester và Developer.</a:t>
            </a:r>
          </a:p>
          <a:p>
            <a:pPr algn="just">
              <a:lnSpc>
                <a:spcPts val="2704"/>
              </a:lnSpc>
            </a:pPr>
          </a:p>
          <a:p>
            <a:pPr algn="just" marL="561347" indent="-280674" lvl="1">
              <a:lnSpc>
                <a:spcPts val="2704"/>
              </a:lnSpc>
              <a:buFont typeface="Arial"/>
              <a:buChar char="•"/>
            </a:pPr>
            <a:r>
              <a:rPr lang="en-US" sz="2600">
                <a:solidFill>
                  <a:srgbClr val="202F5A"/>
                </a:solidFill>
                <a:latin typeface="Arial"/>
                <a:ea typeface="Arial"/>
                <a:cs typeface="Arial"/>
                <a:sym typeface="Arial"/>
              </a:rPr>
              <a:t>Quản lý chất lượng: Dễ dàng theo dõi trạng thái xử lý lỗi trên các công cụ như </a:t>
            </a:r>
            <a:r>
              <a:rPr lang="en-US" sz="2600" u="sng">
                <a:solidFill>
                  <a:srgbClr val="202F5A"/>
                </a:solidFill>
                <a:latin typeface="Arial"/>
                <a:ea typeface="Arial"/>
                <a:cs typeface="Arial"/>
                <a:sym typeface="Arial"/>
                <a:hlinkClick r:id="rId9" tooltip="https://www.google.com/goto?url=CAESXwHrOzAVBo7X6osHdiOILQ-OGsXq15AX0meoEmGiJ5nJ08UAEL50ekvr_C0WPJHxzbVKAqMZKOx2b6q5VV-ei5ehXi_nYwRSoL4dVBwC_rtSPUFNAPyF3mungdJ_ztyz"/>
              </a:rPr>
              <a:t>Jira</a:t>
            </a:r>
            <a:r>
              <a:rPr lang="en-US" sz="2600">
                <a:solidFill>
                  <a:srgbClr val="202F5A"/>
                </a:solidFill>
                <a:latin typeface="Arial"/>
                <a:ea typeface="Arial"/>
                <a:cs typeface="Arial"/>
                <a:sym typeface="Arial"/>
              </a:rPr>
              <a:t>.</a:t>
            </a:r>
          </a:p>
          <a:p>
            <a:pPr algn="just">
              <a:lnSpc>
                <a:spcPts val="2704"/>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aphicFrame>
        <p:nvGraphicFramePr>
          <p:cNvPr name="Object 11" id="11"/>
          <p:cNvGraphicFramePr/>
          <p:nvPr/>
        </p:nvGraphicFramePr>
        <p:xfrm>
          <a:off x="7080687" y="3249036"/>
          <a:ext cx="3771900" cy="5657850"/>
        </p:xfrm>
        <a:graphic>
          <a:graphicData uri="http://schemas.openxmlformats.org/presentationml/2006/ole">
            <p:oleObj imgW="4902200" imgH="67818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2" id="12"/>
          <p:cNvSpPr txBox="true"/>
          <p:nvPr/>
        </p:nvSpPr>
        <p:spPr>
          <a:xfrm rot="0">
            <a:off x="2047700" y="6231255"/>
            <a:ext cx="13379363" cy="3766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Mẫu bug report đơn giản:</a:t>
            </a: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BUG REPORT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525723" y="3260428"/>
            <a:ext cx="13379363" cy="376683"/>
          </a:xfrm>
          <a:prstGeom prst="rect">
            <a:avLst/>
          </a:prstGeom>
        </p:spPr>
        <p:txBody>
          <a:bodyPr anchor="t" rtlCol="false" tIns="0" lIns="0" bIns="0" rIns="0">
            <a:spAutoFit/>
          </a:bodyPr>
          <a:lstStyle/>
          <a:p>
            <a:pPr algn="just">
              <a:lnSpc>
                <a:spcPts val="2704"/>
              </a:lnSpc>
            </a:pPr>
            <a:r>
              <a:rPr lang="en-US" sz="2600" b="true">
                <a:solidFill>
                  <a:srgbClr val="202F5A"/>
                </a:solidFill>
                <a:latin typeface="Arial Bold"/>
                <a:ea typeface="Arial Bold"/>
                <a:cs typeface="Arial Bold"/>
                <a:sym typeface="Arial Bold"/>
              </a:rPr>
              <a:t>Demo ví dụ minh họa</a:t>
            </a: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VÍ DỤ MINH HỌA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aphicFrame>
        <p:nvGraphicFramePr>
          <p:cNvPr name="Object 11" id="11"/>
          <p:cNvGraphicFramePr/>
          <p:nvPr/>
        </p:nvGraphicFramePr>
        <p:xfrm>
          <a:off x="2821294" y="3150531"/>
          <a:ext cx="5657850" cy="5029200"/>
        </p:xfrm>
        <a:graphic>
          <a:graphicData uri="http://schemas.openxmlformats.org/presentationml/2006/ole">
            <p:oleObj imgW="6781800" imgH="6159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TỔNG KẾT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DAHUNvbdX2E</dc:identifier>
  <dcterms:modified xsi:type="dcterms:W3CDTF">2011-08-01T06:04:30Z</dcterms:modified>
  <cp:revision>1</cp:revision>
  <dc:title>Buổi 6 - Bắc Hà</dc:title>
</cp:coreProperties>
</file>