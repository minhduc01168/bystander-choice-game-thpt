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8288000" cy="10287000"/>
  <p:notesSz cx="6858000" cy="9144000"/>
  <p:embeddedFontLst>
    <p:embeddedFont>
      <p:font typeface="Arial Bold" charset="1" panose="020B0704020202020204"/>
      <p:regular r:id="rId27"/>
    </p:embeddedFont>
    <p:embeddedFont>
      <p:font typeface="Arial" charset="1" panose="020B0604020202020204"/>
      <p:regular r:id="rId28"/>
    </p:embeddedFont>
    <p:embeddedFont>
      <p:font typeface="Codec Pro Bold" charset="1" panose="00000600000000000000"/>
      <p:regular r:id="rId29"/>
    </p:embeddedFont>
    <p:embeddedFont>
      <p:font typeface="Codec Pro" charset="1" panose="0000050000000000000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AFCFF"/>
        </a:solidFill>
      </p:bgPr>
    </p:bg>
    <p:spTree>
      <p:nvGrpSpPr>
        <p:cNvPr id="1" name=""/>
        <p:cNvGrpSpPr/>
        <p:nvPr/>
      </p:nvGrpSpPr>
      <p:grpSpPr>
        <a:xfrm>
          <a:off x="0" y="0"/>
          <a:ext cx="0" cy="0"/>
          <a:chOff x="0" y="0"/>
          <a:chExt cx="0" cy="0"/>
        </a:xfrm>
      </p:grpSpPr>
      <p:sp>
        <p:nvSpPr>
          <p:cNvPr name="Freeform 2" id="2"/>
          <p:cNvSpPr/>
          <p:nvPr/>
        </p:nvSpPr>
        <p:spPr>
          <a:xfrm flipH="false" flipV="false" rot="337488">
            <a:off x="2438609" y="561990"/>
            <a:ext cx="14412343" cy="9040470"/>
          </a:xfrm>
          <a:custGeom>
            <a:avLst/>
            <a:gdLst/>
            <a:ahLst/>
            <a:cxnLst/>
            <a:rect r="r" b="b" t="t" l="l"/>
            <a:pathLst>
              <a:path h="9040470" w="14412343">
                <a:moveTo>
                  <a:pt x="0" y="0"/>
                </a:moveTo>
                <a:lnTo>
                  <a:pt x="14412343" y="0"/>
                </a:lnTo>
                <a:lnTo>
                  <a:pt x="14412343" y="9040470"/>
                </a:lnTo>
                <a:lnTo>
                  <a:pt x="0" y="90404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25953" y="3313902"/>
            <a:ext cx="3180174" cy="3659196"/>
          </a:xfrm>
          <a:custGeom>
            <a:avLst/>
            <a:gdLst/>
            <a:ahLst/>
            <a:cxnLst/>
            <a:rect r="r" b="b" t="t" l="l"/>
            <a:pathLst>
              <a:path h="3659196" w="3180174">
                <a:moveTo>
                  <a:pt x="0" y="0"/>
                </a:moveTo>
                <a:lnTo>
                  <a:pt x="3180175" y="0"/>
                </a:lnTo>
                <a:lnTo>
                  <a:pt x="3180175" y="3659196"/>
                </a:lnTo>
                <a:lnTo>
                  <a:pt x="0" y="36591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155694" y="498152"/>
            <a:ext cx="2497306" cy="3247088"/>
          </a:xfrm>
          <a:custGeom>
            <a:avLst/>
            <a:gdLst/>
            <a:ahLst/>
            <a:cxnLst/>
            <a:rect r="r" b="b" t="t" l="l"/>
            <a:pathLst>
              <a:path h="3247088" w="2497306">
                <a:moveTo>
                  <a:pt x="0" y="0"/>
                </a:moveTo>
                <a:lnTo>
                  <a:pt x="2497306" y="0"/>
                </a:lnTo>
                <a:lnTo>
                  <a:pt x="2497306" y="3247088"/>
                </a:lnTo>
                <a:lnTo>
                  <a:pt x="0" y="32470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1420170">
            <a:off x="-115271" y="1067186"/>
            <a:ext cx="2287943" cy="3091815"/>
          </a:xfrm>
          <a:custGeom>
            <a:avLst/>
            <a:gdLst/>
            <a:ahLst/>
            <a:cxnLst/>
            <a:rect r="r" b="b" t="t" l="l"/>
            <a:pathLst>
              <a:path h="3091815" w="2287943">
                <a:moveTo>
                  <a:pt x="0" y="0"/>
                </a:moveTo>
                <a:lnTo>
                  <a:pt x="2287942" y="0"/>
                </a:lnTo>
                <a:lnTo>
                  <a:pt x="2287942" y="3091815"/>
                </a:lnTo>
                <a:lnTo>
                  <a:pt x="0" y="309181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6" id="6"/>
          <p:cNvGrpSpPr/>
          <p:nvPr/>
        </p:nvGrpSpPr>
        <p:grpSpPr>
          <a:xfrm rot="213139">
            <a:off x="1706699" y="8142956"/>
            <a:ext cx="2495834" cy="652730"/>
            <a:chOff x="0" y="0"/>
            <a:chExt cx="3690620" cy="965200"/>
          </a:xfrm>
        </p:grpSpPr>
        <p:sp>
          <p:nvSpPr>
            <p:cNvPr name="Freeform 7" id="7"/>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8" id="8"/>
          <p:cNvGrpSpPr/>
          <p:nvPr/>
        </p:nvGrpSpPr>
        <p:grpSpPr>
          <a:xfrm rot="213139">
            <a:off x="1046524" y="8678514"/>
            <a:ext cx="2495834" cy="652730"/>
            <a:chOff x="0" y="0"/>
            <a:chExt cx="3690620" cy="965200"/>
          </a:xfrm>
        </p:grpSpPr>
        <p:sp>
          <p:nvSpPr>
            <p:cNvPr name="Freeform 9" id="9"/>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10" id="10"/>
          <p:cNvGrpSpPr/>
          <p:nvPr/>
        </p:nvGrpSpPr>
        <p:grpSpPr>
          <a:xfrm rot="0">
            <a:off x="3830955" y="3404235"/>
            <a:ext cx="7725728" cy="1876425"/>
            <a:chOff x="0" y="0"/>
            <a:chExt cx="10300970" cy="2501900"/>
          </a:xfrm>
        </p:grpSpPr>
        <p:sp>
          <p:nvSpPr>
            <p:cNvPr name="Freeform 11" id="11"/>
            <p:cNvSpPr/>
            <p:nvPr/>
          </p:nvSpPr>
          <p:spPr>
            <a:xfrm flipH="false" flipV="false" rot="0">
              <a:off x="50610" y="50682"/>
              <a:ext cx="10198377" cy="2401917"/>
            </a:xfrm>
            <a:custGeom>
              <a:avLst/>
              <a:gdLst/>
              <a:ahLst/>
              <a:cxnLst/>
              <a:rect r="r" b="b" t="t" l="l"/>
              <a:pathLst>
                <a:path h="2401917" w="10198377">
                  <a:moveTo>
                    <a:pt x="562800" y="1098668"/>
                  </a:moveTo>
                  <a:cubicBezTo>
                    <a:pt x="2036000" y="905628"/>
                    <a:pt x="2281110" y="925948"/>
                    <a:pt x="2540190" y="903088"/>
                  </a:cubicBezTo>
                  <a:cubicBezTo>
                    <a:pt x="2791650" y="880228"/>
                    <a:pt x="2973260" y="835778"/>
                    <a:pt x="3279330" y="798948"/>
                  </a:cubicBezTo>
                  <a:cubicBezTo>
                    <a:pt x="3772090" y="737988"/>
                    <a:pt x="4744910" y="651628"/>
                    <a:pt x="5217350" y="595748"/>
                  </a:cubicBezTo>
                  <a:cubicBezTo>
                    <a:pt x="5490400" y="562728"/>
                    <a:pt x="5607240" y="547488"/>
                    <a:pt x="5862510" y="510658"/>
                  </a:cubicBezTo>
                  <a:cubicBezTo>
                    <a:pt x="6242240" y="454778"/>
                    <a:pt x="6882320" y="340478"/>
                    <a:pt x="7269670" y="282058"/>
                  </a:cubicBezTo>
                  <a:cubicBezTo>
                    <a:pt x="7542720" y="241418"/>
                    <a:pt x="7735760" y="214748"/>
                    <a:pt x="7965630" y="185538"/>
                  </a:cubicBezTo>
                  <a:cubicBezTo>
                    <a:pt x="8191690" y="157598"/>
                    <a:pt x="8406320" y="142358"/>
                    <a:pt x="8638730" y="113148"/>
                  </a:cubicBezTo>
                  <a:cubicBezTo>
                    <a:pt x="8890190" y="81398"/>
                    <a:pt x="9235630" y="2658"/>
                    <a:pt x="9422320" y="118"/>
                  </a:cubicBezTo>
                  <a:cubicBezTo>
                    <a:pt x="9525190" y="-1152"/>
                    <a:pt x="9584880" y="7738"/>
                    <a:pt x="9661080" y="30598"/>
                  </a:cubicBezTo>
                  <a:cubicBezTo>
                    <a:pt x="9737280" y="52188"/>
                    <a:pt x="9814750" y="89018"/>
                    <a:pt x="9879520" y="134738"/>
                  </a:cubicBezTo>
                  <a:cubicBezTo>
                    <a:pt x="9944290" y="180458"/>
                    <a:pt x="10005250" y="238878"/>
                    <a:pt x="10052240" y="303648"/>
                  </a:cubicBezTo>
                  <a:cubicBezTo>
                    <a:pt x="10099230" y="367148"/>
                    <a:pt x="10138600" y="442078"/>
                    <a:pt x="10162730" y="518278"/>
                  </a:cubicBezTo>
                  <a:cubicBezTo>
                    <a:pt x="10186860" y="594478"/>
                    <a:pt x="10199560" y="678298"/>
                    <a:pt x="10198290" y="757038"/>
                  </a:cubicBezTo>
                  <a:cubicBezTo>
                    <a:pt x="10197020" y="837048"/>
                    <a:pt x="10181780" y="919598"/>
                    <a:pt x="10156380" y="995798"/>
                  </a:cubicBezTo>
                  <a:cubicBezTo>
                    <a:pt x="10129710" y="1070728"/>
                    <a:pt x="10089070" y="1144388"/>
                    <a:pt x="10039540" y="1206618"/>
                  </a:cubicBezTo>
                  <a:cubicBezTo>
                    <a:pt x="9991280" y="1270118"/>
                    <a:pt x="9927780" y="1327268"/>
                    <a:pt x="9861740" y="1370448"/>
                  </a:cubicBezTo>
                  <a:cubicBezTo>
                    <a:pt x="9795700" y="1414898"/>
                    <a:pt x="9718230" y="1449188"/>
                    <a:pt x="9640760" y="1469508"/>
                  </a:cubicBezTo>
                  <a:cubicBezTo>
                    <a:pt x="9564560" y="1489828"/>
                    <a:pt x="9479470" y="1497448"/>
                    <a:pt x="9400730" y="1492368"/>
                  </a:cubicBezTo>
                  <a:cubicBezTo>
                    <a:pt x="9320720" y="1486018"/>
                    <a:pt x="9238170" y="1466968"/>
                    <a:pt x="9165780" y="1436488"/>
                  </a:cubicBezTo>
                  <a:cubicBezTo>
                    <a:pt x="9092120" y="1406008"/>
                    <a:pt x="9019730" y="1361558"/>
                    <a:pt x="8960040" y="1309488"/>
                  </a:cubicBezTo>
                  <a:cubicBezTo>
                    <a:pt x="8900350" y="1256148"/>
                    <a:pt x="8845740" y="1191378"/>
                    <a:pt x="8806370" y="1122798"/>
                  </a:cubicBezTo>
                  <a:cubicBezTo>
                    <a:pt x="8765730" y="1054218"/>
                    <a:pt x="8736520" y="974208"/>
                    <a:pt x="8720010" y="896738"/>
                  </a:cubicBezTo>
                  <a:cubicBezTo>
                    <a:pt x="8703500" y="819268"/>
                    <a:pt x="8700960" y="734178"/>
                    <a:pt x="8709850" y="655438"/>
                  </a:cubicBezTo>
                  <a:cubicBezTo>
                    <a:pt x="8720010" y="576698"/>
                    <a:pt x="8744140" y="495418"/>
                    <a:pt x="8778430" y="423028"/>
                  </a:cubicBezTo>
                  <a:cubicBezTo>
                    <a:pt x="8812720" y="351908"/>
                    <a:pt x="8860980" y="282058"/>
                    <a:pt x="8916860" y="224908"/>
                  </a:cubicBezTo>
                  <a:cubicBezTo>
                    <a:pt x="8972740" y="169028"/>
                    <a:pt x="9040050" y="118228"/>
                    <a:pt x="9111170" y="81398"/>
                  </a:cubicBezTo>
                  <a:cubicBezTo>
                    <a:pt x="9182290" y="45838"/>
                    <a:pt x="9262300" y="19168"/>
                    <a:pt x="9341040" y="7738"/>
                  </a:cubicBezTo>
                  <a:cubicBezTo>
                    <a:pt x="9419780" y="-3692"/>
                    <a:pt x="9504870" y="-2422"/>
                    <a:pt x="9583610" y="11548"/>
                  </a:cubicBezTo>
                  <a:cubicBezTo>
                    <a:pt x="9661080" y="25518"/>
                    <a:pt x="9741090" y="53458"/>
                    <a:pt x="9810940" y="91558"/>
                  </a:cubicBezTo>
                  <a:cubicBezTo>
                    <a:pt x="9880790" y="129658"/>
                    <a:pt x="9946830" y="182998"/>
                    <a:pt x="10001440" y="241418"/>
                  </a:cubicBezTo>
                  <a:cubicBezTo>
                    <a:pt x="10054780" y="299838"/>
                    <a:pt x="10101770" y="369688"/>
                    <a:pt x="10133520" y="443348"/>
                  </a:cubicBezTo>
                  <a:cubicBezTo>
                    <a:pt x="10166540" y="515738"/>
                    <a:pt x="10188130" y="597018"/>
                    <a:pt x="10195750" y="677028"/>
                  </a:cubicBezTo>
                  <a:cubicBezTo>
                    <a:pt x="10202100" y="755768"/>
                    <a:pt x="10197020" y="840858"/>
                    <a:pt x="10179240" y="918328"/>
                  </a:cubicBezTo>
                  <a:cubicBezTo>
                    <a:pt x="10160190" y="994528"/>
                    <a:pt x="10128440" y="1073268"/>
                    <a:pt x="10086530" y="1140578"/>
                  </a:cubicBezTo>
                  <a:cubicBezTo>
                    <a:pt x="10044620" y="1207888"/>
                    <a:pt x="9988740" y="1272658"/>
                    <a:pt x="9926510" y="1322188"/>
                  </a:cubicBezTo>
                  <a:cubicBezTo>
                    <a:pt x="9865550" y="1372988"/>
                    <a:pt x="9791890" y="1416168"/>
                    <a:pt x="9718230" y="1444108"/>
                  </a:cubicBezTo>
                  <a:cubicBezTo>
                    <a:pt x="9643300" y="1473318"/>
                    <a:pt x="9598850" y="1474588"/>
                    <a:pt x="9482010" y="1492368"/>
                  </a:cubicBezTo>
                  <a:cubicBezTo>
                    <a:pt x="9151810" y="1545708"/>
                    <a:pt x="8172640" y="1638418"/>
                    <a:pt x="7583360" y="1715888"/>
                  </a:cubicBezTo>
                  <a:cubicBezTo>
                    <a:pt x="7067740" y="1784468"/>
                    <a:pt x="6531800" y="1875908"/>
                    <a:pt x="6134290" y="1927978"/>
                  </a:cubicBezTo>
                  <a:cubicBezTo>
                    <a:pt x="5858700" y="1963538"/>
                    <a:pt x="5674550" y="1983858"/>
                    <a:pt x="5433250" y="2009258"/>
                  </a:cubicBezTo>
                  <a:cubicBezTo>
                    <a:pt x="5176710" y="2035928"/>
                    <a:pt x="4899850" y="2063868"/>
                    <a:pt x="4635690" y="2084188"/>
                  </a:cubicBezTo>
                  <a:cubicBezTo>
                    <a:pt x="4377880" y="2104508"/>
                    <a:pt x="4114990" y="2112128"/>
                    <a:pt x="3866070" y="2133718"/>
                  </a:cubicBezTo>
                  <a:cubicBezTo>
                    <a:pt x="3632390" y="2155308"/>
                    <a:pt x="3408870" y="2190868"/>
                    <a:pt x="3185350" y="2212458"/>
                  </a:cubicBezTo>
                  <a:cubicBezTo>
                    <a:pt x="2969450" y="2232778"/>
                    <a:pt x="2764980" y="2251828"/>
                    <a:pt x="2550350" y="2260718"/>
                  </a:cubicBezTo>
                  <a:cubicBezTo>
                    <a:pt x="2329370" y="2269608"/>
                    <a:pt x="2131250" y="2249288"/>
                    <a:pt x="1878520" y="2264528"/>
                  </a:cubicBezTo>
                  <a:cubicBezTo>
                    <a:pt x="1549590" y="2284848"/>
                    <a:pt x="952690" y="2382638"/>
                    <a:pt x="748220" y="2396608"/>
                  </a:cubicBezTo>
                  <a:cubicBezTo>
                    <a:pt x="670750" y="2401688"/>
                    <a:pt x="641540" y="2404228"/>
                    <a:pt x="589470" y="2399148"/>
                  </a:cubicBezTo>
                  <a:cubicBezTo>
                    <a:pt x="537400" y="2394068"/>
                    <a:pt x="485330" y="2382638"/>
                    <a:pt x="435800" y="2364858"/>
                  </a:cubicBezTo>
                  <a:cubicBezTo>
                    <a:pt x="386270" y="2347078"/>
                    <a:pt x="338010" y="2322948"/>
                    <a:pt x="293560" y="2295008"/>
                  </a:cubicBezTo>
                  <a:cubicBezTo>
                    <a:pt x="250380" y="2265798"/>
                    <a:pt x="208470" y="2230238"/>
                    <a:pt x="174180" y="2192138"/>
                  </a:cubicBezTo>
                  <a:cubicBezTo>
                    <a:pt x="138620" y="2154038"/>
                    <a:pt x="106870" y="2109588"/>
                    <a:pt x="81470" y="2063868"/>
                  </a:cubicBezTo>
                  <a:cubicBezTo>
                    <a:pt x="56070" y="2018148"/>
                    <a:pt x="35750" y="1968618"/>
                    <a:pt x="21780" y="1917818"/>
                  </a:cubicBezTo>
                  <a:cubicBezTo>
                    <a:pt x="7810" y="1867018"/>
                    <a:pt x="190" y="1813678"/>
                    <a:pt x="190" y="1761608"/>
                  </a:cubicBezTo>
                  <a:cubicBezTo>
                    <a:pt x="-1080" y="1708268"/>
                    <a:pt x="4000" y="1654928"/>
                    <a:pt x="15430" y="1604128"/>
                  </a:cubicBezTo>
                  <a:cubicBezTo>
                    <a:pt x="26860" y="1553328"/>
                    <a:pt x="44640" y="1501258"/>
                    <a:pt x="68770" y="1454268"/>
                  </a:cubicBezTo>
                  <a:cubicBezTo>
                    <a:pt x="91630" y="1408548"/>
                    <a:pt x="120840" y="1362828"/>
                    <a:pt x="155130" y="1323458"/>
                  </a:cubicBezTo>
                  <a:cubicBezTo>
                    <a:pt x="189420" y="1282818"/>
                    <a:pt x="228790" y="1245988"/>
                    <a:pt x="271970" y="1215508"/>
                  </a:cubicBezTo>
                  <a:cubicBezTo>
                    <a:pt x="313880" y="1185028"/>
                    <a:pt x="360870" y="1158358"/>
                    <a:pt x="409130" y="1139308"/>
                  </a:cubicBezTo>
                  <a:cubicBezTo>
                    <a:pt x="458660" y="1120258"/>
                    <a:pt x="562800" y="1098668"/>
                    <a:pt x="562800" y="1098668"/>
                  </a:cubicBezTo>
                </a:path>
              </a:pathLst>
            </a:custGeom>
            <a:solidFill>
              <a:srgbClr val="C8DEF5"/>
            </a:solidFill>
            <a:ln cap="sq">
              <a:noFill/>
              <a:prstDash val="solid"/>
              <a:miter/>
            </a:ln>
          </p:spPr>
        </p:sp>
      </p:grpSp>
      <p:grpSp>
        <p:nvGrpSpPr>
          <p:cNvPr name="Group 12" id="12"/>
          <p:cNvGrpSpPr/>
          <p:nvPr/>
        </p:nvGrpSpPr>
        <p:grpSpPr>
          <a:xfrm rot="0">
            <a:off x="3722370" y="5157788"/>
            <a:ext cx="10503218" cy="2422208"/>
            <a:chOff x="0" y="0"/>
            <a:chExt cx="14004290" cy="3229610"/>
          </a:xfrm>
        </p:grpSpPr>
        <p:sp>
          <p:nvSpPr>
            <p:cNvPr name="Freeform 13" id="13"/>
            <p:cNvSpPr/>
            <p:nvPr/>
          </p:nvSpPr>
          <p:spPr>
            <a:xfrm flipH="false" flipV="false" rot="0">
              <a:off x="49329" y="49399"/>
              <a:ext cx="13907176" cy="3128310"/>
            </a:xfrm>
            <a:custGeom>
              <a:avLst/>
              <a:gdLst/>
              <a:ahLst/>
              <a:cxnLst/>
              <a:rect r="r" b="b" t="t" l="l"/>
              <a:pathLst>
                <a:path h="3128310" w="13907176">
                  <a:moveTo>
                    <a:pt x="614881" y="1821311"/>
                  </a:moveTo>
                  <a:cubicBezTo>
                    <a:pt x="2005531" y="1724791"/>
                    <a:pt x="2173171" y="1704471"/>
                    <a:pt x="2486861" y="1666371"/>
                  </a:cubicBezTo>
                  <a:cubicBezTo>
                    <a:pt x="2999941" y="1604141"/>
                    <a:pt x="4000701" y="1463171"/>
                    <a:pt x="4513781" y="1390781"/>
                  </a:cubicBezTo>
                  <a:cubicBezTo>
                    <a:pt x="4828741" y="1346331"/>
                    <a:pt x="5033211" y="1323471"/>
                    <a:pt x="5274511" y="1277751"/>
                  </a:cubicBezTo>
                  <a:cubicBezTo>
                    <a:pt x="5498031" y="1237111"/>
                    <a:pt x="5640271" y="1188851"/>
                    <a:pt x="5914591" y="1135511"/>
                  </a:cubicBezTo>
                  <a:cubicBezTo>
                    <a:pt x="6404811" y="1041531"/>
                    <a:pt x="7452561" y="892941"/>
                    <a:pt x="7966911" y="805311"/>
                  </a:cubicBezTo>
                  <a:cubicBezTo>
                    <a:pt x="8279331" y="751971"/>
                    <a:pt x="8467291" y="710061"/>
                    <a:pt x="8716211" y="669421"/>
                  </a:cubicBezTo>
                  <a:cubicBezTo>
                    <a:pt x="8962591" y="628781"/>
                    <a:pt x="9203891" y="590681"/>
                    <a:pt x="9451541" y="558931"/>
                  </a:cubicBezTo>
                  <a:cubicBezTo>
                    <a:pt x="9704271" y="527181"/>
                    <a:pt x="9955731" y="510671"/>
                    <a:pt x="10216081" y="476381"/>
                  </a:cubicBezTo>
                  <a:cubicBezTo>
                    <a:pt x="10486591" y="440821"/>
                    <a:pt x="10781231" y="386211"/>
                    <a:pt x="11044121" y="349381"/>
                  </a:cubicBezTo>
                  <a:cubicBezTo>
                    <a:pt x="11282881" y="316361"/>
                    <a:pt x="11501321" y="301121"/>
                    <a:pt x="11727381" y="265561"/>
                  </a:cubicBezTo>
                  <a:cubicBezTo>
                    <a:pt x="11954711" y="228731"/>
                    <a:pt x="12208711" y="161421"/>
                    <a:pt x="12408101" y="129671"/>
                  </a:cubicBezTo>
                  <a:cubicBezTo>
                    <a:pt x="12560501" y="106811"/>
                    <a:pt x="12701471" y="109351"/>
                    <a:pt x="12817041" y="83951"/>
                  </a:cubicBezTo>
                  <a:cubicBezTo>
                    <a:pt x="12905941" y="64901"/>
                    <a:pt x="12968171" y="21721"/>
                    <a:pt x="13045641" y="9021"/>
                  </a:cubicBezTo>
                  <a:cubicBezTo>
                    <a:pt x="13124382" y="-3679"/>
                    <a:pt x="13209471" y="-2409"/>
                    <a:pt x="13286941" y="10291"/>
                  </a:cubicBezTo>
                  <a:cubicBezTo>
                    <a:pt x="13365682" y="22991"/>
                    <a:pt x="13445691" y="50931"/>
                    <a:pt x="13515541" y="89031"/>
                  </a:cubicBezTo>
                  <a:cubicBezTo>
                    <a:pt x="13584121" y="125861"/>
                    <a:pt x="13651432" y="177931"/>
                    <a:pt x="13706041" y="235081"/>
                  </a:cubicBezTo>
                  <a:cubicBezTo>
                    <a:pt x="13760651" y="293501"/>
                    <a:pt x="13807641" y="363351"/>
                    <a:pt x="13839391" y="435741"/>
                  </a:cubicBezTo>
                  <a:cubicBezTo>
                    <a:pt x="13872410" y="508131"/>
                    <a:pt x="13895271" y="589411"/>
                    <a:pt x="13902891" y="668151"/>
                  </a:cubicBezTo>
                  <a:cubicBezTo>
                    <a:pt x="13911782" y="746891"/>
                    <a:pt x="13906701" y="831981"/>
                    <a:pt x="13888921" y="909451"/>
                  </a:cubicBezTo>
                  <a:cubicBezTo>
                    <a:pt x="13871141" y="985651"/>
                    <a:pt x="13839391" y="1064391"/>
                    <a:pt x="13798751" y="1131701"/>
                  </a:cubicBezTo>
                  <a:cubicBezTo>
                    <a:pt x="13756841" y="1200281"/>
                    <a:pt x="13702232" y="1263781"/>
                    <a:pt x="13641271" y="1314581"/>
                  </a:cubicBezTo>
                  <a:cubicBezTo>
                    <a:pt x="13580310" y="1366651"/>
                    <a:pt x="13507921" y="1408561"/>
                    <a:pt x="13434260" y="1437771"/>
                  </a:cubicBezTo>
                  <a:cubicBezTo>
                    <a:pt x="13360601" y="1466981"/>
                    <a:pt x="13276782" y="1484761"/>
                    <a:pt x="13198041" y="1488571"/>
                  </a:cubicBezTo>
                  <a:cubicBezTo>
                    <a:pt x="13119301" y="1492381"/>
                    <a:pt x="13035482" y="1482221"/>
                    <a:pt x="12959282" y="1460631"/>
                  </a:cubicBezTo>
                  <a:cubicBezTo>
                    <a:pt x="12883081" y="1439041"/>
                    <a:pt x="12805611" y="1403481"/>
                    <a:pt x="12740841" y="1359031"/>
                  </a:cubicBezTo>
                  <a:cubicBezTo>
                    <a:pt x="12674801" y="1313311"/>
                    <a:pt x="12613841" y="1254891"/>
                    <a:pt x="12566851" y="1191391"/>
                  </a:cubicBezTo>
                  <a:cubicBezTo>
                    <a:pt x="12518591" y="1127891"/>
                    <a:pt x="12480491" y="1052961"/>
                    <a:pt x="12455091" y="978031"/>
                  </a:cubicBezTo>
                  <a:cubicBezTo>
                    <a:pt x="12429691" y="903101"/>
                    <a:pt x="12416991" y="819281"/>
                    <a:pt x="12416991" y="740541"/>
                  </a:cubicBezTo>
                  <a:cubicBezTo>
                    <a:pt x="12418261" y="660531"/>
                    <a:pt x="12432231" y="577981"/>
                    <a:pt x="12457631" y="503051"/>
                  </a:cubicBezTo>
                  <a:cubicBezTo>
                    <a:pt x="12483031" y="428121"/>
                    <a:pt x="12523671" y="353191"/>
                    <a:pt x="12571931" y="289691"/>
                  </a:cubicBezTo>
                  <a:cubicBezTo>
                    <a:pt x="12620191" y="227461"/>
                    <a:pt x="12682421" y="170311"/>
                    <a:pt x="12748461" y="125861"/>
                  </a:cubicBezTo>
                  <a:cubicBezTo>
                    <a:pt x="12813231" y="81411"/>
                    <a:pt x="12890701" y="47121"/>
                    <a:pt x="12966901" y="25531"/>
                  </a:cubicBezTo>
                  <a:cubicBezTo>
                    <a:pt x="13044371" y="5211"/>
                    <a:pt x="13128191" y="-3679"/>
                    <a:pt x="13206932" y="1401"/>
                  </a:cubicBezTo>
                  <a:cubicBezTo>
                    <a:pt x="13285671" y="6481"/>
                    <a:pt x="13368221" y="24261"/>
                    <a:pt x="13441882" y="54741"/>
                  </a:cubicBezTo>
                  <a:cubicBezTo>
                    <a:pt x="13515541" y="83951"/>
                    <a:pt x="13587932" y="128401"/>
                    <a:pt x="13647621" y="179201"/>
                  </a:cubicBezTo>
                  <a:cubicBezTo>
                    <a:pt x="13707310" y="231271"/>
                    <a:pt x="13761921" y="296041"/>
                    <a:pt x="13802560" y="364621"/>
                  </a:cubicBezTo>
                  <a:cubicBezTo>
                    <a:pt x="13843201" y="433201"/>
                    <a:pt x="13873682" y="511941"/>
                    <a:pt x="13890191" y="589411"/>
                  </a:cubicBezTo>
                  <a:cubicBezTo>
                    <a:pt x="13906701" y="666881"/>
                    <a:pt x="13911782" y="750701"/>
                    <a:pt x="13901621" y="829441"/>
                  </a:cubicBezTo>
                  <a:cubicBezTo>
                    <a:pt x="13892732" y="908181"/>
                    <a:pt x="13869871" y="989461"/>
                    <a:pt x="13836851" y="1061851"/>
                  </a:cubicBezTo>
                  <a:cubicBezTo>
                    <a:pt x="13802560" y="1132971"/>
                    <a:pt x="13754301" y="1202821"/>
                    <a:pt x="13699691" y="1259971"/>
                  </a:cubicBezTo>
                  <a:cubicBezTo>
                    <a:pt x="13645082" y="1317121"/>
                    <a:pt x="13599360" y="1362841"/>
                    <a:pt x="13506651" y="1404751"/>
                  </a:cubicBezTo>
                  <a:cubicBezTo>
                    <a:pt x="13335201" y="1483491"/>
                    <a:pt x="12955471" y="1529211"/>
                    <a:pt x="12701471" y="1580011"/>
                  </a:cubicBezTo>
                  <a:cubicBezTo>
                    <a:pt x="12476681" y="1625731"/>
                    <a:pt x="12321741" y="1656211"/>
                    <a:pt x="12063931" y="1696851"/>
                  </a:cubicBezTo>
                  <a:cubicBezTo>
                    <a:pt x="11666421" y="1760351"/>
                    <a:pt x="10946331" y="1855601"/>
                    <a:pt x="10545011" y="1903861"/>
                  </a:cubicBezTo>
                  <a:cubicBezTo>
                    <a:pt x="10283391" y="1934341"/>
                    <a:pt x="10191951" y="1930531"/>
                    <a:pt x="9893501" y="1968631"/>
                  </a:cubicBezTo>
                  <a:cubicBezTo>
                    <a:pt x="9234371" y="2053721"/>
                    <a:pt x="7607501" y="2319151"/>
                    <a:pt x="6729931" y="2461391"/>
                  </a:cubicBezTo>
                  <a:cubicBezTo>
                    <a:pt x="6105091" y="2562991"/>
                    <a:pt x="5541211" y="2669671"/>
                    <a:pt x="5123381" y="2733171"/>
                  </a:cubicBezTo>
                  <a:cubicBezTo>
                    <a:pt x="4856681" y="2772541"/>
                    <a:pt x="4746191" y="2785241"/>
                    <a:pt x="4466791" y="2819531"/>
                  </a:cubicBezTo>
                  <a:cubicBezTo>
                    <a:pt x="3977841" y="2877951"/>
                    <a:pt x="2932631" y="2996061"/>
                    <a:pt x="2441141" y="3040511"/>
                  </a:cubicBezTo>
                  <a:cubicBezTo>
                    <a:pt x="2160471" y="3064641"/>
                    <a:pt x="2027121" y="3072261"/>
                    <a:pt x="1779471" y="3086231"/>
                  </a:cubicBezTo>
                  <a:cubicBezTo>
                    <a:pt x="1463241" y="3104011"/>
                    <a:pt x="894281" y="3130681"/>
                    <a:pt x="694891" y="3128141"/>
                  </a:cubicBezTo>
                  <a:cubicBezTo>
                    <a:pt x="618691" y="3128141"/>
                    <a:pt x="588211" y="3128141"/>
                    <a:pt x="537411" y="3119251"/>
                  </a:cubicBezTo>
                  <a:cubicBezTo>
                    <a:pt x="485341" y="3110361"/>
                    <a:pt x="434541" y="3093851"/>
                    <a:pt x="386281" y="3072261"/>
                  </a:cubicBezTo>
                  <a:cubicBezTo>
                    <a:pt x="338021" y="3050671"/>
                    <a:pt x="292301" y="3022731"/>
                    <a:pt x="251661" y="2990981"/>
                  </a:cubicBezTo>
                  <a:cubicBezTo>
                    <a:pt x="209751" y="2957961"/>
                    <a:pt x="171651" y="2919861"/>
                    <a:pt x="139901" y="2879221"/>
                  </a:cubicBezTo>
                  <a:cubicBezTo>
                    <a:pt x="106881" y="2837311"/>
                    <a:pt x="78941" y="2791591"/>
                    <a:pt x="57351" y="2743331"/>
                  </a:cubicBezTo>
                  <a:cubicBezTo>
                    <a:pt x="35761" y="2696341"/>
                    <a:pt x="20521" y="2644271"/>
                    <a:pt x="10361" y="2593471"/>
                  </a:cubicBezTo>
                  <a:cubicBezTo>
                    <a:pt x="1471" y="2541401"/>
                    <a:pt x="-2339" y="2486791"/>
                    <a:pt x="1471" y="2434721"/>
                  </a:cubicBezTo>
                  <a:cubicBezTo>
                    <a:pt x="4011" y="2382651"/>
                    <a:pt x="14171" y="2329311"/>
                    <a:pt x="29411" y="2279781"/>
                  </a:cubicBezTo>
                  <a:cubicBezTo>
                    <a:pt x="44651" y="2230251"/>
                    <a:pt x="67511" y="2180721"/>
                    <a:pt x="94181" y="2136271"/>
                  </a:cubicBezTo>
                  <a:cubicBezTo>
                    <a:pt x="122121" y="2090551"/>
                    <a:pt x="155141" y="2048641"/>
                    <a:pt x="191971" y="2011811"/>
                  </a:cubicBezTo>
                  <a:cubicBezTo>
                    <a:pt x="228801" y="1974981"/>
                    <a:pt x="271981" y="1940691"/>
                    <a:pt x="316431" y="1914021"/>
                  </a:cubicBezTo>
                  <a:cubicBezTo>
                    <a:pt x="360881" y="1887351"/>
                    <a:pt x="410411" y="1864491"/>
                    <a:pt x="459941" y="1849251"/>
                  </a:cubicBezTo>
                  <a:cubicBezTo>
                    <a:pt x="509471" y="1834011"/>
                    <a:pt x="616151" y="1821311"/>
                    <a:pt x="616151" y="1821311"/>
                  </a:cubicBezTo>
                </a:path>
              </a:pathLst>
            </a:custGeom>
            <a:solidFill>
              <a:srgbClr val="C8DEF5"/>
            </a:solidFill>
            <a:ln cap="sq">
              <a:noFill/>
              <a:prstDash val="solid"/>
              <a:miter/>
            </a:ln>
          </p:spPr>
        </p:sp>
      </p:grpSp>
      <p:grpSp>
        <p:nvGrpSpPr>
          <p:cNvPr name="Group 14" id="14"/>
          <p:cNvGrpSpPr/>
          <p:nvPr/>
        </p:nvGrpSpPr>
        <p:grpSpPr>
          <a:xfrm rot="0">
            <a:off x="6216968" y="7155180"/>
            <a:ext cx="5996940" cy="1009650"/>
            <a:chOff x="0" y="0"/>
            <a:chExt cx="7995920" cy="1346200"/>
          </a:xfrm>
        </p:grpSpPr>
        <p:sp>
          <p:nvSpPr>
            <p:cNvPr name="Freeform 15" id="15"/>
            <p:cNvSpPr/>
            <p:nvPr/>
          </p:nvSpPr>
          <p:spPr>
            <a:xfrm flipH="false" flipV="false" rot="0">
              <a:off x="49213" y="49050"/>
              <a:ext cx="7896219" cy="1245729"/>
            </a:xfrm>
            <a:custGeom>
              <a:avLst/>
              <a:gdLst/>
              <a:ahLst/>
              <a:cxnLst/>
              <a:rect r="r" b="b" t="t" l="l"/>
              <a:pathLst>
                <a:path h="1245729" w="7896219">
                  <a:moveTo>
                    <a:pt x="208597" y="740890"/>
                  </a:moveTo>
                  <a:cubicBezTo>
                    <a:pt x="1147127" y="610080"/>
                    <a:pt x="1664017" y="621510"/>
                    <a:pt x="2038667" y="603730"/>
                  </a:cubicBezTo>
                  <a:cubicBezTo>
                    <a:pt x="2357437" y="587220"/>
                    <a:pt x="2627947" y="571980"/>
                    <a:pt x="2922587" y="544040"/>
                  </a:cubicBezTo>
                  <a:cubicBezTo>
                    <a:pt x="3219767" y="514830"/>
                    <a:pt x="3555047" y="460220"/>
                    <a:pt x="3816667" y="433550"/>
                  </a:cubicBezTo>
                  <a:cubicBezTo>
                    <a:pt x="4021137" y="411960"/>
                    <a:pt x="4197667" y="401800"/>
                    <a:pt x="4362767" y="389100"/>
                  </a:cubicBezTo>
                  <a:cubicBezTo>
                    <a:pt x="4499927" y="378940"/>
                    <a:pt x="4615497" y="368780"/>
                    <a:pt x="4738687" y="363700"/>
                  </a:cubicBezTo>
                  <a:cubicBezTo>
                    <a:pt x="4856797" y="359890"/>
                    <a:pt x="4974907" y="370050"/>
                    <a:pt x="5087937" y="361160"/>
                  </a:cubicBezTo>
                  <a:cubicBezTo>
                    <a:pt x="5194617" y="352270"/>
                    <a:pt x="5298757" y="325600"/>
                    <a:pt x="5399087" y="315440"/>
                  </a:cubicBezTo>
                  <a:cubicBezTo>
                    <a:pt x="5490527" y="306550"/>
                    <a:pt x="5543867" y="311630"/>
                    <a:pt x="5663247" y="300200"/>
                  </a:cubicBezTo>
                  <a:cubicBezTo>
                    <a:pt x="5912167" y="274800"/>
                    <a:pt x="6467157" y="197330"/>
                    <a:pt x="6811327" y="142720"/>
                  </a:cubicBezTo>
                  <a:cubicBezTo>
                    <a:pt x="7093267" y="98270"/>
                    <a:pt x="7447597" y="11910"/>
                    <a:pt x="7579677" y="1750"/>
                  </a:cubicBezTo>
                  <a:cubicBezTo>
                    <a:pt x="7624127" y="-790"/>
                    <a:pt x="7641907" y="480"/>
                    <a:pt x="7671117" y="5560"/>
                  </a:cubicBezTo>
                  <a:cubicBezTo>
                    <a:pt x="7700327" y="11910"/>
                    <a:pt x="7730807" y="23340"/>
                    <a:pt x="7756207" y="38580"/>
                  </a:cubicBezTo>
                  <a:cubicBezTo>
                    <a:pt x="7781607" y="53820"/>
                    <a:pt x="7807007" y="74140"/>
                    <a:pt x="7826057" y="97000"/>
                  </a:cubicBezTo>
                  <a:cubicBezTo>
                    <a:pt x="7846377" y="119860"/>
                    <a:pt x="7862887" y="146530"/>
                    <a:pt x="7874317" y="174470"/>
                  </a:cubicBezTo>
                  <a:cubicBezTo>
                    <a:pt x="7885747" y="202410"/>
                    <a:pt x="7893367" y="232890"/>
                    <a:pt x="7895907" y="263370"/>
                  </a:cubicBezTo>
                  <a:cubicBezTo>
                    <a:pt x="7897177" y="292580"/>
                    <a:pt x="7894637" y="325600"/>
                    <a:pt x="7887017" y="353540"/>
                  </a:cubicBezTo>
                  <a:cubicBezTo>
                    <a:pt x="7879397" y="382750"/>
                    <a:pt x="7865427" y="411960"/>
                    <a:pt x="7848917" y="437360"/>
                  </a:cubicBezTo>
                  <a:cubicBezTo>
                    <a:pt x="7832407" y="462760"/>
                    <a:pt x="7810817" y="485620"/>
                    <a:pt x="7787957" y="504670"/>
                  </a:cubicBezTo>
                  <a:cubicBezTo>
                    <a:pt x="7763827" y="522450"/>
                    <a:pt x="7735887" y="538960"/>
                    <a:pt x="7707947" y="547850"/>
                  </a:cubicBezTo>
                  <a:cubicBezTo>
                    <a:pt x="7678737" y="558010"/>
                    <a:pt x="7648257" y="564360"/>
                    <a:pt x="7617777" y="564360"/>
                  </a:cubicBezTo>
                  <a:cubicBezTo>
                    <a:pt x="7587297" y="564360"/>
                    <a:pt x="7555547" y="560550"/>
                    <a:pt x="7527607" y="550390"/>
                  </a:cubicBezTo>
                  <a:cubicBezTo>
                    <a:pt x="7498397" y="541500"/>
                    <a:pt x="7470457" y="526260"/>
                    <a:pt x="7446327" y="508480"/>
                  </a:cubicBezTo>
                  <a:cubicBezTo>
                    <a:pt x="7422197" y="490700"/>
                    <a:pt x="7399337" y="467840"/>
                    <a:pt x="7382827" y="443710"/>
                  </a:cubicBezTo>
                  <a:cubicBezTo>
                    <a:pt x="7365047" y="419580"/>
                    <a:pt x="7351077" y="390370"/>
                    <a:pt x="7343457" y="361160"/>
                  </a:cubicBezTo>
                  <a:cubicBezTo>
                    <a:pt x="7334567" y="331950"/>
                    <a:pt x="7330757" y="300200"/>
                    <a:pt x="7332027" y="270990"/>
                  </a:cubicBezTo>
                  <a:cubicBezTo>
                    <a:pt x="7333297" y="240510"/>
                    <a:pt x="7339647" y="208760"/>
                    <a:pt x="7351077" y="180820"/>
                  </a:cubicBezTo>
                  <a:cubicBezTo>
                    <a:pt x="7361237" y="152880"/>
                    <a:pt x="7377747" y="126210"/>
                    <a:pt x="7396797" y="102080"/>
                  </a:cubicBezTo>
                  <a:cubicBezTo>
                    <a:pt x="7415847" y="79220"/>
                    <a:pt x="7439977" y="58900"/>
                    <a:pt x="7465377" y="42390"/>
                  </a:cubicBezTo>
                  <a:cubicBezTo>
                    <a:pt x="7490777" y="27150"/>
                    <a:pt x="7519987" y="14450"/>
                    <a:pt x="7549197" y="8100"/>
                  </a:cubicBezTo>
                  <a:cubicBezTo>
                    <a:pt x="7578407" y="480"/>
                    <a:pt x="7611427" y="-2060"/>
                    <a:pt x="7640637" y="1750"/>
                  </a:cubicBezTo>
                  <a:cubicBezTo>
                    <a:pt x="7671117" y="4290"/>
                    <a:pt x="7701597" y="11910"/>
                    <a:pt x="7729537" y="24610"/>
                  </a:cubicBezTo>
                  <a:cubicBezTo>
                    <a:pt x="7756207" y="37310"/>
                    <a:pt x="7782877" y="55090"/>
                    <a:pt x="7805737" y="75410"/>
                  </a:cubicBezTo>
                  <a:cubicBezTo>
                    <a:pt x="7827327" y="95730"/>
                    <a:pt x="7846377" y="121130"/>
                    <a:pt x="7861617" y="146530"/>
                  </a:cubicBezTo>
                  <a:cubicBezTo>
                    <a:pt x="7875587" y="173200"/>
                    <a:pt x="7887017" y="203680"/>
                    <a:pt x="7892097" y="232890"/>
                  </a:cubicBezTo>
                  <a:cubicBezTo>
                    <a:pt x="7897177" y="262100"/>
                    <a:pt x="7897177" y="295120"/>
                    <a:pt x="7893367" y="324330"/>
                  </a:cubicBezTo>
                  <a:cubicBezTo>
                    <a:pt x="7888287" y="353540"/>
                    <a:pt x="7878127" y="384020"/>
                    <a:pt x="7865427" y="410690"/>
                  </a:cubicBezTo>
                  <a:cubicBezTo>
                    <a:pt x="7851457" y="437360"/>
                    <a:pt x="7832407" y="464030"/>
                    <a:pt x="7810817" y="484350"/>
                  </a:cubicBezTo>
                  <a:cubicBezTo>
                    <a:pt x="7789227" y="505940"/>
                    <a:pt x="7762557" y="523720"/>
                    <a:pt x="7735887" y="536420"/>
                  </a:cubicBezTo>
                  <a:cubicBezTo>
                    <a:pt x="7709217" y="549120"/>
                    <a:pt x="7695247" y="551660"/>
                    <a:pt x="7648257" y="561820"/>
                  </a:cubicBezTo>
                  <a:cubicBezTo>
                    <a:pt x="7457757" y="605000"/>
                    <a:pt x="6650037" y="733270"/>
                    <a:pt x="6197917" y="792960"/>
                  </a:cubicBezTo>
                  <a:cubicBezTo>
                    <a:pt x="5804217" y="846300"/>
                    <a:pt x="5395277" y="893290"/>
                    <a:pt x="5089207" y="912340"/>
                  </a:cubicBezTo>
                  <a:cubicBezTo>
                    <a:pt x="4872037" y="925040"/>
                    <a:pt x="4741227" y="908530"/>
                    <a:pt x="4532947" y="919960"/>
                  </a:cubicBezTo>
                  <a:cubicBezTo>
                    <a:pt x="4266247" y="933930"/>
                    <a:pt x="3897947" y="975840"/>
                    <a:pt x="3619817" y="1005050"/>
                  </a:cubicBezTo>
                  <a:cubicBezTo>
                    <a:pt x="3386137" y="1030450"/>
                    <a:pt x="3222307" y="1059660"/>
                    <a:pt x="2974657" y="1082520"/>
                  </a:cubicBezTo>
                  <a:cubicBezTo>
                    <a:pt x="2643187" y="1111730"/>
                    <a:pt x="2173287" y="1140940"/>
                    <a:pt x="1803717" y="1151100"/>
                  </a:cubicBezTo>
                  <a:cubicBezTo>
                    <a:pt x="1472247" y="1161260"/>
                    <a:pt x="1138237" y="1130780"/>
                    <a:pt x="857567" y="1151100"/>
                  </a:cubicBezTo>
                  <a:cubicBezTo>
                    <a:pt x="630237" y="1168880"/>
                    <a:pt x="366077" y="1253970"/>
                    <a:pt x="241617" y="1245080"/>
                  </a:cubicBezTo>
                  <a:cubicBezTo>
                    <a:pt x="187007" y="1241270"/>
                    <a:pt x="155257" y="1224760"/>
                    <a:pt x="126047" y="1209520"/>
                  </a:cubicBezTo>
                  <a:cubicBezTo>
                    <a:pt x="104457" y="1199360"/>
                    <a:pt x="91757" y="1186660"/>
                    <a:pt x="76517" y="1172690"/>
                  </a:cubicBezTo>
                  <a:cubicBezTo>
                    <a:pt x="62547" y="1157450"/>
                    <a:pt x="49847" y="1144750"/>
                    <a:pt x="38417" y="1124430"/>
                  </a:cubicBezTo>
                  <a:cubicBezTo>
                    <a:pt x="23177" y="1095220"/>
                    <a:pt x="5397" y="1040610"/>
                    <a:pt x="1587" y="1007590"/>
                  </a:cubicBezTo>
                  <a:cubicBezTo>
                    <a:pt x="-953" y="984730"/>
                    <a:pt x="-953" y="969490"/>
                    <a:pt x="5397" y="946630"/>
                  </a:cubicBezTo>
                  <a:cubicBezTo>
                    <a:pt x="13017" y="914880"/>
                    <a:pt x="30797" y="866620"/>
                    <a:pt x="53657" y="834870"/>
                  </a:cubicBezTo>
                  <a:cubicBezTo>
                    <a:pt x="77787" y="804390"/>
                    <a:pt x="120967" y="775180"/>
                    <a:pt x="150177" y="759940"/>
                  </a:cubicBezTo>
                  <a:cubicBezTo>
                    <a:pt x="170497" y="748510"/>
                    <a:pt x="208597" y="740890"/>
                    <a:pt x="208597" y="740890"/>
                  </a:cubicBezTo>
                </a:path>
              </a:pathLst>
            </a:custGeom>
            <a:solidFill>
              <a:srgbClr val="C8DEF5"/>
            </a:solidFill>
            <a:ln cap="sq">
              <a:noFill/>
              <a:prstDash val="solid"/>
              <a:miter/>
            </a:ln>
          </p:spPr>
        </p:sp>
      </p:grpSp>
      <p:sp>
        <p:nvSpPr>
          <p:cNvPr name="TextBox 16" id="16"/>
          <p:cNvSpPr txBox="true"/>
          <p:nvPr/>
        </p:nvSpPr>
        <p:spPr>
          <a:xfrm rot="0">
            <a:off x="4844996" y="7149394"/>
            <a:ext cx="8482224" cy="699655"/>
          </a:xfrm>
          <a:prstGeom prst="rect">
            <a:avLst/>
          </a:prstGeom>
        </p:spPr>
        <p:txBody>
          <a:bodyPr anchor="t" rtlCol="false" tIns="0" lIns="0" bIns="0" rIns="0">
            <a:spAutoFit/>
          </a:bodyPr>
          <a:lstStyle/>
          <a:p>
            <a:pPr algn="ctr">
              <a:lnSpc>
                <a:spcPts val="5536"/>
              </a:lnSpc>
            </a:pPr>
            <a:r>
              <a:rPr lang="en-US" sz="3954" b="true">
                <a:solidFill>
                  <a:srgbClr val="202F5A"/>
                </a:solidFill>
                <a:latin typeface="Arial Bold"/>
                <a:ea typeface="Arial Bold"/>
                <a:cs typeface="Arial Bold"/>
                <a:sym typeface="Arial Bold"/>
              </a:rPr>
              <a:t>Mentor: Hai Dang</a:t>
            </a:r>
          </a:p>
        </p:txBody>
      </p:sp>
      <p:sp>
        <p:nvSpPr>
          <p:cNvPr name="TextBox 17" id="17"/>
          <p:cNvSpPr txBox="true"/>
          <p:nvPr/>
        </p:nvSpPr>
        <p:spPr>
          <a:xfrm rot="0">
            <a:off x="3454495" y="3407995"/>
            <a:ext cx="12021728" cy="2653893"/>
          </a:xfrm>
          <a:prstGeom prst="rect">
            <a:avLst/>
          </a:prstGeom>
        </p:spPr>
        <p:txBody>
          <a:bodyPr anchor="t" rtlCol="false" tIns="0" lIns="0" bIns="0" rIns="0">
            <a:spAutoFit/>
          </a:bodyPr>
          <a:lstStyle/>
          <a:p>
            <a:pPr algn="ctr">
              <a:lnSpc>
                <a:spcPts val="7022"/>
              </a:lnSpc>
            </a:pPr>
            <a:r>
              <a:rPr lang="en-US" sz="5016" b="true">
                <a:solidFill>
                  <a:srgbClr val="202F5A"/>
                </a:solidFill>
                <a:latin typeface="Arial Bold"/>
                <a:ea typeface="Arial Bold"/>
                <a:cs typeface="Arial Bold"/>
                <a:sym typeface="Arial Bold"/>
              </a:rPr>
              <a:t>Thiết kế và đánh giá các hệ thống thích ứng dựa trên trò chơi nhằm can thiệp tình trạng bắt nạt học đường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5244" y="-2071299"/>
            <a:ext cx="10038324" cy="15293846"/>
          </a:xfrm>
          <a:custGeom>
            <a:avLst/>
            <a:gdLst/>
            <a:ahLst/>
            <a:cxnLst/>
            <a:rect r="r" b="b" t="t" l="l"/>
            <a:pathLst>
              <a:path h="15293846" w="10038324">
                <a:moveTo>
                  <a:pt x="0" y="0"/>
                </a:moveTo>
                <a:lnTo>
                  <a:pt x="10038324" y="0"/>
                </a:lnTo>
                <a:lnTo>
                  <a:pt x="10038324" y="15293846"/>
                </a:lnTo>
                <a:lnTo>
                  <a:pt x="0" y="1529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60856">
            <a:off x="14701639" y="8805447"/>
            <a:ext cx="3582645" cy="1198558"/>
          </a:xfrm>
          <a:custGeom>
            <a:avLst/>
            <a:gdLst/>
            <a:ahLst/>
            <a:cxnLst/>
            <a:rect r="r" b="b" t="t" l="l"/>
            <a:pathLst>
              <a:path h="1198558" w="3582645">
                <a:moveTo>
                  <a:pt x="0" y="0"/>
                </a:moveTo>
                <a:lnTo>
                  <a:pt x="3582644" y="0"/>
                </a:lnTo>
                <a:lnTo>
                  <a:pt x="3582644" y="1198558"/>
                </a:lnTo>
                <a:lnTo>
                  <a:pt x="0" y="11985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402455" y="1624012"/>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5108979" y="4135755"/>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sp>
        <p:nvSpPr>
          <p:cNvPr name="TextBox 11" id="11"/>
          <p:cNvSpPr txBox="true"/>
          <p:nvPr/>
        </p:nvSpPr>
        <p:spPr>
          <a:xfrm rot="0">
            <a:off x="3312652" y="3254931"/>
            <a:ext cx="11796326" cy="5920233"/>
          </a:xfrm>
          <a:prstGeom prst="rect">
            <a:avLst/>
          </a:prstGeom>
        </p:spPr>
        <p:txBody>
          <a:bodyPr anchor="t" rtlCol="false" tIns="0" lIns="0" bIns="0" rIns="0">
            <a:spAutoFit/>
          </a:bodyPr>
          <a:lstStyle/>
          <a:p>
            <a:pPr algn="l">
              <a:lnSpc>
                <a:spcPts val="2704"/>
              </a:lnSpc>
            </a:pPr>
            <a:r>
              <a:rPr lang="en-US" sz="2600" b="true">
                <a:solidFill>
                  <a:srgbClr val="202F5A"/>
                </a:solidFill>
                <a:latin typeface="Arial Bold"/>
                <a:ea typeface="Arial Bold"/>
                <a:cs typeface="Arial Bold"/>
                <a:sym typeface="Arial Bold"/>
              </a:rPr>
              <a:t>Sau buổi học, người học có thể:</a:t>
            </a:r>
          </a:p>
          <a:p>
            <a:pPr algn="l">
              <a:lnSpc>
                <a:spcPts val="2704"/>
              </a:lnSpc>
            </a:pPr>
          </a:p>
          <a:p>
            <a:pPr algn="l" marL="539758" indent="-269879" lvl="1">
              <a:lnSpc>
                <a:spcPts val="2600"/>
              </a:lnSpc>
              <a:buAutoNum type="arabicPeriod" startAt="1"/>
            </a:pPr>
            <a:r>
              <a:rPr lang="en-US" sz="2500">
                <a:solidFill>
                  <a:srgbClr val="202F5A"/>
                </a:solidFill>
                <a:latin typeface="Arial"/>
                <a:ea typeface="Arial"/>
                <a:cs typeface="Arial"/>
                <a:sym typeface="Arial"/>
              </a:rPr>
              <a:t>Giải thích được:</a:t>
            </a:r>
          </a:p>
          <a:p>
            <a:pPr algn="l" marL="1079515" indent="-359838" lvl="2">
              <a:lnSpc>
                <a:spcPts val="2600"/>
              </a:lnSpc>
              <a:buFont typeface="Arial"/>
              <a:buChar char="⚬"/>
            </a:pPr>
            <a:r>
              <a:rPr lang="en-US" sz="2500">
                <a:solidFill>
                  <a:srgbClr val="202F5A"/>
                </a:solidFill>
                <a:latin typeface="Arial"/>
                <a:ea typeface="Arial"/>
                <a:cs typeface="Arial"/>
                <a:sym typeface="Arial"/>
              </a:rPr>
              <a:t>Bắt nạt học đường là gì?</a:t>
            </a:r>
          </a:p>
          <a:p>
            <a:pPr algn="l" marL="1079515" indent="-359838" lvl="2">
              <a:lnSpc>
                <a:spcPts val="2600"/>
              </a:lnSpc>
              <a:buFont typeface="Arial"/>
              <a:buChar char="⚬"/>
            </a:pPr>
            <a:r>
              <a:rPr lang="en-US" sz="2500">
                <a:solidFill>
                  <a:srgbClr val="202F5A"/>
                </a:solidFill>
                <a:latin typeface="Arial"/>
                <a:ea typeface="Arial"/>
                <a:cs typeface="Arial"/>
                <a:sym typeface="Arial"/>
              </a:rPr>
              <a:t>Các hình thức bắt nạt phổ biến.</a:t>
            </a:r>
          </a:p>
          <a:p>
            <a:pPr algn="l" marL="1079515" indent="-359838" lvl="2">
              <a:lnSpc>
                <a:spcPts val="2600"/>
              </a:lnSpc>
              <a:buFont typeface="Arial"/>
              <a:buChar char="⚬"/>
            </a:pPr>
            <a:r>
              <a:rPr lang="en-US" sz="2500">
                <a:solidFill>
                  <a:srgbClr val="202F5A"/>
                </a:solidFill>
                <a:latin typeface="Arial"/>
                <a:ea typeface="Arial"/>
                <a:cs typeface="Arial"/>
                <a:sym typeface="Arial"/>
              </a:rPr>
              <a:t>Vì sao cần đo lường các yếu tố tâm lý t</a:t>
            </a:r>
            <a:r>
              <a:rPr lang="en-US" sz="2500">
                <a:solidFill>
                  <a:srgbClr val="202F5A"/>
                </a:solidFill>
                <a:latin typeface="Arial"/>
                <a:ea typeface="Arial"/>
                <a:cs typeface="Arial"/>
                <a:sym typeface="Arial"/>
              </a:rPr>
              <a:t>rước và sau can thiệp?</a:t>
            </a:r>
          </a:p>
          <a:p>
            <a:pPr algn="l" marL="539758" indent="-269879" lvl="1">
              <a:lnSpc>
                <a:spcPts val="2600"/>
              </a:lnSpc>
              <a:buAutoNum type="arabicPeriod" startAt="1"/>
            </a:pPr>
            <a:r>
              <a:rPr lang="en-US" sz="2500">
                <a:solidFill>
                  <a:srgbClr val="202F5A"/>
                </a:solidFill>
                <a:latin typeface="Arial"/>
                <a:ea typeface="Arial"/>
                <a:cs typeface="Arial"/>
                <a:sym typeface="Arial"/>
              </a:rPr>
              <a:t>Xác định được các chỉ số tâm lý phù hợp với đề tài, tập trung vào:</a:t>
            </a:r>
          </a:p>
          <a:p>
            <a:pPr algn="l" marL="1079515" indent="-359838" lvl="2">
              <a:lnSpc>
                <a:spcPts val="2600"/>
              </a:lnSpc>
              <a:buFont typeface="Arial"/>
              <a:buChar char="⚬"/>
            </a:pPr>
            <a:r>
              <a:rPr lang="en-US" sz="2500">
                <a:solidFill>
                  <a:srgbClr val="202F5A"/>
                </a:solidFill>
                <a:latin typeface="Arial"/>
                <a:ea typeface="Arial"/>
                <a:cs typeface="Arial"/>
                <a:sym typeface="Arial"/>
              </a:rPr>
              <a:t>Sự thấu cảm.</a:t>
            </a:r>
          </a:p>
          <a:p>
            <a:pPr algn="l" marL="1079515" indent="-359838" lvl="2">
              <a:lnSpc>
                <a:spcPts val="2600"/>
              </a:lnSpc>
              <a:buFont typeface="Arial"/>
              <a:buChar char="⚬"/>
            </a:pPr>
            <a:r>
              <a:rPr lang="en-US" sz="2500">
                <a:solidFill>
                  <a:srgbClr val="202F5A"/>
                </a:solidFill>
                <a:latin typeface="Arial"/>
                <a:ea typeface="Arial"/>
                <a:cs typeface="Arial"/>
                <a:sym typeface="Arial"/>
              </a:rPr>
              <a:t>Độ tự tin.</a:t>
            </a:r>
          </a:p>
          <a:p>
            <a:pPr algn="l" marL="1079515" indent="-359838" lvl="2">
              <a:lnSpc>
                <a:spcPts val="2600"/>
              </a:lnSpc>
              <a:buFont typeface="Arial"/>
              <a:buChar char="⚬"/>
            </a:pPr>
            <a:r>
              <a:rPr lang="en-US" sz="2500">
                <a:solidFill>
                  <a:srgbClr val="202F5A"/>
                </a:solidFill>
                <a:latin typeface="Arial"/>
                <a:ea typeface="Arial"/>
                <a:cs typeface="Arial"/>
                <a:sym typeface="Arial"/>
              </a:rPr>
              <a:t>Ý định can thiệp/chủ động ứng phó khi chứng kiến bắt nạt.</a:t>
            </a:r>
          </a:p>
          <a:p>
            <a:pPr algn="l" marL="539758" indent="-269879" lvl="1">
              <a:lnSpc>
                <a:spcPts val="2600"/>
              </a:lnSpc>
              <a:buAutoNum type="arabicPeriod" startAt="1"/>
            </a:pPr>
            <a:r>
              <a:rPr lang="en-US" sz="2500">
                <a:solidFill>
                  <a:srgbClr val="202F5A"/>
                </a:solidFill>
                <a:latin typeface="Arial"/>
                <a:ea typeface="Arial"/>
                <a:cs typeface="Arial"/>
                <a:sym typeface="Arial"/>
              </a:rPr>
              <a:t>Phân biệt được:</a:t>
            </a:r>
          </a:p>
          <a:p>
            <a:pPr algn="l" marL="1079515" indent="-359838" lvl="2">
              <a:lnSpc>
                <a:spcPts val="2600"/>
              </a:lnSpc>
              <a:buFont typeface="Arial"/>
              <a:buChar char="⚬"/>
            </a:pPr>
            <a:r>
              <a:rPr lang="en-US" sz="2500">
                <a:solidFill>
                  <a:srgbClr val="202F5A"/>
                </a:solidFill>
                <a:latin typeface="Arial"/>
                <a:ea typeface="Arial"/>
                <a:cs typeface="Arial"/>
                <a:sym typeface="Arial"/>
              </a:rPr>
              <a:t>Biến/chỉ số cần đo.</a:t>
            </a:r>
          </a:p>
          <a:p>
            <a:pPr algn="l" marL="1079515" indent="-359838" lvl="2">
              <a:lnSpc>
                <a:spcPts val="2600"/>
              </a:lnSpc>
              <a:buFont typeface="Arial"/>
              <a:buChar char="⚬"/>
            </a:pPr>
            <a:r>
              <a:rPr lang="en-US" sz="2500">
                <a:solidFill>
                  <a:srgbClr val="202F5A"/>
                </a:solidFill>
                <a:latin typeface="Arial"/>
                <a:ea typeface="Arial"/>
                <a:cs typeface="Arial"/>
                <a:sym typeface="Arial"/>
              </a:rPr>
              <a:t>Câu hỏi khảo sát.</a:t>
            </a:r>
          </a:p>
          <a:p>
            <a:pPr algn="l" marL="1079515" indent="-359838" lvl="2">
              <a:lnSpc>
                <a:spcPts val="2600"/>
              </a:lnSpc>
              <a:buFont typeface="Arial"/>
              <a:buChar char="⚬"/>
            </a:pPr>
            <a:r>
              <a:rPr lang="en-US" sz="2500">
                <a:solidFill>
                  <a:srgbClr val="202F5A"/>
                </a:solidFill>
                <a:latin typeface="Arial"/>
                <a:ea typeface="Arial"/>
                <a:cs typeface="Arial"/>
                <a:sym typeface="Arial"/>
              </a:rPr>
              <a:t>Thang đo.</a:t>
            </a:r>
          </a:p>
          <a:p>
            <a:pPr algn="l" marL="1079515" indent="-359838" lvl="2">
              <a:lnSpc>
                <a:spcPts val="2600"/>
              </a:lnSpc>
              <a:buFont typeface="Arial"/>
              <a:buChar char="⚬"/>
            </a:pPr>
            <a:r>
              <a:rPr lang="en-US" sz="2500">
                <a:solidFill>
                  <a:srgbClr val="202F5A"/>
                </a:solidFill>
                <a:latin typeface="Arial"/>
                <a:ea typeface="Arial"/>
                <a:cs typeface="Arial"/>
                <a:sym typeface="Arial"/>
              </a:rPr>
              <a:t>Kết quả đầu vào và đầu ra.</a:t>
            </a:r>
          </a:p>
          <a:p>
            <a:pPr algn="l" marL="539758" indent="-269879" lvl="1">
              <a:lnSpc>
                <a:spcPts val="2600"/>
              </a:lnSpc>
              <a:buAutoNum type="arabicPeriod" startAt="1"/>
            </a:pPr>
            <a:r>
              <a:rPr lang="en-US" sz="2500">
                <a:solidFill>
                  <a:srgbClr val="202F5A"/>
                </a:solidFill>
                <a:latin typeface="Arial"/>
                <a:ea typeface="Arial"/>
                <a:cs typeface="Arial"/>
                <a:sym typeface="Arial"/>
              </a:rPr>
              <a:t>Thiết kế được bản nháp khảo sát Pre-test/Post-test.</a:t>
            </a:r>
          </a:p>
          <a:p>
            <a:pPr algn="l" marL="539758" indent="-269879" lvl="1">
              <a:lnSpc>
                <a:spcPts val="2600"/>
              </a:lnSpc>
              <a:buAutoNum type="arabicPeriod" startAt="1"/>
            </a:pPr>
            <a:r>
              <a:rPr lang="en-US" sz="2500">
                <a:solidFill>
                  <a:srgbClr val="202F5A"/>
                </a:solidFill>
                <a:latin typeface="Arial"/>
                <a:ea typeface="Arial"/>
                <a:cs typeface="Arial"/>
                <a:sym typeface="Arial"/>
              </a:rPr>
              <a:t>Tạo được cấu trúc Google Forms phù hợp để thu thập dữ liệu.</a:t>
            </a:r>
          </a:p>
          <a:p>
            <a:pPr algn="l">
              <a:lnSpc>
                <a:spcPts val="2704"/>
              </a:lnSpc>
            </a:pPr>
          </a:p>
        </p:txBody>
      </p:sp>
      <p:sp>
        <p:nvSpPr>
          <p:cNvPr name="TextBox 12" id="12"/>
          <p:cNvSpPr txBox="true"/>
          <p:nvPr/>
        </p:nvSpPr>
        <p:spPr>
          <a:xfrm rot="0">
            <a:off x="2821294" y="1657667"/>
            <a:ext cx="12045395" cy="112458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MỤC TIÊU BUỔI HỌC</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5244" y="-2071299"/>
            <a:ext cx="10038324" cy="15293846"/>
          </a:xfrm>
          <a:custGeom>
            <a:avLst/>
            <a:gdLst/>
            <a:ahLst/>
            <a:cxnLst/>
            <a:rect r="r" b="b" t="t" l="l"/>
            <a:pathLst>
              <a:path h="15293846" w="10038324">
                <a:moveTo>
                  <a:pt x="0" y="0"/>
                </a:moveTo>
                <a:lnTo>
                  <a:pt x="10038324" y="0"/>
                </a:lnTo>
                <a:lnTo>
                  <a:pt x="10038324" y="15293846"/>
                </a:lnTo>
                <a:lnTo>
                  <a:pt x="0" y="1529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60856">
            <a:off x="14701639" y="8805447"/>
            <a:ext cx="3582645" cy="1198558"/>
          </a:xfrm>
          <a:custGeom>
            <a:avLst/>
            <a:gdLst/>
            <a:ahLst/>
            <a:cxnLst/>
            <a:rect r="r" b="b" t="t" l="l"/>
            <a:pathLst>
              <a:path h="1198558" w="3582645">
                <a:moveTo>
                  <a:pt x="0" y="0"/>
                </a:moveTo>
                <a:lnTo>
                  <a:pt x="3582644" y="0"/>
                </a:lnTo>
                <a:lnTo>
                  <a:pt x="3582644" y="1198558"/>
                </a:lnTo>
                <a:lnTo>
                  <a:pt x="0" y="11985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402455" y="1624012"/>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5108979" y="4135755"/>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sp>
        <p:nvSpPr>
          <p:cNvPr name="TextBox 11" id="11"/>
          <p:cNvSpPr txBox="true"/>
          <p:nvPr/>
        </p:nvSpPr>
        <p:spPr>
          <a:xfrm rot="0">
            <a:off x="3312652" y="3254931"/>
            <a:ext cx="11796326" cy="4491483"/>
          </a:xfrm>
          <a:prstGeom prst="rect">
            <a:avLst/>
          </a:prstGeom>
        </p:spPr>
        <p:txBody>
          <a:bodyPr anchor="t" rtlCol="false" tIns="0" lIns="0" bIns="0" rIns="0">
            <a:spAutoFit/>
          </a:bodyPr>
          <a:lstStyle/>
          <a:p>
            <a:pPr algn="l">
              <a:lnSpc>
                <a:spcPts val="2704"/>
              </a:lnSpc>
            </a:pPr>
            <a:r>
              <a:rPr lang="en-US" sz="2600" b="true">
                <a:solidFill>
                  <a:srgbClr val="202F5A"/>
                </a:solidFill>
                <a:latin typeface="Arial Bold"/>
                <a:ea typeface="Arial Bold"/>
                <a:cs typeface="Arial Bold"/>
                <a:sym typeface="Arial Bold"/>
              </a:rPr>
              <a:t>Bắt nạt </a:t>
            </a:r>
            <a:r>
              <a:rPr lang="en-US" sz="2600">
                <a:solidFill>
                  <a:srgbClr val="202F5A"/>
                </a:solidFill>
                <a:latin typeface="Arial"/>
                <a:ea typeface="Arial"/>
                <a:cs typeface="Arial"/>
                <a:sym typeface="Arial"/>
              </a:rPr>
              <a:t>là hành vi gây tổn hại cho người khác, thường có tính lặp lại hoặ</a:t>
            </a:r>
            <a:r>
              <a:rPr lang="en-US" sz="2600">
                <a:solidFill>
                  <a:srgbClr val="202F5A"/>
                </a:solidFill>
                <a:latin typeface="Arial"/>
                <a:ea typeface="Arial"/>
                <a:cs typeface="Arial"/>
                <a:sym typeface="Arial"/>
              </a:rPr>
              <a:t>c nguy cơ lặp lại, và có sự mất cân bằng về quyền lực/sức mạnh giữa các bên.</a:t>
            </a:r>
          </a:p>
          <a:p>
            <a:pPr algn="l">
              <a:lnSpc>
                <a:spcPts val="2704"/>
              </a:lnSpc>
            </a:pPr>
          </a:p>
          <a:p>
            <a:pPr algn="l">
              <a:lnSpc>
                <a:spcPts val="2704"/>
              </a:lnSpc>
            </a:pPr>
            <a:r>
              <a:rPr lang="en-US" sz="2600" b="true">
                <a:solidFill>
                  <a:srgbClr val="202F5A"/>
                </a:solidFill>
                <a:latin typeface="Arial Bold"/>
                <a:ea typeface="Arial Bold"/>
                <a:cs typeface="Arial Bold"/>
                <a:sym typeface="Arial Bold"/>
              </a:rPr>
              <a:t>Các</a:t>
            </a:r>
            <a:r>
              <a:rPr lang="en-US" sz="2600" b="true">
                <a:solidFill>
                  <a:srgbClr val="202F5A"/>
                </a:solidFill>
                <a:latin typeface="Arial Bold"/>
                <a:ea typeface="Arial Bold"/>
                <a:cs typeface="Arial Bold"/>
                <a:sym typeface="Arial Bold"/>
              </a:rPr>
              <a:t> hình thức phổ biến</a:t>
            </a:r>
          </a:p>
          <a:p>
            <a:pPr algn="l">
              <a:lnSpc>
                <a:spcPts val="2704"/>
              </a:lnSpc>
            </a:pPr>
          </a:p>
          <a:p>
            <a:pPr algn="l" marL="561347" indent="-280674" lvl="1">
              <a:lnSpc>
                <a:spcPts val="2704"/>
              </a:lnSpc>
              <a:buFont typeface="Arial"/>
              <a:buChar char="•"/>
            </a:pPr>
            <a:r>
              <a:rPr lang="en-US" sz="2600">
                <a:solidFill>
                  <a:srgbClr val="202F5A"/>
                </a:solidFill>
                <a:latin typeface="Arial"/>
                <a:ea typeface="Arial"/>
                <a:cs typeface="Arial"/>
                <a:sym typeface="Arial"/>
              </a:rPr>
              <a:t>Bắt nạt thể chất.</a:t>
            </a:r>
          </a:p>
          <a:p>
            <a:pPr algn="l">
              <a:lnSpc>
                <a:spcPts val="2704"/>
              </a:lnSpc>
            </a:pPr>
          </a:p>
          <a:p>
            <a:pPr algn="l" marL="561347" indent="-280674" lvl="1">
              <a:lnSpc>
                <a:spcPts val="2704"/>
              </a:lnSpc>
              <a:buFont typeface="Arial"/>
              <a:buChar char="•"/>
            </a:pPr>
            <a:r>
              <a:rPr lang="en-US" sz="2600">
                <a:solidFill>
                  <a:srgbClr val="202F5A"/>
                </a:solidFill>
                <a:latin typeface="Arial"/>
                <a:ea typeface="Arial"/>
                <a:cs typeface="Arial"/>
                <a:sym typeface="Arial"/>
              </a:rPr>
              <a:t>Bắt nạt bằng lời nói.</a:t>
            </a:r>
          </a:p>
          <a:p>
            <a:pPr algn="l">
              <a:lnSpc>
                <a:spcPts val="2704"/>
              </a:lnSpc>
            </a:pPr>
          </a:p>
          <a:p>
            <a:pPr algn="l" marL="561347" indent="-280674" lvl="1">
              <a:lnSpc>
                <a:spcPts val="2704"/>
              </a:lnSpc>
              <a:buFont typeface="Arial"/>
              <a:buChar char="•"/>
            </a:pPr>
            <a:r>
              <a:rPr lang="en-US" sz="2600">
                <a:solidFill>
                  <a:srgbClr val="202F5A"/>
                </a:solidFill>
                <a:latin typeface="Arial"/>
                <a:ea typeface="Arial"/>
                <a:cs typeface="Arial"/>
                <a:sym typeface="Arial"/>
              </a:rPr>
              <a:t>Bắt </a:t>
            </a:r>
            <a:r>
              <a:rPr lang="en-US" sz="2600">
                <a:solidFill>
                  <a:srgbClr val="202F5A"/>
                </a:solidFill>
                <a:latin typeface="Arial"/>
                <a:ea typeface="Arial"/>
                <a:cs typeface="Arial"/>
                <a:sym typeface="Arial"/>
              </a:rPr>
              <a:t>nạt quan hệ/xã hội.</a:t>
            </a:r>
          </a:p>
          <a:p>
            <a:pPr algn="l">
              <a:lnSpc>
                <a:spcPts val="2704"/>
              </a:lnSpc>
            </a:pPr>
          </a:p>
          <a:p>
            <a:pPr algn="l" marL="561347" indent="-280674" lvl="1">
              <a:lnSpc>
                <a:spcPts val="2704"/>
              </a:lnSpc>
              <a:buFont typeface="Arial"/>
              <a:buChar char="•"/>
            </a:pPr>
            <a:r>
              <a:rPr lang="en-US" sz="2600">
                <a:solidFill>
                  <a:srgbClr val="202F5A"/>
                </a:solidFill>
                <a:latin typeface="Arial"/>
                <a:ea typeface="Arial"/>
                <a:cs typeface="Arial"/>
                <a:sym typeface="Arial"/>
              </a:rPr>
              <a:t>Bắ</a:t>
            </a:r>
            <a:r>
              <a:rPr lang="en-US" sz="2600">
                <a:solidFill>
                  <a:srgbClr val="202F5A"/>
                </a:solidFill>
                <a:latin typeface="Arial"/>
                <a:ea typeface="Arial"/>
                <a:cs typeface="Arial"/>
                <a:sym typeface="Arial"/>
              </a:rPr>
              <a:t>t nạt trong môi trường mạng.</a:t>
            </a:r>
          </a:p>
          <a:p>
            <a:pPr algn="l">
              <a:lnSpc>
                <a:spcPts val="2704"/>
              </a:lnSpc>
            </a:pPr>
          </a:p>
        </p:txBody>
      </p:sp>
      <p:sp>
        <p:nvSpPr>
          <p:cNvPr name="Freeform 12" id="12"/>
          <p:cNvSpPr/>
          <p:nvPr/>
        </p:nvSpPr>
        <p:spPr>
          <a:xfrm flipH="false" flipV="false" rot="0">
            <a:off x="9210815" y="4602108"/>
            <a:ext cx="5568817" cy="3675419"/>
          </a:xfrm>
          <a:custGeom>
            <a:avLst/>
            <a:gdLst/>
            <a:ahLst/>
            <a:cxnLst/>
            <a:rect r="r" b="b" t="t" l="l"/>
            <a:pathLst>
              <a:path h="3675419" w="5568817">
                <a:moveTo>
                  <a:pt x="0" y="0"/>
                </a:moveTo>
                <a:lnTo>
                  <a:pt x="5568818" y="0"/>
                </a:lnTo>
                <a:lnTo>
                  <a:pt x="5568818" y="3675420"/>
                </a:lnTo>
                <a:lnTo>
                  <a:pt x="0" y="3675420"/>
                </a:lnTo>
                <a:lnTo>
                  <a:pt x="0" y="0"/>
                </a:lnTo>
                <a:close/>
              </a:path>
            </a:pathLst>
          </a:custGeom>
          <a:blipFill>
            <a:blip r:embed="rId8"/>
            <a:stretch>
              <a:fillRect l="0" t="0" r="0" b="0"/>
            </a:stretch>
          </a:blipFill>
        </p:spPr>
      </p:sp>
      <p:sp>
        <p:nvSpPr>
          <p:cNvPr name="TextBox 13" id="13"/>
          <p:cNvSpPr txBox="true"/>
          <p:nvPr/>
        </p:nvSpPr>
        <p:spPr>
          <a:xfrm rot="0">
            <a:off x="2821294" y="1657667"/>
            <a:ext cx="12664830" cy="112458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Bắt nạt học đường là gì?</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5244" y="-2071299"/>
            <a:ext cx="10038324" cy="15293846"/>
          </a:xfrm>
          <a:custGeom>
            <a:avLst/>
            <a:gdLst/>
            <a:ahLst/>
            <a:cxnLst/>
            <a:rect r="r" b="b" t="t" l="l"/>
            <a:pathLst>
              <a:path h="15293846" w="10038324">
                <a:moveTo>
                  <a:pt x="0" y="0"/>
                </a:moveTo>
                <a:lnTo>
                  <a:pt x="10038324" y="0"/>
                </a:lnTo>
                <a:lnTo>
                  <a:pt x="10038324" y="15293846"/>
                </a:lnTo>
                <a:lnTo>
                  <a:pt x="0" y="1529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60856">
            <a:off x="14701639" y="8805447"/>
            <a:ext cx="3582645" cy="1198558"/>
          </a:xfrm>
          <a:custGeom>
            <a:avLst/>
            <a:gdLst/>
            <a:ahLst/>
            <a:cxnLst/>
            <a:rect r="r" b="b" t="t" l="l"/>
            <a:pathLst>
              <a:path h="1198558" w="3582645">
                <a:moveTo>
                  <a:pt x="0" y="0"/>
                </a:moveTo>
                <a:lnTo>
                  <a:pt x="3582644" y="0"/>
                </a:lnTo>
                <a:lnTo>
                  <a:pt x="3582644" y="1198558"/>
                </a:lnTo>
                <a:lnTo>
                  <a:pt x="0" y="11985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402455" y="1624012"/>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5108979" y="4135755"/>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sp>
        <p:nvSpPr>
          <p:cNvPr name="TextBox 11" id="11"/>
          <p:cNvSpPr txBox="true"/>
          <p:nvPr/>
        </p:nvSpPr>
        <p:spPr>
          <a:xfrm rot="0">
            <a:off x="3358037" y="3849053"/>
            <a:ext cx="15578355" cy="6205983"/>
          </a:xfrm>
          <a:prstGeom prst="rect">
            <a:avLst/>
          </a:prstGeom>
        </p:spPr>
        <p:txBody>
          <a:bodyPr anchor="t" rtlCol="false" tIns="0" lIns="0" bIns="0" rIns="0">
            <a:spAutoFit/>
          </a:bodyPr>
          <a:lstStyle/>
          <a:p>
            <a:pPr algn="l">
              <a:lnSpc>
                <a:spcPts val="2704"/>
              </a:lnSpc>
            </a:pPr>
            <a:r>
              <a:rPr lang="en-US" sz="2600" b="true">
                <a:solidFill>
                  <a:srgbClr val="202F5A"/>
                </a:solidFill>
                <a:latin typeface="Arial Bold"/>
                <a:ea typeface="Arial Bold"/>
                <a:cs typeface="Arial Bold"/>
                <a:sym typeface="Arial Bold"/>
              </a:rPr>
              <a:t>                   BULLY</a:t>
            </a:r>
          </a:p>
          <a:p>
            <a:pPr algn="l">
              <a:lnSpc>
                <a:spcPts val="2704"/>
              </a:lnSpc>
            </a:pPr>
            <a:r>
              <a:rPr lang="en-US" sz="2600" b="true">
                <a:solidFill>
                  <a:srgbClr val="202F5A"/>
                </a:solidFill>
                <a:latin typeface="Arial Bold"/>
                <a:ea typeface="Arial Bold"/>
                <a:cs typeface="Arial Bold"/>
                <a:sym typeface="Arial Bold"/>
              </a:rPr>
              <a:t>  </a:t>
            </a:r>
            <a:r>
              <a:rPr lang="en-US" sz="2600" b="true">
                <a:solidFill>
                  <a:srgbClr val="202F5A"/>
                </a:solidFill>
                <a:latin typeface="Arial Bold"/>
                <a:ea typeface="Arial Bold"/>
                <a:cs typeface="Arial Bold"/>
                <a:sym typeface="Arial Bold"/>
              </a:rPr>
              <a:t>            Người bắt nạt: Người thực hiện hành vi bắt nạt.</a:t>
            </a:r>
          </a:p>
          <a:p>
            <a:pPr algn="l">
              <a:lnSpc>
                <a:spcPts val="2704"/>
              </a:lnSpc>
            </a:pPr>
            <a:r>
              <a:rPr lang="en-US" sz="2600" b="true">
                <a:solidFill>
                  <a:srgbClr val="202F5A"/>
                </a:solidFill>
                <a:latin typeface="Arial Bold"/>
                <a:ea typeface="Arial Bold"/>
                <a:cs typeface="Arial Bold"/>
                <a:sym typeface="Arial Bold"/>
              </a:rPr>
              <a:t>                   │</a:t>
            </a:r>
          </a:p>
          <a:p>
            <a:pPr algn="l">
              <a:lnSpc>
                <a:spcPts val="2704"/>
              </a:lnSpc>
            </a:pPr>
            <a:r>
              <a:rPr lang="en-US" sz="2600" b="true">
                <a:solidFill>
                  <a:srgbClr val="202F5A"/>
                </a:solidFill>
                <a:latin typeface="Arial Bold"/>
                <a:ea typeface="Arial Bold"/>
                <a:cs typeface="Arial Bold"/>
                <a:sym typeface="Arial Bold"/>
              </a:rPr>
              <a:t>                   ▼</a:t>
            </a:r>
          </a:p>
          <a:p>
            <a:pPr algn="l">
              <a:lnSpc>
                <a:spcPts val="2704"/>
              </a:lnSpc>
            </a:pPr>
            <a:r>
              <a:rPr lang="en-US" sz="2600" b="true">
                <a:solidFill>
                  <a:srgbClr val="202F5A"/>
                </a:solidFill>
                <a:latin typeface="Arial Bold"/>
                <a:ea typeface="Arial Bold"/>
                <a:cs typeface="Arial Bold"/>
                <a:sym typeface="Arial Bold"/>
              </a:rPr>
              <a:t>   </a:t>
            </a:r>
            <a:r>
              <a:rPr lang="en-US" sz="2600" b="true">
                <a:solidFill>
                  <a:srgbClr val="202F5A"/>
                </a:solidFill>
                <a:latin typeface="Arial Bold"/>
                <a:ea typeface="Arial Bold"/>
                <a:cs typeface="Arial Bold"/>
                <a:sym typeface="Arial Bold"/>
              </a:rPr>
              <a:t>          ┌───────────┐</a:t>
            </a:r>
          </a:p>
          <a:p>
            <a:pPr algn="l">
              <a:lnSpc>
                <a:spcPts val="2704"/>
              </a:lnSpc>
            </a:pPr>
            <a:r>
              <a:rPr lang="en-US" sz="2600" b="true">
                <a:solidFill>
                  <a:srgbClr val="202F5A"/>
                </a:solidFill>
                <a:latin typeface="Arial Bold"/>
                <a:ea typeface="Arial Bold"/>
                <a:cs typeface="Arial Bold"/>
                <a:sym typeface="Arial Bold"/>
              </a:rPr>
              <a:t>             │   </a:t>
            </a:r>
            <a:r>
              <a:rPr lang="en-US" sz="2600" b="true">
                <a:solidFill>
                  <a:srgbClr val="202F5A"/>
                </a:solidFill>
                <a:latin typeface="Arial Bold"/>
                <a:ea typeface="Arial Bold"/>
                <a:cs typeface="Arial Bold"/>
                <a:sym typeface="Arial Bold"/>
              </a:rPr>
              <a:t>VICTIM  │</a:t>
            </a:r>
          </a:p>
          <a:p>
            <a:pPr algn="l">
              <a:lnSpc>
                <a:spcPts val="2704"/>
              </a:lnSpc>
            </a:pPr>
            <a:r>
              <a:rPr lang="en-US" sz="2600" b="true">
                <a:solidFill>
                  <a:srgbClr val="202F5A"/>
                </a:solidFill>
                <a:latin typeface="Arial Bold"/>
                <a:ea typeface="Arial Bold"/>
                <a:cs typeface="Arial Bold"/>
                <a:sym typeface="Arial Bold"/>
              </a:rPr>
              <a:t>            </a:t>
            </a:r>
            <a:r>
              <a:rPr lang="en-US" sz="2600" b="true">
                <a:solidFill>
                  <a:srgbClr val="202F5A"/>
                </a:solidFill>
                <a:latin typeface="Arial Bold"/>
                <a:ea typeface="Arial Bold"/>
                <a:cs typeface="Arial Bold"/>
                <a:sym typeface="Arial Bold"/>
              </a:rPr>
              <a:t> │  Nạn nhân: Người chịu tác động của hành vi bắt nạt. │</a:t>
            </a:r>
          </a:p>
          <a:p>
            <a:pPr algn="l">
              <a:lnSpc>
                <a:spcPts val="2704"/>
              </a:lnSpc>
            </a:pPr>
            <a:r>
              <a:rPr lang="en-US" sz="2600" b="true">
                <a:solidFill>
                  <a:srgbClr val="202F5A"/>
                </a:solidFill>
                <a:latin typeface="Arial Bold"/>
                <a:ea typeface="Arial Bold"/>
                <a:cs typeface="Arial Bold"/>
                <a:sym typeface="Arial Bold"/>
              </a:rPr>
              <a:t>             └───────────┘</a:t>
            </a:r>
          </a:p>
          <a:p>
            <a:pPr algn="l">
              <a:lnSpc>
                <a:spcPts val="2704"/>
              </a:lnSpc>
            </a:pPr>
            <a:r>
              <a:rPr lang="en-US" sz="2600" b="true">
                <a:solidFill>
                  <a:srgbClr val="202F5A"/>
                </a:solidFill>
                <a:latin typeface="Arial Bold"/>
                <a:ea typeface="Arial Bold"/>
                <a:cs typeface="Arial Bold"/>
                <a:sym typeface="Arial Bold"/>
              </a:rPr>
              <a:t>                   ▲</a:t>
            </a:r>
          </a:p>
          <a:p>
            <a:pPr algn="l">
              <a:lnSpc>
                <a:spcPts val="2704"/>
              </a:lnSpc>
            </a:pPr>
            <a:r>
              <a:rPr lang="en-US" sz="2600" b="true">
                <a:solidFill>
                  <a:srgbClr val="202F5A"/>
                </a:solidFill>
                <a:latin typeface="Arial Bold"/>
                <a:ea typeface="Arial Bold"/>
                <a:cs typeface="Arial Bold"/>
                <a:sym typeface="Arial Bold"/>
              </a:rPr>
              <a:t>            </a:t>
            </a:r>
            <a:r>
              <a:rPr lang="en-US" sz="2600" b="true">
                <a:solidFill>
                  <a:srgbClr val="202F5A"/>
                </a:solidFill>
                <a:latin typeface="Arial Bold"/>
                <a:ea typeface="Arial Bold"/>
                <a:cs typeface="Arial Bold"/>
                <a:sym typeface="Arial Bold"/>
              </a:rPr>
              <a:t>       │</a:t>
            </a:r>
          </a:p>
          <a:p>
            <a:pPr algn="l">
              <a:lnSpc>
                <a:spcPts val="2704"/>
              </a:lnSpc>
            </a:pPr>
            <a:r>
              <a:rPr lang="en-US" sz="2600" b="true">
                <a:solidFill>
                  <a:srgbClr val="202F5A"/>
                </a:solidFill>
                <a:latin typeface="Arial Bold"/>
                <a:ea typeface="Arial Bold"/>
                <a:cs typeface="Arial Bold"/>
                <a:sym typeface="Arial Bold"/>
              </a:rPr>
              <a:t>             BYSTANDER</a:t>
            </a:r>
          </a:p>
          <a:p>
            <a:pPr algn="l">
              <a:lnSpc>
                <a:spcPts val="2704"/>
              </a:lnSpc>
            </a:pPr>
            <a:r>
              <a:rPr lang="en-US" sz="2600" b="true">
                <a:solidFill>
                  <a:srgbClr val="202F5A"/>
                </a:solidFill>
                <a:latin typeface="Arial Bold"/>
                <a:ea typeface="Arial Bold"/>
                <a:cs typeface="Arial Bold"/>
                <a:sym typeface="Arial Bold"/>
              </a:rPr>
              <a:t>           Người chứng kiến</a:t>
            </a:r>
          </a:p>
          <a:p>
            <a:pPr algn="l">
              <a:lnSpc>
                <a:spcPts val="2704"/>
              </a:lnSpc>
            </a:pPr>
            <a:r>
              <a:rPr lang="en-US" sz="2600" b="true">
                <a:solidFill>
                  <a:srgbClr val="202F5A"/>
                </a:solidFill>
                <a:latin typeface="Arial Bold"/>
                <a:ea typeface="Arial Bold"/>
                <a:cs typeface="Arial Bold"/>
                <a:sym typeface="Arial Bold"/>
              </a:rPr>
              <a:t>                   │</a:t>
            </a:r>
          </a:p>
          <a:p>
            <a:pPr algn="l">
              <a:lnSpc>
                <a:spcPts val="2704"/>
              </a:lnSpc>
            </a:pPr>
            <a:r>
              <a:rPr lang="en-US" sz="2600" b="true">
                <a:solidFill>
                  <a:srgbClr val="202F5A"/>
                </a:solidFill>
                <a:latin typeface="Arial Bold"/>
                <a:ea typeface="Arial Bold"/>
                <a:cs typeface="Arial Bold"/>
                <a:sym typeface="Arial Bold"/>
              </a:rPr>
              <a:t>     </a:t>
            </a:r>
            <a:r>
              <a:rPr lang="en-US" sz="2600" b="true">
                <a:solidFill>
                  <a:srgbClr val="202F5A"/>
                </a:solidFill>
                <a:latin typeface="Arial Bold"/>
                <a:ea typeface="Arial Bold"/>
                <a:cs typeface="Arial Bold"/>
                <a:sym typeface="Arial Bold"/>
              </a:rPr>
              <a:t>     ┌────────┴────────┐</a:t>
            </a:r>
          </a:p>
          <a:p>
            <a:pPr algn="l">
              <a:lnSpc>
                <a:spcPts val="2704"/>
              </a:lnSpc>
            </a:pPr>
            <a:r>
              <a:rPr lang="en-US" sz="2600" b="true">
                <a:solidFill>
                  <a:srgbClr val="202F5A"/>
                </a:solidFill>
                <a:latin typeface="Arial Bold"/>
                <a:ea typeface="Arial Bold"/>
                <a:cs typeface="Arial Bold"/>
                <a:sym typeface="Arial Bold"/>
              </a:rPr>
              <a:t>          ▼          </a:t>
            </a:r>
            <a:r>
              <a:rPr lang="en-US" sz="2600" b="true">
                <a:solidFill>
                  <a:srgbClr val="202F5A"/>
                </a:solidFill>
                <a:latin typeface="Arial Bold"/>
                <a:ea typeface="Arial Bold"/>
                <a:cs typeface="Arial Bold"/>
                <a:sym typeface="Arial Bold"/>
              </a:rPr>
              <a:t>                                ▼</a:t>
            </a:r>
          </a:p>
          <a:p>
            <a:pPr algn="l">
              <a:lnSpc>
                <a:spcPts val="2704"/>
              </a:lnSpc>
            </a:pPr>
            <a:r>
              <a:rPr lang="en-US" sz="2600" b="true">
                <a:solidFill>
                  <a:srgbClr val="202F5A"/>
                </a:solidFill>
                <a:latin typeface="Arial Bold"/>
                <a:ea typeface="Arial Bold"/>
                <a:cs typeface="Arial Bold"/>
                <a:sym typeface="Arial Bold"/>
              </a:rPr>
              <a:t>      Passive                             Defender</a:t>
            </a:r>
          </a:p>
          <a:p>
            <a:pPr algn="l">
              <a:lnSpc>
                <a:spcPts val="2704"/>
              </a:lnSpc>
            </a:pPr>
            <a:r>
              <a:rPr lang="en-US" sz="2600" b="true">
                <a:solidFill>
                  <a:srgbClr val="202F5A"/>
                </a:solidFill>
                <a:latin typeface="Arial Bold"/>
                <a:ea typeface="Arial Bold"/>
                <a:cs typeface="Arial Bold"/>
                <a:sym typeface="Arial Bold"/>
              </a:rPr>
              <a:t>   </a:t>
            </a:r>
            <a:r>
              <a:rPr lang="en-US" sz="2600" b="true">
                <a:solidFill>
                  <a:srgbClr val="202F5A"/>
                </a:solidFill>
                <a:latin typeface="Arial Bold"/>
                <a:ea typeface="Arial Bold"/>
                <a:cs typeface="Arial Bold"/>
                <a:sym typeface="Arial Bold"/>
              </a:rPr>
              <a:t>   Bystander                       Người bảo vệ : Chủ động tìm cách hỗ trợ hoặc can thiệp.</a:t>
            </a:r>
          </a:p>
          <a:p>
            <a:pPr algn="l">
              <a:lnSpc>
                <a:spcPts val="2704"/>
              </a:lnSpc>
            </a:pPr>
            <a:r>
              <a:rPr lang="en-US" sz="2600" b="true">
                <a:solidFill>
                  <a:srgbClr val="202F5A"/>
                </a:solidFill>
                <a:latin typeface="Arial Bold"/>
                <a:ea typeface="Arial Bold"/>
                <a:cs typeface="Arial Bold"/>
                <a:sym typeface="Arial Bold"/>
              </a:rPr>
              <a:t>Nhìn thấy nhưng không hành động.</a:t>
            </a:r>
          </a:p>
        </p:txBody>
      </p:sp>
      <p:sp>
        <p:nvSpPr>
          <p:cNvPr name="TextBox 12" id="12"/>
          <p:cNvSpPr txBox="true"/>
          <p:nvPr/>
        </p:nvSpPr>
        <p:spPr>
          <a:xfrm rot="0">
            <a:off x="2821294" y="1657667"/>
            <a:ext cx="12664830" cy="217233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Các vai trò trong tình huống bắt nạt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5244" y="-2071299"/>
            <a:ext cx="10038324" cy="15293846"/>
          </a:xfrm>
          <a:custGeom>
            <a:avLst/>
            <a:gdLst/>
            <a:ahLst/>
            <a:cxnLst/>
            <a:rect r="r" b="b" t="t" l="l"/>
            <a:pathLst>
              <a:path h="15293846" w="10038324">
                <a:moveTo>
                  <a:pt x="0" y="0"/>
                </a:moveTo>
                <a:lnTo>
                  <a:pt x="10038324" y="0"/>
                </a:lnTo>
                <a:lnTo>
                  <a:pt x="10038324" y="15293846"/>
                </a:lnTo>
                <a:lnTo>
                  <a:pt x="0" y="1529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60856">
            <a:off x="14220749" y="8805447"/>
            <a:ext cx="3582645" cy="1198558"/>
          </a:xfrm>
          <a:custGeom>
            <a:avLst/>
            <a:gdLst/>
            <a:ahLst/>
            <a:cxnLst/>
            <a:rect r="r" b="b" t="t" l="l"/>
            <a:pathLst>
              <a:path h="1198558" w="3582645">
                <a:moveTo>
                  <a:pt x="0" y="0"/>
                </a:moveTo>
                <a:lnTo>
                  <a:pt x="3582644" y="0"/>
                </a:lnTo>
                <a:lnTo>
                  <a:pt x="3582644" y="1198558"/>
                </a:lnTo>
                <a:lnTo>
                  <a:pt x="0" y="11985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402455" y="1624012"/>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5108979" y="4135755"/>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sp>
        <p:nvSpPr>
          <p:cNvPr name="Freeform 11" id="11"/>
          <p:cNvSpPr/>
          <p:nvPr/>
        </p:nvSpPr>
        <p:spPr>
          <a:xfrm flipH="false" flipV="false" rot="0">
            <a:off x="10770087" y="4859655"/>
            <a:ext cx="5768001" cy="3846536"/>
          </a:xfrm>
          <a:custGeom>
            <a:avLst/>
            <a:gdLst/>
            <a:ahLst/>
            <a:cxnLst/>
            <a:rect r="r" b="b" t="t" l="l"/>
            <a:pathLst>
              <a:path h="3846536" w="5768001">
                <a:moveTo>
                  <a:pt x="0" y="0"/>
                </a:moveTo>
                <a:lnTo>
                  <a:pt x="5768001" y="0"/>
                </a:lnTo>
                <a:lnTo>
                  <a:pt x="5768001" y="3846536"/>
                </a:lnTo>
                <a:lnTo>
                  <a:pt x="0" y="3846536"/>
                </a:lnTo>
                <a:lnTo>
                  <a:pt x="0" y="0"/>
                </a:lnTo>
                <a:close/>
              </a:path>
            </a:pathLst>
          </a:custGeom>
          <a:blipFill>
            <a:blip r:embed="rId8"/>
            <a:stretch>
              <a:fillRect l="0" t="0" r="0" b="0"/>
            </a:stretch>
          </a:blipFill>
        </p:spPr>
      </p:sp>
      <p:sp>
        <p:nvSpPr>
          <p:cNvPr name="TextBox 12" id="12"/>
          <p:cNvSpPr txBox="true"/>
          <p:nvPr/>
        </p:nvSpPr>
        <p:spPr>
          <a:xfrm rot="0">
            <a:off x="3312652" y="3516630"/>
            <a:ext cx="11796326" cy="3805683"/>
          </a:xfrm>
          <a:prstGeom prst="rect">
            <a:avLst/>
          </a:prstGeom>
        </p:spPr>
        <p:txBody>
          <a:bodyPr anchor="t" rtlCol="false" tIns="0" lIns="0" bIns="0" rIns="0">
            <a:spAutoFit/>
          </a:bodyPr>
          <a:lstStyle/>
          <a:p>
            <a:pPr algn="l">
              <a:lnSpc>
                <a:spcPts val="2704"/>
              </a:lnSpc>
            </a:pPr>
            <a:r>
              <a:rPr lang="en-US" sz="2600" b="true">
                <a:solidFill>
                  <a:srgbClr val="202F5A"/>
                </a:solidFill>
                <a:latin typeface="Arial Bold"/>
                <a:ea typeface="Arial Bold"/>
                <a:cs typeface="Arial Bold"/>
                <a:sym typeface="Arial Bold"/>
              </a:rPr>
              <a:t>Tro</a:t>
            </a:r>
            <a:r>
              <a:rPr lang="en-US" sz="2600" b="true">
                <a:solidFill>
                  <a:srgbClr val="202F5A"/>
                </a:solidFill>
                <a:latin typeface="Arial Bold"/>
                <a:ea typeface="Arial Bold"/>
                <a:cs typeface="Arial Bold"/>
                <a:sym typeface="Arial Bold"/>
              </a:rPr>
              <a:t>ng giờ ra chơ</a:t>
            </a:r>
            <a:r>
              <a:rPr lang="en-US" sz="2600" b="true">
                <a:solidFill>
                  <a:srgbClr val="202F5A"/>
                </a:solidFill>
                <a:latin typeface="Arial Bold"/>
                <a:ea typeface="Arial Bold"/>
                <a:cs typeface="Arial Bold"/>
                <a:sym typeface="Arial Bold"/>
              </a:rPr>
              <a:t>i, em nhìn thấy một bạn trong l</a:t>
            </a:r>
            <a:r>
              <a:rPr lang="en-US" sz="2600" b="true">
                <a:solidFill>
                  <a:srgbClr val="202F5A"/>
                </a:solidFill>
                <a:latin typeface="Arial Bold"/>
                <a:ea typeface="Arial Bold"/>
                <a:cs typeface="Arial Bold"/>
                <a:sym typeface="Arial Bold"/>
              </a:rPr>
              <a:t>ớp (bạn A) bị một nhóm bạn chế giễu và quay video. Một số bạn xung quanh cười theo. Em biết hành vi đó là không đúng nhưng không chắc mình nên làm gì?</a:t>
            </a:r>
          </a:p>
          <a:p>
            <a:pPr algn="l">
              <a:lnSpc>
                <a:spcPts val="2704"/>
              </a:lnSpc>
            </a:pPr>
          </a:p>
          <a:p>
            <a:pPr algn="just">
              <a:lnSpc>
                <a:spcPts val="2704"/>
              </a:lnSpc>
            </a:pPr>
            <a:r>
              <a:rPr lang="en-US" sz="2600">
                <a:solidFill>
                  <a:srgbClr val="202F5A"/>
                </a:solidFill>
                <a:latin typeface="Arial"/>
                <a:ea typeface="Arial"/>
                <a:cs typeface="Arial"/>
                <a:sym typeface="Arial"/>
              </a:rPr>
              <a:t>Nếu là em, em sẽ làm gì?</a:t>
            </a:r>
          </a:p>
          <a:p>
            <a:pPr algn="just">
              <a:lnSpc>
                <a:spcPts val="2704"/>
              </a:lnSpc>
            </a:pPr>
            <a:r>
              <a:rPr lang="en-US" sz="2600">
                <a:solidFill>
                  <a:srgbClr val="202F5A"/>
                </a:solidFill>
                <a:latin typeface="Arial"/>
                <a:ea typeface="Arial"/>
                <a:cs typeface="Arial"/>
                <a:sym typeface="Arial"/>
              </a:rPr>
              <a:t>A. Không làm gì vì đó không phải chuyện của mình.</a:t>
            </a:r>
          </a:p>
          <a:p>
            <a:pPr algn="just">
              <a:lnSpc>
                <a:spcPts val="2704"/>
              </a:lnSpc>
            </a:pPr>
            <a:r>
              <a:rPr lang="en-US" sz="2600">
                <a:solidFill>
                  <a:srgbClr val="202F5A"/>
                </a:solidFill>
                <a:latin typeface="Arial"/>
                <a:ea typeface="Arial"/>
                <a:cs typeface="Arial"/>
                <a:sym typeface="Arial"/>
              </a:rPr>
              <a:t>B. Đứng về phía nạn nhân và yêu cầu các bạn dừng lại.</a:t>
            </a:r>
          </a:p>
          <a:p>
            <a:pPr algn="just">
              <a:lnSpc>
                <a:spcPts val="2704"/>
              </a:lnSpc>
            </a:pPr>
            <a:r>
              <a:rPr lang="en-US" sz="2600">
                <a:solidFill>
                  <a:srgbClr val="202F5A"/>
                </a:solidFill>
                <a:latin typeface="Arial"/>
                <a:ea typeface="Arial"/>
                <a:cs typeface="Arial"/>
                <a:sym typeface="Arial"/>
              </a:rPr>
              <a:t>C. Báo cho giáo viên/người lớn.</a:t>
            </a:r>
          </a:p>
          <a:p>
            <a:pPr algn="just">
              <a:lnSpc>
                <a:spcPts val="2704"/>
              </a:lnSpc>
            </a:pPr>
            <a:r>
              <a:rPr lang="en-US" sz="2600">
                <a:solidFill>
                  <a:srgbClr val="202F5A"/>
                </a:solidFill>
                <a:latin typeface="Arial"/>
                <a:ea typeface="Arial"/>
                <a:cs typeface="Arial"/>
                <a:sym typeface="Arial"/>
              </a:rPr>
              <a:t>D. Khuyên nạn nhân bỏ qua.</a:t>
            </a:r>
          </a:p>
          <a:p>
            <a:pPr algn="just">
              <a:lnSpc>
                <a:spcPts val="2704"/>
              </a:lnSpc>
            </a:pPr>
            <a:r>
              <a:rPr lang="en-US" sz="2600">
                <a:solidFill>
                  <a:srgbClr val="202F5A"/>
                </a:solidFill>
                <a:latin typeface="Arial"/>
                <a:ea typeface="Arial"/>
                <a:cs typeface="Arial"/>
                <a:sym typeface="Arial"/>
              </a:rPr>
              <a:t>E. Không biết nên làm gì.</a:t>
            </a:r>
          </a:p>
          <a:p>
            <a:pPr algn="l">
              <a:lnSpc>
                <a:spcPts val="2704"/>
              </a:lnSpc>
            </a:pPr>
          </a:p>
        </p:txBody>
      </p:sp>
      <p:sp>
        <p:nvSpPr>
          <p:cNvPr name="TextBox 13" id="13"/>
          <p:cNvSpPr txBox="true"/>
          <p:nvPr/>
        </p:nvSpPr>
        <p:spPr>
          <a:xfrm rot="0">
            <a:off x="2821294" y="1657667"/>
            <a:ext cx="12045395" cy="112458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Tình huống khởi động</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5244" y="-2071299"/>
            <a:ext cx="10038324" cy="15293846"/>
          </a:xfrm>
          <a:custGeom>
            <a:avLst/>
            <a:gdLst/>
            <a:ahLst/>
            <a:cxnLst/>
            <a:rect r="r" b="b" t="t" l="l"/>
            <a:pathLst>
              <a:path h="15293846" w="10038324">
                <a:moveTo>
                  <a:pt x="0" y="0"/>
                </a:moveTo>
                <a:lnTo>
                  <a:pt x="10038324" y="0"/>
                </a:lnTo>
                <a:lnTo>
                  <a:pt x="10038324" y="15293846"/>
                </a:lnTo>
                <a:lnTo>
                  <a:pt x="0" y="1529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60856">
            <a:off x="14701639" y="8805447"/>
            <a:ext cx="3582645" cy="1198558"/>
          </a:xfrm>
          <a:custGeom>
            <a:avLst/>
            <a:gdLst/>
            <a:ahLst/>
            <a:cxnLst/>
            <a:rect r="r" b="b" t="t" l="l"/>
            <a:pathLst>
              <a:path h="1198558" w="3582645">
                <a:moveTo>
                  <a:pt x="0" y="0"/>
                </a:moveTo>
                <a:lnTo>
                  <a:pt x="3582644" y="0"/>
                </a:lnTo>
                <a:lnTo>
                  <a:pt x="3582644" y="1198558"/>
                </a:lnTo>
                <a:lnTo>
                  <a:pt x="0" y="11985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402455" y="1624012"/>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5108979" y="4135755"/>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sp>
        <p:nvSpPr>
          <p:cNvPr name="TextBox 11" id="11"/>
          <p:cNvSpPr txBox="true"/>
          <p:nvPr/>
        </p:nvSpPr>
        <p:spPr>
          <a:xfrm rot="0">
            <a:off x="3312652" y="3254931"/>
            <a:ext cx="5972002" cy="3805683"/>
          </a:xfrm>
          <a:prstGeom prst="rect">
            <a:avLst/>
          </a:prstGeom>
        </p:spPr>
        <p:txBody>
          <a:bodyPr anchor="t" rtlCol="false" tIns="0" lIns="0" bIns="0" rIns="0">
            <a:spAutoFit/>
          </a:bodyPr>
          <a:lstStyle/>
          <a:p>
            <a:pPr algn="l">
              <a:lnSpc>
                <a:spcPts val="2704"/>
              </a:lnSpc>
            </a:pPr>
            <a:r>
              <a:rPr lang="en-US" sz="2600">
                <a:solidFill>
                  <a:srgbClr val="202F5A"/>
                </a:solidFill>
                <a:latin typeface="Arial"/>
                <a:ea typeface="Arial"/>
                <a:cs typeface="Arial"/>
                <a:sym typeface="Arial"/>
              </a:rPr>
              <a:t>Một tình huống bắt nạt có thể diễn biến:</a:t>
            </a:r>
          </a:p>
          <a:p>
            <a:pPr algn="l">
              <a:lnSpc>
                <a:spcPts val="2704"/>
              </a:lnSpc>
            </a:pPr>
          </a:p>
          <a:p>
            <a:pPr algn="l">
              <a:lnSpc>
                <a:spcPts val="2704"/>
              </a:lnSpc>
            </a:pPr>
            <a:r>
              <a:rPr lang="en-US" sz="2600">
                <a:solidFill>
                  <a:srgbClr val="202F5A"/>
                </a:solidFill>
                <a:latin typeface="Arial"/>
                <a:ea typeface="Arial"/>
                <a:cs typeface="Arial"/>
                <a:sym typeface="Arial"/>
              </a:rPr>
              <a:t>Bắt nạt xảy ra</a:t>
            </a:r>
          </a:p>
          <a:p>
            <a:pPr algn="l">
              <a:lnSpc>
                <a:spcPts val="2704"/>
              </a:lnSpc>
            </a:pPr>
            <a:r>
              <a:rPr lang="en-US" sz="2600">
                <a:solidFill>
                  <a:srgbClr val="202F5A"/>
                </a:solidFill>
                <a:latin typeface="Arial"/>
                <a:ea typeface="Arial"/>
                <a:cs typeface="Arial"/>
                <a:sym typeface="Arial"/>
              </a:rPr>
              <a:t>      ↓</a:t>
            </a:r>
          </a:p>
          <a:p>
            <a:pPr algn="l">
              <a:lnSpc>
                <a:spcPts val="2704"/>
              </a:lnSpc>
            </a:pPr>
            <a:r>
              <a:rPr lang="en-US" sz="2600">
                <a:solidFill>
                  <a:srgbClr val="202F5A"/>
                </a:solidFill>
                <a:latin typeface="Arial"/>
                <a:ea typeface="Arial"/>
                <a:cs typeface="Arial"/>
                <a:sym typeface="Arial"/>
              </a:rPr>
              <a:t>Có người chứng kiến</a:t>
            </a:r>
          </a:p>
          <a:p>
            <a:pPr algn="l">
              <a:lnSpc>
                <a:spcPts val="2704"/>
              </a:lnSpc>
            </a:pPr>
            <a:r>
              <a:rPr lang="en-US" sz="2600">
                <a:solidFill>
                  <a:srgbClr val="202F5A"/>
                </a:solidFill>
                <a:latin typeface="Arial"/>
                <a:ea typeface="Arial"/>
                <a:cs typeface="Arial"/>
                <a:sym typeface="Arial"/>
              </a:rPr>
              <a:t>      ↓</a:t>
            </a:r>
          </a:p>
          <a:p>
            <a:pPr algn="l">
              <a:lnSpc>
                <a:spcPts val="2704"/>
              </a:lnSpc>
            </a:pPr>
            <a:r>
              <a:rPr lang="en-US" sz="2600">
                <a:solidFill>
                  <a:srgbClr val="202F5A"/>
                </a:solidFill>
                <a:latin typeface="Arial"/>
                <a:ea typeface="Arial"/>
                <a:cs typeface="Arial"/>
                <a:sym typeface="Arial"/>
              </a:rPr>
              <a:t>Không ai can thiệp</a:t>
            </a:r>
          </a:p>
          <a:p>
            <a:pPr algn="l">
              <a:lnSpc>
                <a:spcPts val="2704"/>
              </a:lnSpc>
            </a:pPr>
            <a:r>
              <a:rPr lang="en-US" sz="2600">
                <a:solidFill>
                  <a:srgbClr val="202F5A"/>
                </a:solidFill>
                <a:latin typeface="Arial"/>
                <a:ea typeface="Arial"/>
                <a:cs typeface="Arial"/>
                <a:sym typeface="Arial"/>
              </a:rPr>
              <a:t>      ↓</a:t>
            </a:r>
          </a:p>
          <a:p>
            <a:pPr algn="l">
              <a:lnSpc>
                <a:spcPts val="2704"/>
              </a:lnSpc>
            </a:pPr>
            <a:r>
              <a:rPr lang="en-US" sz="2600">
                <a:solidFill>
                  <a:srgbClr val="202F5A"/>
                </a:solidFill>
                <a:latin typeface="Arial"/>
                <a:ea typeface="Arial"/>
                <a:cs typeface="Arial"/>
                <a:sym typeface="Arial"/>
              </a:rPr>
              <a:t>Người bắt nạt không gặp phản ứng</a:t>
            </a:r>
          </a:p>
          <a:p>
            <a:pPr algn="l">
              <a:lnSpc>
                <a:spcPts val="2704"/>
              </a:lnSpc>
            </a:pPr>
            <a:r>
              <a:rPr lang="en-US" sz="2600">
                <a:solidFill>
                  <a:srgbClr val="202F5A"/>
                </a:solidFill>
                <a:latin typeface="Arial"/>
                <a:ea typeface="Arial"/>
                <a:cs typeface="Arial"/>
                <a:sym typeface="Arial"/>
              </a:rPr>
              <a:t>      ↓</a:t>
            </a:r>
          </a:p>
          <a:p>
            <a:pPr algn="l">
              <a:lnSpc>
                <a:spcPts val="2704"/>
              </a:lnSpc>
            </a:pPr>
            <a:r>
              <a:rPr lang="en-US" sz="2600">
                <a:solidFill>
                  <a:srgbClr val="202F5A"/>
                </a:solidFill>
                <a:latin typeface="Arial"/>
                <a:ea typeface="Arial"/>
                <a:cs typeface="Arial"/>
                <a:sym typeface="Arial"/>
              </a:rPr>
              <a:t>Hành vi có thể tiếp tục</a:t>
            </a:r>
          </a:p>
        </p:txBody>
      </p:sp>
      <p:sp>
        <p:nvSpPr>
          <p:cNvPr name="TextBox 12" id="12"/>
          <p:cNvSpPr txBox="true"/>
          <p:nvPr/>
        </p:nvSpPr>
        <p:spPr>
          <a:xfrm rot="0">
            <a:off x="2821294" y="1657667"/>
            <a:ext cx="12664830" cy="112458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Vì sao cần can thiệp?</a:t>
            </a:r>
          </a:p>
        </p:txBody>
      </p:sp>
      <p:sp>
        <p:nvSpPr>
          <p:cNvPr name="TextBox 13" id="13"/>
          <p:cNvSpPr txBox="true"/>
          <p:nvPr/>
        </p:nvSpPr>
        <p:spPr>
          <a:xfrm rot="0">
            <a:off x="9153709" y="3254931"/>
            <a:ext cx="5972002" cy="4491483"/>
          </a:xfrm>
          <a:prstGeom prst="rect">
            <a:avLst/>
          </a:prstGeom>
        </p:spPr>
        <p:txBody>
          <a:bodyPr anchor="t" rtlCol="false" tIns="0" lIns="0" bIns="0" rIns="0">
            <a:spAutoFit/>
          </a:bodyPr>
          <a:lstStyle/>
          <a:p>
            <a:pPr algn="l">
              <a:lnSpc>
                <a:spcPts val="2704"/>
              </a:lnSpc>
            </a:pPr>
          </a:p>
          <a:p>
            <a:pPr algn="l">
              <a:lnSpc>
                <a:spcPts val="2704"/>
              </a:lnSpc>
            </a:pPr>
          </a:p>
          <a:p>
            <a:pPr algn="l">
              <a:lnSpc>
                <a:spcPts val="2704"/>
              </a:lnSpc>
            </a:pPr>
            <a:r>
              <a:rPr lang="en-US" sz="2600">
                <a:solidFill>
                  <a:srgbClr val="202F5A"/>
                </a:solidFill>
                <a:latin typeface="Arial"/>
                <a:ea typeface="Arial"/>
                <a:cs typeface="Arial"/>
                <a:sym typeface="Arial"/>
              </a:rPr>
              <a:t>Bắt nạt xảy ra</a:t>
            </a:r>
          </a:p>
          <a:p>
            <a:pPr algn="l">
              <a:lnSpc>
                <a:spcPts val="2704"/>
              </a:lnSpc>
            </a:pPr>
            <a:r>
              <a:rPr lang="en-US" sz="2600">
                <a:solidFill>
                  <a:srgbClr val="202F5A"/>
                </a:solidFill>
                <a:latin typeface="Arial"/>
                <a:ea typeface="Arial"/>
                <a:cs typeface="Arial"/>
                <a:sym typeface="Arial"/>
              </a:rPr>
              <a:t>      ↓</a:t>
            </a:r>
          </a:p>
          <a:p>
            <a:pPr algn="l">
              <a:lnSpc>
                <a:spcPts val="2704"/>
              </a:lnSpc>
            </a:pPr>
            <a:r>
              <a:rPr lang="en-US" sz="2600">
                <a:solidFill>
                  <a:srgbClr val="202F5A"/>
                </a:solidFill>
                <a:latin typeface="Arial"/>
                <a:ea typeface="Arial"/>
                <a:cs typeface="Arial"/>
                <a:sym typeface="Arial"/>
              </a:rPr>
              <a:t>Bystander nhận diện</a:t>
            </a:r>
          </a:p>
          <a:p>
            <a:pPr algn="l">
              <a:lnSpc>
                <a:spcPts val="2704"/>
              </a:lnSpc>
            </a:pPr>
            <a:r>
              <a:rPr lang="en-US" sz="2600">
                <a:solidFill>
                  <a:srgbClr val="202F5A"/>
                </a:solidFill>
                <a:latin typeface="Arial"/>
                <a:ea typeface="Arial"/>
                <a:cs typeface="Arial"/>
                <a:sym typeface="Arial"/>
              </a:rPr>
              <a:t>      ↓</a:t>
            </a:r>
          </a:p>
          <a:p>
            <a:pPr algn="l">
              <a:lnSpc>
                <a:spcPts val="2704"/>
              </a:lnSpc>
            </a:pPr>
            <a:r>
              <a:rPr lang="en-US" sz="2600">
                <a:solidFill>
                  <a:srgbClr val="202F5A"/>
                </a:solidFill>
                <a:latin typeface="Arial"/>
                <a:ea typeface="Arial"/>
                <a:cs typeface="Arial"/>
                <a:sym typeface="Arial"/>
              </a:rPr>
              <a:t>Đánh giá tình huống</a:t>
            </a:r>
          </a:p>
          <a:p>
            <a:pPr algn="l">
              <a:lnSpc>
                <a:spcPts val="2704"/>
              </a:lnSpc>
            </a:pPr>
            <a:r>
              <a:rPr lang="en-US" sz="2600">
                <a:solidFill>
                  <a:srgbClr val="202F5A"/>
                </a:solidFill>
                <a:latin typeface="Arial"/>
                <a:ea typeface="Arial"/>
                <a:cs typeface="Arial"/>
                <a:sym typeface="Arial"/>
              </a:rPr>
              <a:t>      ↓</a:t>
            </a:r>
          </a:p>
          <a:p>
            <a:pPr algn="l">
              <a:lnSpc>
                <a:spcPts val="2704"/>
              </a:lnSpc>
            </a:pPr>
            <a:r>
              <a:rPr lang="en-US" sz="2600">
                <a:solidFill>
                  <a:srgbClr val="202F5A"/>
                </a:solidFill>
                <a:latin typeface="Arial"/>
                <a:ea typeface="Arial"/>
                <a:cs typeface="Arial"/>
                <a:sym typeface="Arial"/>
              </a:rPr>
              <a:t>Chọn hành động phù hợp</a:t>
            </a:r>
          </a:p>
          <a:p>
            <a:pPr algn="l">
              <a:lnSpc>
                <a:spcPts val="2704"/>
              </a:lnSpc>
            </a:pPr>
            <a:r>
              <a:rPr lang="en-US" sz="2600">
                <a:solidFill>
                  <a:srgbClr val="202F5A"/>
                </a:solidFill>
                <a:latin typeface="Arial"/>
                <a:ea typeface="Arial"/>
                <a:cs typeface="Arial"/>
                <a:sym typeface="Arial"/>
              </a:rPr>
              <a:t>      ↓</a:t>
            </a:r>
          </a:p>
          <a:p>
            <a:pPr algn="l">
              <a:lnSpc>
                <a:spcPts val="2704"/>
              </a:lnSpc>
            </a:pPr>
            <a:r>
              <a:rPr lang="en-US" sz="2600">
                <a:solidFill>
                  <a:srgbClr val="202F5A"/>
                </a:solidFill>
                <a:latin typeface="Arial"/>
                <a:ea typeface="Arial"/>
                <a:cs typeface="Arial"/>
                <a:sym typeface="Arial"/>
              </a:rPr>
              <a:t>Hỗ trợ nạn nhân</a:t>
            </a:r>
          </a:p>
          <a:p>
            <a:pPr algn="l">
              <a:lnSpc>
                <a:spcPts val="2704"/>
              </a:lnSpc>
            </a:pPr>
            <a:r>
              <a:rPr lang="en-US" sz="2600">
                <a:solidFill>
                  <a:srgbClr val="202F5A"/>
                </a:solidFill>
                <a:latin typeface="Arial"/>
                <a:ea typeface="Arial"/>
                <a:cs typeface="Arial"/>
                <a:sym typeface="Arial"/>
              </a:rPr>
              <a:t>      ↓</a:t>
            </a:r>
          </a:p>
          <a:p>
            <a:pPr algn="l">
              <a:lnSpc>
                <a:spcPts val="2704"/>
              </a:lnSpc>
            </a:pPr>
            <a:r>
              <a:rPr lang="en-US" sz="2600">
                <a:solidFill>
                  <a:srgbClr val="202F5A"/>
                </a:solidFill>
                <a:latin typeface="Arial"/>
                <a:ea typeface="Arial"/>
                <a:cs typeface="Arial"/>
                <a:sym typeface="Arial"/>
              </a:rPr>
              <a:t>Giảm khả năng tiếp diễn</a:t>
            </a:r>
          </a:p>
        </p:txBody>
      </p:sp>
      <p:sp>
        <p:nvSpPr>
          <p:cNvPr name="TextBox 14" id="14"/>
          <p:cNvSpPr txBox="true"/>
          <p:nvPr/>
        </p:nvSpPr>
        <p:spPr>
          <a:xfrm rot="0">
            <a:off x="3146243" y="8538717"/>
            <a:ext cx="12826642" cy="719583"/>
          </a:xfrm>
          <a:prstGeom prst="rect">
            <a:avLst/>
          </a:prstGeom>
        </p:spPr>
        <p:txBody>
          <a:bodyPr anchor="t" rtlCol="false" tIns="0" lIns="0" bIns="0" rIns="0">
            <a:spAutoFit/>
          </a:bodyPr>
          <a:lstStyle/>
          <a:p>
            <a:pPr algn="l">
              <a:lnSpc>
                <a:spcPts val="2704"/>
              </a:lnSpc>
            </a:pPr>
            <a:r>
              <a:rPr lang="en-US" sz="2600" u="sng" b="true">
                <a:solidFill>
                  <a:srgbClr val="202F5A"/>
                </a:solidFill>
                <a:latin typeface="Arial Bold"/>
                <a:ea typeface="Arial Bold"/>
                <a:cs typeface="Arial Bold"/>
                <a:sym typeface="Arial Bold"/>
              </a:rPr>
              <a:t>Câu</a:t>
            </a:r>
            <a:r>
              <a:rPr lang="en-US" sz="2600" u="sng" b="true">
                <a:solidFill>
                  <a:srgbClr val="202F5A"/>
                </a:solidFill>
                <a:latin typeface="Arial Bold"/>
                <a:ea typeface="Arial Bold"/>
                <a:cs typeface="Arial Bold"/>
                <a:sym typeface="Arial Bold"/>
              </a:rPr>
              <a:t> hỏi:</a:t>
            </a:r>
            <a:r>
              <a:rPr lang="en-US" sz="2600">
                <a:solidFill>
                  <a:srgbClr val="202F5A"/>
                </a:solidFill>
                <a:latin typeface="Arial"/>
                <a:ea typeface="Arial"/>
                <a:cs typeface="Arial"/>
                <a:sym typeface="Arial"/>
              </a:rPr>
              <a:t> “Theo các bạn, tại sao một học sinh chứng kiến bắt nạt lại không can thiệp?”</a:t>
            </a:r>
          </a:p>
          <a:p>
            <a:pPr algn="l">
              <a:lnSpc>
                <a:spcPts val="2704"/>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5244" y="-2071299"/>
            <a:ext cx="10038324" cy="15293846"/>
          </a:xfrm>
          <a:custGeom>
            <a:avLst/>
            <a:gdLst/>
            <a:ahLst/>
            <a:cxnLst/>
            <a:rect r="r" b="b" t="t" l="l"/>
            <a:pathLst>
              <a:path h="15293846" w="10038324">
                <a:moveTo>
                  <a:pt x="0" y="0"/>
                </a:moveTo>
                <a:lnTo>
                  <a:pt x="10038324" y="0"/>
                </a:lnTo>
                <a:lnTo>
                  <a:pt x="10038324" y="15293846"/>
                </a:lnTo>
                <a:lnTo>
                  <a:pt x="0" y="1529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60856">
            <a:off x="14701639" y="8805447"/>
            <a:ext cx="3582645" cy="1198558"/>
          </a:xfrm>
          <a:custGeom>
            <a:avLst/>
            <a:gdLst/>
            <a:ahLst/>
            <a:cxnLst/>
            <a:rect r="r" b="b" t="t" l="l"/>
            <a:pathLst>
              <a:path h="1198558" w="3582645">
                <a:moveTo>
                  <a:pt x="0" y="0"/>
                </a:moveTo>
                <a:lnTo>
                  <a:pt x="3582644" y="0"/>
                </a:lnTo>
                <a:lnTo>
                  <a:pt x="3582644" y="1198558"/>
                </a:lnTo>
                <a:lnTo>
                  <a:pt x="0" y="11985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402455" y="1624012"/>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5108979" y="4135755"/>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sp>
        <p:nvSpPr>
          <p:cNvPr name="TextBox 11" id="11"/>
          <p:cNvSpPr txBox="true"/>
          <p:nvPr/>
        </p:nvSpPr>
        <p:spPr>
          <a:xfrm rot="0">
            <a:off x="2821294" y="1657667"/>
            <a:ext cx="12664830" cy="217233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GIỚI</a:t>
            </a:r>
            <a:r>
              <a:rPr lang="en-US" sz="8000" b="true">
                <a:solidFill>
                  <a:srgbClr val="202F5A"/>
                </a:solidFill>
                <a:latin typeface="Arial Bold"/>
                <a:ea typeface="Arial Bold"/>
                <a:cs typeface="Arial Bold"/>
                <a:sym typeface="Arial Bold"/>
              </a:rPr>
              <a:t> THIỆU BYSTANDER CHOICE</a:t>
            </a:r>
          </a:p>
        </p:txBody>
      </p:sp>
      <p:sp>
        <p:nvSpPr>
          <p:cNvPr name="TextBox 12" id="12"/>
          <p:cNvSpPr txBox="true"/>
          <p:nvPr/>
        </p:nvSpPr>
        <p:spPr>
          <a:xfrm rot="0">
            <a:off x="2558657" y="3996209"/>
            <a:ext cx="11920561" cy="5151234"/>
          </a:xfrm>
          <a:prstGeom prst="rect">
            <a:avLst/>
          </a:prstGeom>
        </p:spPr>
        <p:txBody>
          <a:bodyPr anchor="t" rtlCol="false" tIns="0" lIns="0" bIns="0" rIns="0">
            <a:spAutoFit/>
          </a:bodyPr>
          <a:lstStyle/>
          <a:p>
            <a:pPr algn="l">
              <a:lnSpc>
                <a:spcPts val="2700"/>
              </a:lnSpc>
            </a:pPr>
            <a:r>
              <a:rPr lang="en-US" sz="2596" b="true">
                <a:solidFill>
                  <a:srgbClr val="202F5A"/>
                </a:solidFill>
                <a:latin typeface="Arial Bold"/>
                <a:ea typeface="Arial Bold"/>
                <a:cs typeface="Arial Bold"/>
                <a:sym typeface="Arial Bold"/>
              </a:rPr>
              <a:t>Bysta</a:t>
            </a:r>
            <a:r>
              <a:rPr lang="en-US" sz="2596" b="true">
                <a:solidFill>
                  <a:srgbClr val="202F5A"/>
                </a:solidFill>
                <a:latin typeface="Arial Bold"/>
                <a:ea typeface="Arial Bold"/>
                <a:cs typeface="Arial Bold"/>
                <a:sym typeface="Arial Bold"/>
              </a:rPr>
              <a:t>nd</a:t>
            </a:r>
            <a:r>
              <a:rPr lang="en-US" sz="2596" b="true">
                <a:solidFill>
                  <a:srgbClr val="202F5A"/>
                </a:solidFill>
                <a:latin typeface="Arial Bold"/>
                <a:ea typeface="Arial Bold"/>
                <a:cs typeface="Arial Bold"/>
                <a:sym typeface="Arial Bold"/>
              </a:rPr>
              <a:t>er C</a:t>
            </a:r>
            <a:r>
              <a:rPr lang="en-US" sz="2596" b="true">
                <a:solidFill>
                  <a:srgbClr val="202F5A"/>
                </a:solidFill>
                <a:latin typeface="Arial Bold"/>
                <a:ea typeface="Arial Bold"/>
                <a:cs typeface="Arial Bold"/>
                <a:sym typeface="Arial Bold"/>
              </a:rPr>
              <a:t>hoice</a:t>
            </a:r>
            <a:r>
              <a:rPr lang="en-US" sz="2596">
                <a:solidFill>
                  <a:srgbClr val="202F5A"/>
                </a:solidFill>
                <a:latin typeface="Arial"/>
                <a:ea typeface="Arial"/>
                <a:cs typeface="Arial"/>
                <a:sym typeface="Arial"/>
              </a:rPr>
              <a:t> là một trò chơi nhập vai tương tác trong đó người chơi đóng vai một người ngoài cuộc chứng kiến các tình huống bắt nạt và phải đưa ra quyết định xử lý.</a:t>
            </a:r>
          </a:p>
          <a:p>
            <a:pPr algn="l">
              <a:lnSpc>
                <a:spcPts val="2700"/>
              </a:lnSpc>
            </a:pPr>
          </a:p>
          <a:p>
            <a:pPr algn="l">
              <a:lnSpc>
                <a:spcPts val="2700"/>
              </a:lnSpc>
            </a:pPr>
            <a:r>
              <a:rPr lang="en-US" sz="2596">
                <a:solidFill>
                  <a:srgbClr val="202F5A"/>
                </a:solidFill>
                <a:latin typeface="Arial"/>
                <a:ea typeface="Arial"/>
                <a:cs typeface="Arial"/>
                <a:sym typeface="Arial"/>
              </a:rPr>
              <a:t>   Đọc tình huống </a:t>
            </a:r>
          </a:p>
          <a:p>
            <a:pPr algn="l">
              <a:lnSpc>
                <a:spcPts val="2700"/>
              </a:lnSpc>
            </a:pPr>
            <a:r>
              <a:rPr lang="en-US" sz="2596">
                <a:solidFill>
                  <a:srgbClr val="202F5A"/>
                </a:solidFill>
                <a:latin typeface="Arial"/>
                <a:ea typeface="Arial"/>
                <a:cs typeface="Arial"/>
                <a:sym typeface="Arial"/>
              </a:rPr>
              <a:t>           ↓ </a:t>
            </a:r>
          </a:p>
          <a:p>
            <a:pPr algn="l">
              <a:lnSpc>
                <a:spcPts val="2700"/>
              </a:lnSpc>
            </a:pPr>
            <a:r>
              <a:rPr lang="en-US" sz="2596">
                <a:solidFill>
                  <a:srgbClr val="202F5A"/>
                </a:solidFill>
                <a:latin typeface="Arial"/>
                <a:ea typeface="Arial"/>
                <a:cs typeface="Arial"/>
                <a:sym typeface="Arial"/>
              </a:rPr>
              <a:t>   Hiểu vấn đề </a:t>
            </a:r>
          </a:p>
          <a:p>
            <a:pPr algn="l">
              <a:lnSpc>
                <a:spcPts val="2700"/>
              </a:lnSpc>
            </a:pPr>
            <a:r>
              <a:rPr lang="en-US" sz="2596">
                <a:solidFill>
                  <a:srgbClr val="202F5A"/>
                </a:solidFill>
                <a:latin typeface="Arial"/>
                <a:ea typeface="Arial"/>
                <a:cs typeface="Arial"/>
                <a:sym typeface="Arial"/>
              </a:rPr>
              <a:t>           ↓ </a:t>
            </a:r>
          </a:p>
          <a:p>
            <a:pPr algn="l">
              <a:lnSpc>
                <a:spcPts val="2700"/>
              </a:lnSpc>
            </a:pPr>
            <a:r>
              <a:rPr lang="en-US" sz="2596">
                <a:solidFill>
                  <a:srgbClr val="202F5A"/>
                </a:solidFill>
                <a:latin typeface="Arial"/>
                <a:ea typeface="Arial"/>
                <a:cs typeface="Arial"/>
                <a:sym typeface="Arial"/>
              </a:rPr>
              <a:t>   Đánh giá </a:t>
            </a:r>
          </a:p>
          <a:p>
            <a:pPr algn="l">
              <a:lnSpc>
                <a:spcPts val="2700"/>
              </a:lnSpc>
            </a:pPr>
            <a:r>
              <a:rPr lang="en-US" sz="2596">
                <a:solidFill>
                  <a:srgbClr val="202F5A"/>
                </a:solidFill>
                <a:latin typeface="Arial"/>
                <a:ea typeface="Arial"/>
                <a:cs typeface="Arial"/>
                <a:sym typeface="Arial"/>
              </a:rPr>
              <a:t>           ↓ </a:t>
            </a:r>
          </a:p>
          <a:p>
            <a:pPr algn="l">
              <a:lnSpc>
                <a:spcPts val="2700"/>
              </a:lnSpc>
            </a:pPr>
            <a:r>
              <a:rPr lang="en-US" sz="2596">
                <a:solidFill>
                  <a:srgbClr val="202F5A"/>
                </a:solidFill>
                <a:latin typeface="Arial"/>
                <a:ea typeface="Arial"/>
                <a:cs typeface="Arial"/>
                <a:sym typeface="Arial"/>
              </a:rPr>
              <a:t>   Lựa chọn </a:t>
            </a:r>
          </a:p>
          <a:p>
            <a:pPr algn="l">
              <a:lnSpc>
                <a:spcPts val="2700"/>
              </a:lnSpc>
            </a:pPr>
            <a:r>
              <a:rPr lang="en-US" sz="2596">
                <a:solidFill>
                  <a:srgbClr val="202F5A"/>
                </a:solidFill>
                <a:latin typeface="Arial"/>
                <a:ea typeface="Arial"/>
                <a:cs typeface="Arial"/>
                <a:sym typeface="Arial"/>
              </a:rPr>
              <a:t>           ↓ </a:t>
            </a:r>
          </a:p>
          <a:p>
            <a:pPr algn="l">
              <a:lnSpc>
                <a:spcPts val="2700"/>
              </a:lnSpc>
            </a:pPr>
            <a:r>
              <a:rPr lang="en-US" sz="2596">
                <a:solidFill>
                  <a:srgbClr val="202F5A"/>
                </a:solidFill>
                <a:latin typeface="Arial"/>
                <a:ea typeface="Arial"/>
                <a:cs typeface="Arial"/>
                <a:sym typeface="Arial"/>
              </a:rPr>
              <a:t>  Nhận kết quả </a:t>
            </a:r>
          </a:p>
          <a:p>
            <a:pPr algn="l">
              <a:lnSpc>
                <a:spcPts val="2700"/>
              </a:lnSpc>
            </a:pPr>
            <a:r>
              <a:rPr lang="en-US" sz="2596">
                <a:solidFill>
                  <a:srgbClr val="202F5A"/>
                </a:solidFill>
                <a:latin typeface="Arial"/>
                <a:ea typeface="Arial"/>
                <a:cs typeface="Arial"/>
                <a:sym typeface="Arial"/>
              </a:rPr>
              <a:t>           ↓ </a:t>
            </a:r>
          </a:p>
          <a:p>
            <a:pPr algn="l">
              <a:lnSpc>
                <a:spcPts val="2700"/>
              </a:lnSpc>
            </a:pPr>
            <a:r>
              <a:rPr lang="en-US" sz="2596">
                <a:solidFill>
                  <a:srgbClr val="202F5A"/>
                </a:solidFill>
                <a:latin typeface="Arial"/>
                <a:ea typeface="Arial"/>
                <a:cs typeface="Arial"/>
                <a:sym typeface="Arial"/>
              </a:rPr>
              <a:t>  Tiếp tục tình huống</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5244" y="-2071299"/>
            <a:ext cx="10038324" cy="15293846"/>
          </a:xfrm>
          <a:custGeom>
            <a:avLst/>
            <a:gdLst/>
            <a:ahLst/>
            <a:cxnLst/>
            <a:rect r="r" b="b" t="t" l="l"/>
            <a:pathLst>
              <a:path h="15293846" w="10038324">
                <a:moveTo>
                  <a:pt x="0" y="0"/>
                </a:moveTo>
                <a:lnTo>
                  <a:pt x="10038324" y="0"/>
                </a:lnTo>
                <a:lnTo>
                  <a:pt x="10038324" y="15293846"/>
                </a:lnTo>
                <a:lnTo>
                  <a:pt x="0" y="1529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60856">
            <a:off x="14701639" y="8805447"/>
            <a:ext cx="3582645" cy="1198558"/>
          </a:xfrm>
          <a:custGeom>
            <a:avLst/>
            <a:gdLst/>
            <a:ahLst/>
            <a:cxnLst/>
            <a:rect r="r" b="b" t="t" l="l"/>
            <a:pathLst>
              <a:path h="1198558" w="3582645">
                <a:moveTo>
                  <a:pt x="0" y="0"/>
                </a:moveTo>
                <a:lnTo>
                  <a:pt x="3582644" y="0"/>
                </a:lnTo>
                <a:lnTo>
                  <a:pt x="3582644" y="1198558"/>
                </a:lnTo>
                <a:lnTo>
                  <a:pt x="0" y="11985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402455" y="1624012"/>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5108979" y="4135755"/>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sp>
        <p:nvSpPr>
          <p:cNvPr name="TextBox 11" id="11"/>
          <p:cNvSpPr txBox="true"/>
          <p:nvPr/>
        </p:nvSpPr>
        <p:spPr>
          <a:xfrm rot="0">
            <a:off x="2821294" y="1657667"/>
            <a:ext cx="12664830" cy="217233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GIỚI THIỆU BYSTANDER CHOICE</a:t>
            </a:r>
          </a:p>
        </p:txBody>
      </p:sp>
      <p:sp>
        <p:nvSpPr>
          <p:cNvPr name="TextBox 12" id="12"/>
          <p:cNvSpPr txBox="true"/>
          <p:nvPr/>
        </p:nvSpPr>
        <p:spPr>
          <a:xfrm rot="0">
            <a:off x="3819298" y="4043865"/>
            <a:ext cx="12102098" cy="5177217"/>
          </a:xfrm>
          <a:prstGeom prst="rect">
            <a:avLst/>
          </a:prstGeom>
        </p:spPr>
        <p:txBody>
          <a:bodyPr anchor="t" rtlCol="false" tIns="0" lIns="0" bIns="0" rIns="0">
            <a:spAutoFit/>
          </a:bodyPr>
          <a:lstStyle/>
          <a:p>
            <a:pPr algn="l">
              <a:lnSpc>
                <a:spcPts val="2700"/>
              </a:lnSpc>
            </a:pPr>
            <a:r>
              <a:rPr lang="en-US" sz="2596" b="true">
                <a:solidFill>
                  <a:srgbClr val="202F5A"/>
                </a:solidFill>
                <a:latin typeface="Arial Bold"/>
                <a:ea typeface="Arial Bold"/>
                <a:cs typeface="Arial Bold"/>
                <a:sym typeface="Arial Bold"/>
              </a:rPr>
              <a:t>Đặt vấn đề:</a:t>
            </a:r>
          </a:p>
          <a:p>
            <a:pPr algn="l">
              <a:lnSpc>
                <a:spcPts val="2700"/>
              </a:lnSpc>
            </a:pPr>
            <a:r>
              <a:rPr lang="en-US" sz="2596">
                <a:solidFill>
                  <a:srgbClr val="202F5A"/>
                </a:solidFill>
                <a:latin typeface="Arial"/>
                <a:ea typeface="Arial"/>
                <a:cs typeface="Arial"/>
                <a:sym typeface="Arial"/>
              </a:rPr>
              <a:t>Nếu chúng ta xây dựng một game rất đẹp, nhiều tình huống và nhiều lựa chọn, làm thế nào để chứng minh game thực sự có tác dụng?</a:t>
            </a:r>
          </a:p>
          <a:p>
            <a:pPr algn="l">
              <a:lnSpc>
                <a:spcPts val="2700"/>
              </a:lnSpc>
            </a:pPr>
          </a:p>
          <a:p>
            <a:pPr algn="l">
              <a:lnSpc>
                <a:spcPts val="2700"/>
              </a:lnSpc>
            </a:pPr>
            <a:r>
              <a:rPr lang="en-US" sz="2596" b="true">
                <a:solidFill>
                  <a:srgbClr val="202F5A"/>
                </a:solidFill>
                <a:latin typeface="Arial Bold"/>
                <a:ea typeface="Arial Bold"/>
                <a:cs typeface="Arial Bold"/>
                <a:sym typeface="Arial Bold"/>
              </a:rPr>
              <a:t>T</a:t>
            </a:r>
            <a:r>
              <a:rPr lang="en-US" sz="2596" b="true">
                <a:solidFill>
                  <a:srgbClr val="202F5A"/>
                </a:solidFill>
                <a:latin typeface="Arial Bold"/>
                <a:ea typeface="Arial Bold"/>
                <a:cs typeface="Arial Bold"/>
                <a:sym typeface="Arial Bold"/>
              </a:rPr>
              <a:t>rước game</a:t>
            </a:r>
          </a:p>
          <a:p>
            <a:pPr algn="l">
              <a:lnSpc>
                <a:spcPts val="2700"/>
              </a:lnSpc>
            </a:pPr>
            <a:r>
              <a:rPr lang="en-US" sz="2596">
                <a:solidFill>
                  <a:srgbClr val="202F5A"/>
                </a:solidFill>
                <a:latin typeface="Arial"/>
                <a:ea typeface="Arial"/>
                <a:cs typeface="Arial"/>
                <a:sym typeface="Arial"/>
              </a:rPr>
              <a:t>Empathy = 3.1</a:t>
            </a:r>
          </a:p>
          <a:p>
            <a:pPr algn="l">
              <a:lnSpc>
                <a:spcPts val="2700"/>
              </a:lnSpc>
            </a:pPr>
            <a:r>
              <a:rPr lang="en-US" sz="2596">
                <a:solidFill>
                  <a:srgbClr val="202F5A"/>
                </a:solidFill>
                <a:latin typeface="Arial"/>
                <a:ea typeface="Arial"/>
                <a:cs typeface="Arial"/>
                <a:sym typeface="Arial"/>
              </a:rPr>
              <a:t>Self-efficacy = 2.8</a:t>
            </a:r>
          </a:p>
          <a:p>
            <a:pPr algn="l">
              <a:lnSpc>
                <a:spcPts val="2700"/>
              </a:lnSpc>
            </a:pPr>
          </a:p>
          <a:p>
            <a:pPr algn="l">
              <a:lnSpc>
                <a:spcPts val="2700"/>
              </a:lnSpc>
            </a:pPr>
          </a:p>
          <a:p>
            <a:pPr algn="l">
              <a:lnSpc>
                <a:spcPts val="2700"/>
              </a:lnSpc>
            </a:pPr>
            <a:r>
              <a:rPr lang="en-US" sz="2596" b="true">
                <a:solidFill>
                  <a:srgbClr val="202F5A"/>
                </a:solidFill>
                <a:latin typeface="Arial Bold"/>
                <a:ea typeface="Arial Bold"/>
                <a:cs typeface="Arial Bold"/>
                <a:sym typeface="Arial Bold"/>
              </a:rPr>
              <a:t>Sau game</a:t>
            </a:r>
          </a:p>
          <a:p>
            <a:pPr algn="l">
              <a:lnSpc>
                <a:spcPts val="2700"/>
              </a:lnSpc>
            </a:pPr>
            <a:r>
              <a:rPr lang="en-US" sz="2596">
                <a:solidFill>
                  <a:srgbClr val="202F5A"/>
                </a:solidFill>
                <a:latin typeface="Arial"/>
                <a:ea typeface="Arial"/>
                <a:cs typeface="Arial"/>
                <a:sym typeface="Arial"/>
              </a:rPr>
              <a:t>Empathy = 3.9</a:t>
            </a:r>
          </a:p>
          <a:p>
            <a:pPr algn="l">
              <a:lnSpc>
                <a:spcPts val="2700"/>
              </a:lnSpc>
            </a:pPr>
            <a:r>
              <a:rPr lang="en-US" sz="2596">
                <a:solidFill>
                  <a:srgbClr val="202F5A"/>
                </a:solidFill>
                <a:latin typeface="Arial"/>
                <a:ea typeface="Arial"/>
                <a:cs typeface="Arial"/>
                <a:sym typeface="Arial"/>
              </a:rPr>
              <a:t>Self-efficacy = 4.0</a:t>
            </a:r>
          </a:p>
          <a:p>
            <a:pPr algn="l">
              <a:lnSpc>
                <a:spcPts val="2700"/>
              </a:lnSpc>
            </a:pPr>
          </a:p>
          <a:p>
            <a:pPr algn="l">
              <a:lnSpc>
                <a:spcPts val="2700"/>
              </a:lnSpc>
            </a:pPr>
            <a:r>
              <a:rPr lang="en-US" sz="2596">
                <a:solidFill>
                  <a:srgbClr val="202F5A"/>
                </a:solidFill>
                <a:latin typeface="Arial"/>
                <a:ea typeface="Arial"/>
                <a:cs typeface="Arial"/>
                <a:sym typeface="Arial"/>
              </a:rPr>
              <a:t>⟶ Khi đó chúng ta mới có cơ sở để đánh giá sự thay đổi. (cần có dữ liệu)</a:t>
            </a:r>
          </a:p>
          <a:p>
            <a:pPr algn="l">
              <a:lnSpc>
                <a:spcPts val="2700"/>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5244" y="-2071299"/>
            <a:ext cx="10038324" cy="15293846"/>
          </a:xfrm>
          <a:custGeom>
            <a:avLst/>
            <a:gdLst/>
            <a:ahLst/>
            <a:cxnLst/>
            <a:rect r="r" b="b" t="t" l="l"/>
            <a:pathLst>
              <a:path h="15293846" w="10038324">
                <a:moveTo>
                  <a:pt x="0" y="0"/>
                </a:moveTo>
                <a:lnTo>
                  <a:pt x="10038324" y="0"/>
                </a:lnTo>
                <a:lnTo>
                  <a:pt x="10038324" y="15293846"/>
                </a:lnTo>
                <a:lnTo>
                  <a:pt x="0" y="1529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60856">
            <a:off x="14701639" y="8805447"/>
            <a:ext cx="3582645" cy="1198558"/>
          </a:xfrm>
          <a:custGeom>
            <a:avLst/>
            <a:gdLst/>
            <a:ahLst/>
            <a:cxnLst/>
            <a:rect r="r" b="b" t="t" l="l"/>
            <a:pathLst>
              <a:path h="1198558" w="3582645">
                <a:moveTo>
                  <a:pt x="0" y="0"/>
                </a:moveTo>
                <a:lnTo>
                  <a:pt x="3582644" y="0"/>
                </a:lnTo>
                <a:lnTo>
                  <a:pt x="3582644" y="1198558"/>
                </a:lnTo>
                <a:lnTo>
                  <a:pt x="0" y="11985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402455" y="1624012"/>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5108979" y="4135755"/>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sp>
        <p:nvSpPr>
          <p:cNvPr name="Freeform 11" id="11"/>
          <p:cNvSpPr/>
          <p:nvPr/>
        </p:nvSpPr>
        <p:spPr>
          <a:xfrm flipH="false" flipV="false" rot="0">
            <a:off x="10814528" y="4958304"/>
            <a:ext cx="5196625" cy="3465499"/>
          </a:xfrm>
          <a:custGeom>
            <a:avLst/>
            <a:gdLst/>
            <a:ahLst/>
            <a:cxnLst/>
            <a:rect r="r" b="b" t="t" l="l"/>
            <a:pathLst>
              <a:path h="3465499" w="5196625">
                <a:moveTo>
                  <a:pt x="0" y="0"/>
                </a:moveTo>
                <a:lnTo>
                  <a:pt x="5196625" y="0"/>
                </a:lnTo>
                <a:lnTo>
                  <a:pt x="5196625" y="3465499"/>
                </a:lnTo>
                <a:lnTo>
                  <a:pt x="0" y="3465499"/>
                </a:lnTo>
                <a:lnTo>
                  <a:pt x="0" y="0"/>
                </a:lnTo>
                <a:close/>
              </a:path>
            </a:pathLst>
          </a:custGeom>
          <a:blipFill>
            <a:blip r:embed="rId8"/>
            <a:stretch>
              <a:fillRect l="0" t="0" r="0" b="0"/>
            </a:stretch>
          </a:blipFill>
        </p:spPr>
      </p:sp>
      <p:sp>
        <p:nvSpPr>
          <p:cNvPr name="TextBox 12" id="12"/>
          <p:cNvSpPr txBox="true"/>
          <p:nvPr/>
        </p:nvSpPr>
        <p:spPr>
          <a:xfrm rot="0">
            <a:off x="3312652" y="3254931"/>
            <a:ext cx="11735814" cy="4148583"/>
          </a:xfrm>
          <a:prstGeom prst="rect">
            <a:avLst/>
          </a:prstGeom>
        </p:spPr>
        <p:txBody>
          <a:bodyPr anchor="t" rtlCol="false" tIns="0" lIns="0" bIns="0" rIns="0">
            <a:spAutoFit/>
          </a:bodyPr>
          <a:lstStyle/>
          <a:p>
            <a:pPr algn="l">
              <a:lnSpc>
                <a:spcPts val="2704"/>
              </a:lnSpc>
            </a:pPr>
            <a:r>
              <a:rPr lang="en-US" sz="2600" b="true">
                <a:solidFill>
                  <a:srgbClr val="202F5A"/>
                </a:solidFill>
                <a:latin typeface="Arial Bold"/>
                <a:ea typeface="Arial Bold"/>
                <a:cs typeface="Arial Bold"/>
                <a:sym typeface="Arial Bold"/>
              </a:rPr>
              <a:t>Địn</a:t>
            </a:r>
            <a:r>
              <a:rPr lang="en-US" sz="2600" b="true">
                <a:solidFill>
                  <a:srgbClr val="202F5A"/>
                </a:solidFill>
                <a:latin typeface="Arial Bold"/>
                <a:ea typeface="Arial Bold"/>
                <a:cs typeface="Arial Bold"/>
                <a:sym typeface="Arial Bold"/>
              </a:rPr>
              <a:t>h nghĩa dễ hiểu: </a:t>
            </a:r>
            <a:r>
              <a:rPr lang="en-US" sz="2600">
                <a:solidFill>
                  <a:srgbClr val="202F5A"/>
                </a:solidFill>
                <a:latin typeface="Arial"/>
                <a:ea typeface="Arial"/>
                <a:cs typeface="Arial"/>
                <a:sym typeface="Arial"/>
              </a:rPr>
              <a:t>Empa</a:t>
            </a:r>
            <a:r>
              <a:rPr lang="en-US" sz="2600">
                <a:solidFill>
                  <a:srgbClr val="202F5A"/>
                </a:solidFill>
                <a:latin typeface="Arial"/>
                <a:ea typeface="Arial"/>
                <a:cs typeface="Arial"/>
                <a:sym typeface="Arial"/>
              </a:rPr>
              <a:t>thy là khả năng hiểu và đồng cảm với cảm xúc, suy nghĩ hoặc hoàn cảnh của người khác.</a:t>
            </a:r>
          </a:p>
          <a:p>
            <a:pPr algn="l">
              <a:lnSpc>
                <a:spcPts val="2704"/>
              </a:lnSpc>
            </a:pPr>
          </a:p>
          <a:p>
            <a:pPr algn="l">
              <a:lnSpc>
                <a:spcPts val="2704"/>
              </a:lnSpc>
            </a:pPr>
            <a:r>
              <a:rPr lang="en-US" sz="2600">
                <a:solidFill>
                  <a:srgbClr val="202F5A"/>
                </a:solidFill>
                <a:latin typeface="Arial"/>
                <a:ea typeface="Arial"/>
                <a:cs typeface="Arial"/>
                <a:sym typeface="Arial"/>
              </a:rPr>
              <a:t>Ví dụ:</a:t>
            </a:r>
          </a:p>
          <a:p>
            <a:pPr algn="l">
              <a:lnSpc>
                <a:spcPts val="2704"/>
              </a:lnSpc>
            </a:pPr>
            <a:r>
              <a:rPr lang="en-US" sz="2600">
                <a:solidFill>
                  <a:srgbClr val="202F5A"/>
                </a:solidFill>
                <a:latin typeface="Arial"/>
                <a:ea typeface="Arial"/>
                <a:cs typeface="Arial"/>
                <a:sym typeface="Arial"/>
              </a:rPr>
              <a:t>Một họ</a:t>
            </a:r>
            <a:r>
              <a:rPr lang="en-US" sz="2600">
                <a:solidFill>
                  <a:srgbClr val="202F5A"/>
                </a:solidFill>
                <a:latin typeface="Arial"/>
                <a:ea typeface="Arial"/>
                <a:cs typeface="Arial"/>
                <a:sym typeface="Arial"/>
              </a:rPr>
              <a:t>c sinh nhìn thấy bạn khác bị chế giễu.</a:t>
            </a:r>
          </a:p>
          <a:p>
            <a:pPr algn="l">
              <a:lnSpc>
                <a:spcPts val="2704"/>
              </a:lnSpc>
            </a:pPr>
          </a:p>
          <a:p>
            <a:pPr algn="l">
              <a:lnSpc>
                <a:spcPts val="2704"/>
              </a:lnSpc>
            </a:pPr>
            <a:r>
              <a:rPr lang="en-US" sz="2600">
                <a:solidFill>
                  <a:srgbClr val="202F5A"/>
                </a:solidFill>
                <a:latin typeface="Arial"/>
                <a:ea typeface="Arial"/>
                <a:cs typeface="Arial"/>
                <a:sym typeface="Arial"/>
              </a:rPr>
              <a:t>Người có mức thấu cảm cao có thể nghĩ:</a:t>
            </a:r>
          </a:p>
          <a:p>
            <a:pPr algn="l">
              <a:lnSpc>
                <a:spcPts val="2704"/>
              </a:lnSpc>
            </a:pPr>
            <a:r>
              <a:rPr lang="en-US" sz="2600">
                <a:solidFill>
                  <a:srgbClr val="202F5A"/>
                </a:solidFill>
                <a:latin typeface="Arial"/>
                <a:ea typeface="Arial"/>
                <a:cs typeface="Arial"/>
                <a:sym typeface="Arial"/>
              </a:rPr>
              <a:t>“</a:t>
            </a:r>
            <a:r>
              <a:rPr lang="en-US" sz="2600">
                <a:solidFill>
                  <a:srgbClr val="202F5A"/>
                </a:solidFill>
                <a:latin typeface="Arial"/>
                <a:ea typeface="Arial"/>
                <a:cs typeface="Arial"/>
                <a:sym typeface="Arial"/>
              </a:rPr>
              <a:t>Bạn ấy có thể đang rất xấu hổ và tổn thương.”</a:t>
            </a:r>
          </a:p>
          <a:p>
            <a:pPr algn="l">
              <a:lnSpc>
                <a:spcPts val="2704"/>
              </a:lnSpc>
            </a:pPr>
          </a:p>
          <a:p>
            <a:pPr algn="l">
              <a:lnSpc>
                <a:spcPts val="2704"/>
              </a:lnSpc>
            </a:pPr>
            <a:r>
              <a:rPr lang="en-US" sz="2600">
                <a:solidFill>
                  <a:srgbClr val="202F5A"/>
                </a:solidFill>
                <a:latin typeface="Arial"/>
                <a:ea typeface="Arial"/>
                <a:cs typeface="Arial"/>
                <a:sym typeface="Arial"/>
              </a:rPr>
              <a:t>Trong khi một người ít thấu cảm có thể nghĩ:</a:t>
            </a:r>
          </a:p>
          <a:p>
            <a:pPr algn="l">
              <a:lnSpc>
                <a:spcPts val="2704"/>
              </a:lnSpc>
            </a:pPr>
            <a:r>
              <a:rPr lang="en-US" sz="2600">
                <a:solidFill>
                  <a:srgbClr val="202F5A"/>
                </a:solidFill>
                <a:latin typeface="Arial"/>
                <a:ea typeface="Arial"/>
                <a:cs typeface="Arial"/>
                <a:sym typeface="Arial"/>
              </a:rPr>
              <a:t>“Chỉ là đùa thôi mà.”</a:t>
            </a:r>
          </a:p>
          <a:p>
            <a:pPr algn="l">
              <a:lnSpc>
                <a:spcPts val="2704"/>
              </a:lnSpc>
            </a:pPr>
          </a:p>
        </p:txBody>
      </p:sp>
      <p:sp>
        <p:nvSpPr>
          <p:cNvPr name="TextBox 13" id="13"/>
          <p:cNvSpPr txBox="true"/>
          <p:nvPr/>
        </p:nvSpPr>
        <p:spPr>
          <a:xfrm rot="0">
            <a:off x="2821294" y="1657667"/>
            <a:ext cx="12664830" cy="112458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Chỉ số 1 - Thấu cảm</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4838" y="-2010786"/>
            <a:ext cx="10038324" cy="15293846"/>
          </a:xfrm>
          <a:custGeom>
            <a:avLst/>
            <a:gdLst/>
            <a:ahLst/>
            <a:cxnLst/>
            <a:rect r="r" b="b" t="t" l="l"/>
            <a:pathLst>
              <a:path h="15293846" w="10038324">
                <a:moveTo>
                  <a:pt x="0" y="0"/>
                </a:moveTo>
                <a:lnTo>
                  <a:pt x="10038324" y="0"/>
                </a:lnTo>
                <a:lnTo>
                  <a:pt x="10038324" y="15293845"/>
                </a:lnTo>
                <a:lnTo>
                  <a:pt x="0" y="152938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60856">
            <a:off x="14701639" y="8805447"/>
            <a:ext cx="3582645" cy="1198558"/>
          </a:xfrm>
          <a:custGeom>
            <a:avLst/>
            <a:gdLst/>
            <a:ahLst/>
            <a:cxnLst/>
            <a:rect r="r" b="b" t="t" l="l"/>
            <a:pathLst>
              <a:path h="1198558" w="3582645">
                <a:moveTo>
                  <a:pt x="0" y="0"/>
                </a:moveTo>
                <a:lnTo>
                  <a:pt x="3582644" y="0"/>
                </a:lnTo>
                <a:lnTo>
                  <a:pt x="3582644" y="1198558"/>
                </a:lnTo>
                <a:lnTo>
                  <a:pt x="0" y="11985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402455" y="1624012"/>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5108979" y="4135755"/>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sp>
        <p:nvSpPr>
          <p:cNvPr name="TextBox 11" id="11"/>
          <p:cNvSpPr txBox="true"/>
          <p:nvPr/>
        </p:nvSpPr>
        <p:spPr>
          <a:xfrm rot="0">
            <a:off x="3312652" y="3254931"/>
            <a:ext cx="11735814" cy="6891783"/>
          </a:xfrm>
          <a:prstGeom prst="rect">
            <a:avLst/>
          </a:prstGeom>
        </p:spPr>
        <p:txBody>
          <a:bodyPr anchor="t" rtlCol="false" tIns="0" lIns="0" bIns="0" rIns="0">
            <a:spAutoFit/>
          </a:bodyPr>
          <a:lstStyle/>
          <a:p>
            <a:pPr algn="l">
              <a:lnSpc>
                <a:spcPts val="2704"/>
              </a:lnSpc>
            </a:pPr>
            <a:r>
              <a:rPr lang="en-US" sz="2600" b="true">
                <a:solidFill>
                  <a:srgbClr val="202F5A"/>
                </a:solidFill>
                <a:latin typeface="Arial Bold"/>
                <a:ea typeface="Arial Bold"/>
                <a:cs typeface="Arial Bold"/>
                <a:sym typeface="Arial Bold"/>
              </a:rPr>
              <a:t>Dù</a:t>
            </a:r>
            <a:r>
              <a:rPr lang="en-US" sz="2600" b="true">
                <a:solidFill>
                  <a:srgbClr val="202F5A"/>
                </a:solidFill>
                <a:latin typeface="Arial Bold"/>
                <a:ea typeface="Arial Bold"/>
                <a:cs typeface="Arial Bold"/>
                <a:sym typeface="Arial Bold"/>
              </a:rPr>
              <a:t>ng </a:t>
            </a:r>
            <a:r>
              <a:rPr lang="en-US" sz="2600" b="true">
                <a:solidFill>
                  <a:srgbClr val="202F5A"/>
                </a:solidFill>
                <a:latin typeface="Arial Bold"/>
                <a:ea typeface="Arial Bold"/>
                <a:cs typeface="Arial Bold"/>
                <a:sym typeface="Arial Bold"/>
              </a:rPr>
              <a:t>thang Likert </a:t>
            </a:r>
            <a:r>
              <a:rPr lang="en-US" sz="2600">
                <a:solidFill>
                  <a:srgbClr val="202F5A"/>
                </a:solidFill>
                <a:latin typeface="Arial"/>
                <a:ea typeface="Arial"/>
                <a:cs typeface="Arial"/>
                <a:sym typeface="Arial"/>
              </a:rPr>
              <a:t>công cụ khảo sát phổ biến dùng để đo lường thái độ, quan điểm hoặc mức độ đồng tình của một người với các mức độ từ tiêu cực đến tích cực.</a:t>
            </a:r>
          </a:p>
          <a:p>
            <a:pPr algn="l">
              <a:lnSpc>
                <a:spcPts val="2704"/>
              </a:lnSpc>
            </a:pPr>
          </a:p>
          <a:p>
            <a:pPr algn="l">
              <a:lnSpc>
                <a:spcPts val="2704"/>
              </a:lnSpc>
            </a:pPr>
            <a:r>
              <a:rPr lang="en-US" sz="2600">
                <a:solidFill>
                  <a:srgbClr val="202F5A"/>
                </a:solidFill>
                <a:latin typeface="Arial"/>
                <a:ea typeface="Arial"/>
                <a:cs typeface="Arial"/>
                <a:sym typeface="Arial"/>
              </a:rPr>
              <a:t>Ưu điểm: Dễ hiểu, dễ trả lời, thu thập dữ liệu định lượng nhanh chóng.</a:t>
            </a:r>
          </a:p>
          <a:p>
            <a:pPr algn="l">
              <a:lnSpc>
                <a:spcPts val="2704"/>
              </a:lnSpc>
            </a:pPr>
            <a:r>
              <a:rPr lang="en-US" sz="2600" b="true">
                <a:solidFill>
                  <a:srgbClr val="202F5A"/>
                </a:solidFill>
                <a:latin typeface="Arial Bold"/>
                <a:ea typeface="Arial Bold"/>
                <a:cs typeface="Arial Bold"/>
                <a:sym typeface="Arial Bold"/>
              </a:rPr>
              <a:t>Hạn chế:</a:t>
            </a:r>
            <a:r>
              <a:rPr lang="en-US" sz="2600">
                <a:solidFill>
                  <a:srgbClr val="202F5A"/>
                </a:solidFill>
                <a:latin typeface="Arial"/>
                <a:ea typeface="Arial"/>
                <a:cs typeface="Arial"/>
                <a:sym typeface="Arial"/>
              </a:rPr>
              <a:t> Dễ xảy ra hiện tượng người trả lời chọn đại hoặc chọn an toàn ở mức trung lập. </a:t>
            </a:r>
          </a:p>
          <a:p>
            <a:pPr algn="l">
              <a:lnSpc>
                <a:spcPts val="2704"/>
              </a:lnSpc>
            </a:pPr>
          </a:p>
          <a:p>
            <a:pPr algn="l">
              <a:lnSpc>
                <a:spcPts val="2704"/>
              </a:lnSpc>
            </a:pPr>
            <a:r>
              <a:rPr lang="en-US" sz="2600" b="true">
                <a:solidFill>
                  <a:srgbClr val="202F5A"/>
                </a:solidFill>
                <a:latin typeface="Arial Bold"/>
                <a:ea typeface="Arial Bold"/>
                <a:cs typeface="Arial Bold"/>
                <a:sym typeface="Arial Bold"/>
              </a:rPr>
              <a:t>Gồm </a:t>
            </a:r>
            <a:r>
              <a:rPr lang="en-US" sz="2600" b="true">
                <a:solidFill>
                  <a:srgbClr val="202F5A"/>
                </a:solidFill>
                <a:latin typeface="Arial Bold"/>
                <a:ea typeface="Arial Bold"/>
                <a:cs typeface="Arial Bold"/>
                <a:sym typeface="Arial Bold"/>
              </a:rPr>
              <a:t>5 điểm:</a:t>
            </a:r>
          </a:p>
          <a:p>
            <a:pPr algn="l">
              <a:lnSpc>
                <a:spcPts val="2704"/>
              </a:lnSpc>
            </a:pPr>
          </a:p>
          <a:p>
            <a:pPr algn="l">
              <a:lnSpc>
                <a:spcPts val="2704"/>
              </a:lnSpc>
            </a:pPr>
            <a:r>
              <a:rPr lang="en-US" sz="2600" b="true">
                <a:solidFill>
                  <a:srgbClr val="202F5A"/>
                </a:solidFill>
                <a:latin typeface="Arial Bold"/>
                <a:ea typeface="Arial Bold"/>
                <a:cs typeface="Arial Bold"/>
                <a:sym typeface="Arial Bold"/>
              </a:rPr>
              <a:t>ĐiểmÝ nghĩa</a:t>
            </a:r>
          </a:p>
          <a:p>
            <a:pPr algn="l">
              <a:lnSpc>
                <a:spcPts val="2704"/>
              </a:lnSpc>
            </a:pPr>
            <a:r>
              <a:rPr lang="en-US" sz="2600" b="true">
                <a:solidFill>
                  <a:srgbClr val="202F5A"/>
                </a:solidFill>
                <a:latin typeface="Arial Bold"/>
                <a:ea typeface="Arial Bold"/>
                <a:cs typeface="Arial Bold"/>
                <a:sym typeface="Arial Bold"/>
              </a:rPr>
              <a:t>1     Hoàn toàn khô</a:t>
            </a:r>
            <a:r>
              <a:rPr lang="en-US" sz="2600" b="true">
                <a:solidFill>
                  <a:srgbClr val="202F5A"/>
                </a:solidFill>
                <a:latin typeface="Arial Bold"/>
                <a:ea typeface="Arial Bold"/>
                <a:cs typeface="Arial Bold"/>
                <a:sym typeface="Arial Bold"/>
              </a:rPr>
              <a:t>ng đồng ý (0%)</a:t>
            </a:r>
          </a:p>
          <a:p>
            <a:pPr algn="l">
              <a:lnSpc>
                <a:spcPts val="2704"/>
              </a:lnSpc>
            </a:pPr>
            <a:r>
              <a:rPr lang="en-US" sz="2600" b="true">
                <a:solidFill>
                  <a:srgbClr val="202F5A"/>
                </a:solidFill>
                <a:latin typeface="Arial Bold"/>
                <a:ea typeface="Arial Bold"/>
                <a:cs typeface="Arial Bold"/>
                <a:sym typeface="Arial Bold"/>
              </a:rPr>
              <a:t>2     K</a:t>
            </a:r>
            <a:r>
              <a:rPr lang="en-US" sz="2600" b="true">
                <a:solidFill>
                  <a:srgbClr val="202F5A"/>
                </a:solidFill>
                <a:latin typeface="Arial Bold"/>
                <a:ea typeface="Arial Bold"/>
                <a:cs typeface="Arial Bold"/>
                <a:sym typeface="Arial Bold"/>
              </a:rPr>
              <a:t>hông đồng ý (&lt;40%)</a:t>
            </a:r>
          </a:p>
          <a:p>
            <a:pPr algn="l">
              <a:lnSpc>
                <a:spcPts val="2704"/>
              </a:lnSpc>
            </a:pPr>
            <a:r>
              <a:rPr lang="en-US" sz="2600" b="true">
                <a:solidFill>
                  <a:srgbClr val="202F5A"/>
                </a:solidFill>
                <a:latin typeface="Arial Bold"/>
                <a:ea typeface="Arial Bold"/>
                <a:cs typeface="Arial Bold"/>
                <a:sym typeface="Arial Bold"/>
              </a:rPr>
              <a:t>3     Trung lập (50-50)</a:t>
            </a:r>
          </a:p>
          <a:p>
            <a:pPr algn="l">
              <a:lnSpc>
                <a:spcPts val="2704"/>
              </a:lnSpc>
            </a:pPr>
            <a:r>
              <a:rPr lang="en-US" sz="2600" b="true">
                <a:solidFill>
                  <a:srgbClr val="202F5A"/>
                </a:solidFill>
                <a:latin typeface="Arial Bold"/>
                <a:ea typeface="Arial Bold"/>
                <a:cs typeface="Arial Bold"/>
                <a:sym typeface="Arial Bold"/>
              </a:rPr>
              <a:t>4     Đồng ý (70-80%)</a:t>
            </a:r>
          </a:p>
          <a:p>
            <a:pPr algn="l">
              <a:lnSpc>
                <a:spcPts val="2704"/>
              </a:lnSpc>
            </a:pPr>
            <a:r>
              <a:rPr lang="en-US" sz="2600" b="true">
                <a:solidFill>
                  <a:srgbClr val="202F5A"/>
                </a:solidFill>
                <a:latin typeface="Arial Bold"/>
                <a:ea typeface="Arial Bold"/>
                <a:cs typeface="Arial Bold"/>
                <a:sym typeface="Arial Bold"/>
              </a:rPr>
              <a:t>5     H</a:t>
            </a:r>
            <a:r>
              <a:rPr lang="en-US" sz="2600" b="true">
                <a:solidFill>
                  <a:srgbClr val="202F5A"/>
                </a:solidFill>
                <a:latin typeface="Arial Bold"/>
                <a:ea typeface="Arial Bold"/>
                <a:cs typeface="Arial Bold"/>
                <a:sym typeface="Arial Bold"/>
              </a:rPr>
              <a:t>oàn toàn đồng ý (100%)</a:t>
            </a:r>
          </a:p>
          <a:p>
            <a:pPr algn="l">
              <a:lnSpc>
                <a:spcPts val="2704"/>
              </a:lnSpc>
            </a:pPr>
            <a:r>
              <a:rPr lang="en-US" sz="2600">
                <a:solidFill>
                  <a:srgbClr val="202F5A"/>
                </a:solidFill>
                <a:latin typeface="Arial"/>
                <a:ea typeface="Arial"/>
                <a:cs typeface="Arial"/>
                <a:sym typeface="Arial"/>
              </a:rPr>
              <a:t>ví dụ:</a:t>
            </a:r>
          </a:p>
          <a:p>
            <a:pPr algn="l">
              <a:lnSpc>
                <a:spcPts val="2704"/>
              </a:lnSpc>
            </a:pPr>
            <a:r>
              <a:rPr lang="en-US" sz="2600">
                <a:solidFill>
                  <a:srgbClr val="202F5A"/>
                </a:solidFill>
                <a:latin typeface="Arial"/>
                <a:ea typeface="Arial"/>
                <a:cs typeface="Arial"/>
                <a:sym typeface="Arial"/>
              </a:rPr>
              <a:t>Thấy bạn bị bắt nạt ⟶ báo giáo viên: điểm 5</a:t>
            </a:r>
          </a:p>
          <a:p>
            <a:pPr algn="l">
              <a:lnSpc>
                <a:spcPts val="2704"/>
              </a:lnSpc>
            </a:pPr>
            <a:r>
              <a:rPr lang="en-US" sz="2600">
                <a:solidFill>
                  <a:srgbClr val="202F5A"/>
                </a:solidFill>
                <a:latin typeface="Arial"/>
                <a:ea typeface="Arial"/>
                <a:cs typeface="Arial"/>
                <a:sym typeface="Arial"/>
              </a:rPr>
              <a:t>Thấy bạn bị bắt nạt ⟶ bỏ qua, cười: điểm 1</a:t>
            </a:r>
          </a:p>
          <a:p>
            <a:pPr algn="l">
              <a:lnSpc>
                <a:spcPts val="2704"/>
              </a:lnSpc>
            </a:pPr>
          </a:p>
        </p:txBody>
      </p:sp>
      <p:sp>
        <p:nvSpPr>
          <p:cNvPr name="TextBox 12" id="12"/>
          <p:cNvSpPr txBox="true"/>
          <p:nvPr/>
        </p:nvSpPr>
        <p:spPr>
          <a:xfrm rot="0">
            <a:off x="2821294" y="1657667"/>
            <a:ext cx="12664830" cy="112458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Chỉ số 1 - Thấu cảm</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5244" y="-2071299"/>
            <a:ext cx="10038324" cy="15293846"/>
          </a:xfrm>
          <a:custGeom>
            <a:avLst/>
            <a:gdLst/>
            <a:ahLst/>
            <a:cxnLst/>
            <a:rect r="r" b="b" t="t" l="l"/>
            <a:pathLst>
              <a:path h="15293846" w="10038324">
                <a:moveTo>
                  <a:pt x="0" y="0"/>
                </a:moveTo>
                <a:lnTo>
                  <a:pt x="10038324" y="0"/>
                </a:lnTo>
                <a:lnTo>
                  <a:pt x="10038324" y="15293846"/>
                </a:lnTo>
                <a:lnTo>
                  <a:pt x="0" y="1529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60856">
            <a:off x="14701639" y="8805447"/>
            <a:ext cx="3582645" cy="1198558"/>
          </a:xfrm>
          <a:custGeom>
            <a:avLst/>
            <a:gdLst/>
            <a:ahLst/>
            <a:cxnLst/>
            <a:rect r="r" b="b" t="t" l="l"/>
            <a:pathLst>
              <a:path h="1198558" w="3582645">
                <a:moveTo>
                  <a:pt x="0" y="0"/>
                </a:moveTo>
                <a:lnTo>
                  <a:pt x="3582644" y="0"/>
                </a:lnTo>
                <a:lnTo>
                  <a:pt x="3582644" y="1198558"/>
                </a:lnTo>
                <a:lnTo>
                  <a:pt x="0" y="11985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402455" y="1624012"/>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5108979" y="4135755"/>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sp>
        <p:nvSpPr>
          <p:cNvPr name="Freeform 11" id="11"/>
          <p:cNvSpPr/>
          <p:nvPr/>
        </p:nvSpPr>
        <p:spPr>
          <a:xfrm flipH="false" flipV="false" rot="0">
            <a:off x="11613344" y="4859655"/>
            <a:ext cx="3872780" cy="3872780"/>
          </a:xfrm>
          <a:custGeom>
            <a:avLst/>
            <a:gdLst/>
            <a:ahLst/>
            <a:cxnLst/>
            <a:rect r="r" b="b" t="t" l="l"/>
            <a:pathLst>
              <a:path h="3872780" w="3872780">
                <a:moveTo>
                  <a:pt x="0" y="0"/>
                </a:moveTo>
                <a:lnTo>
                  <a:pt x="3872780" y="0"/>
                </a:lnTo>
                <a:lnTo>
                  <a:pt x="3872780" y="3872780"/>
                </a:lnTo>
                <a:lnTo>
                  <a:pt x="0" y="3872780"/>
                </a:lnTo>
                <a:lnTo>
                  <a:pt x="0" y="0"/>
                </a:lnTo>
                <a:close/>
              </a:path>
            </a:pathLst>
          </a:custGeom>
          <a:blipFill>
            <a:blip r:embed="rId8"/>
            <a:stretch>
              <a:fillRect l="0" t="0" r="0" b="0"/>
            </a:stretch>
          </a:blipFill>
        </p:spPr>
      </p:sp>
      <p:sp>
        <p:nvSpPr>
          <p:cNvPr name="TextBox 12" id="12"/>
          <p:cNvSpPr txBox="true"/>
          <p:nvPr/>
        </p:nvSpPr>
        <p:spPr>
          <a:xfrm rot="0">
            <a:off x="3255546" y="4154805"/>
            <a:ext cx="8135322" cy="5863083"/>
          </a:xfrm>
          <a:prstGeom prst="rect">
            <a:avLst/>
          </a:prstGeom>
        </p:spPr>
        <p:txBody>
          <a:bodyPr anchor="t" rtlCol="false" tIns="0" lIns="0" bIns="0" rIns="0">
            <a:spAutoFit/>
          </a:bodyPr>
          <a:lstStyle/>
          <a:p>
            <a:pPr algn="l">
              <a:lnSpc>
                <a:spcPts val="2704"/>
              </a:lnSpc>
            </a:pPr>
            <a:r>
              <a:rPr lang="en-US" sz="2600" b="true">
                <a:solidFill>
                  <a:srgbClr val="202F5A"/>
                </a:solidFill>
                <a:latin typeface="Arial Bold"/>
                <a:ea typeface="Arial Bold"/>
                <a:cs typeface="Arial Bold"/>
                <a:sym typeface="Arial Bold"/>
              </a:rPr>
              <a:t>Self-efficacy </a:t>
            </a:r>
            <a:r>
              <a:rPr lang="en-US" sz="2600">
                <a:solidFill>
                  <a:srgbClr val="202F5A"/>
                </a:solidFill>
                <a:latin typeface="Arial"/>
                <a:ea typeface="Arial"/>
                <a:cs typeface="Arial"/>
                <a:sym typeface="Arial"/>
              </a:rPr>
              <a:t>là niềm t</a:t>
            </a:r>
            <a:r>
              <a:rPr lang="en-US" sz="2600">
                <a:solidFill>
                  <a:srgbClr val="202F5A"/>
                </a:solidFill>
                <a:latin typeface="Arial"/>
                <a:ea typeface="Arial"/>
                <a:cs typeface="Arial"/>
                <a:sym typeface="Arial"/>
              </a:rPr>
              <a:t>in của một cá nhân rằng họ có khả năng thực hiện một hành động cụ thể.</a:t>
            </a:r>
          </a:p>
          <a:p>
            <a:pPr algn="l">
              <a:lnSpc>
                <a:spcPts val="2704"/>
              </a:lnSpc>
            </a:pPr>
          </a:p>
          <a:p>
            <a:pPr algn="l">
              <a:lnSpc>
                <a:spcPts val="2704"/>
              </a:lnSpc>
            </a:pPr>
            <a:r>
              <a:rPr lang="en-US" sz="2600" b="true">
                <a:solidFill>
                  <a:srgbClr val="202F5A"/>
                </a:solidFill>
                <a:latin typeface="Arial Bold"/>
                <a:ea typeface="Arial Bold"/>
                <a:cs typeface="Arial Bold"/>
                <a:sym typeface="Arial Bold"/>
              </a:rPr>
              <a:t>Trong đề tài:</a:t>
            </a:r>
          </a:p>
          <a:p>
            <a:pPr algn="l">
              <a:lnSpc>
                <a:spcPts val="2704"/>
              </a:lnSpc>
            </a:pPr>
          </a:p>
          <a:p>
            <a:pPr algn="l">
              <a:lnSpc>
                <a:spcPts val="2704"/>
              </a:lnSpc>
            </a:pPr>
            <a:r>
              <a:rPr lang="en-US" sz="2600" b="true">
                <a:solidFill>
                  <a:srgbClr val="202F5A"/>
                </a:solidFill>
                <a:latin typeface="Arial Bold"/>
                <a:ea typeface="Arial Bold"/>
                <a:cs typeface="Arial Bold"/>
                <a:sym typeface="Arial Bold"/>
              </a:rPr>
              <a:t>Inte</a:t>
            </a:r>
            <a:r>
              <a:rPr lang="en-US" sz="2600" b="true">
                <a:solidFill>
                  <a:srgbClr val="202F5A"/>
                </a:solidFill>
                <a:latin typeface="Arial Bold"/>
                <a:ea typeface="Arial Bold"/>
                <a:cs typeface="Arial Bold"/>
                <a:sym typeface="Arial Bold"/>
              </a:rPr>
              <a:t>rvention Self-Efficacy = mức độ tự tin rằng mình có thể xử lý/can thiệp phù hợp khi chứng kiến bắt nạt.</a:t>
            </a:r>
          </a:p>
          <a:p>
            <a:pPr algn="l">
              <a:lnSpc>
                <a:spcPts val="2704"/>
              </a:lnSpc>
            </a:pPr>
          </a:p>
          <a:p>
            <a:pPr algn="l">
              <a:lnSpc>
                <a:spcPts val="2704"/>
              </a:lnSpc>
            </a:pPr>
            <a:r>
              <a:rPr lang="en-US" sz="2600" b="true">
                <a:solidFill>
                  <a:srgbClr val="202F5A"/>
                </a:solidFill>
                <a:latin typeface="Arial Bold"/>
                <a:ea typeface="Arial Bold"/>
                <a:cs typeface="Arial Bold"/>
                <a:sym typeface="Arial Bold"/>
              </a:rPr>
              <a:t>Ví dụ:</a:t>
            </a:r>
          </a:p>
          <a:p>
            <a:pPr algn="l">
              <a:lnSpc>
                <a:spcPts val="2704"/>
              </a:lnSpc>
            </a:pPr>
          </a:p>
          <a:p>
            <a:pPr algn="l">
              <a:lnSpc>
                <a:spcPts val="2704"/>
              </a:lnSpc>
            </a:pPr>
            <a:r>
              <a:rPr lang="en-US" sz="2600">
                <a:solidFill>
                  <a:srgbClr val="202F5A"/>
                </a:solidFill>
                <a:latin typeface="Arial"/>
                <a:ea typeface="Arial"/>
                <a:cs typeface="Arial"/>
                <a:sym typeface="Arial"/>
              </a:rPr>
              <a:t>“Tôi biết mình nên làm gì nếu nhìn thấy một bạn bị bắt nạt.”</a:t>
            </a:r>
          </a:p>
          <a:p>
            <a:pPr algn="l">
              <a:lnSpc>
                <a:spcPts val="2704"/>
              </a:lnSpc>
            </a:pPr>
            <a:r>
              <a:rPr lang="en-US" sz="2600">
                <a:solidFill>
                  <a:srgbClr val="202F5A"/>
                </a:solidFill>
                <a:latin typeface="Arial"/>
                <a:ea typeface="Arial"/>
                <a:cs typeface="Arial"/>
                <a:sym typeface="Arial"/>
              </a:rPr>
              <a:t>&gt;&lt;</a:t>
            </a:r>
          </a:p>
          <a:p>
            <a:pPr algn="l">
              <a:lnSpc>
                <a:spcPts val="2704"/>
              </a:lnSpc>
            </a:pPr>
            <a:r>
              <a:rPr lang="en-US" sz="2600">
                <a:solidFill>
                  <a:srgbClr val="202F5A"/>
                </a:solidFill>
                <a:latin typeface="Arial"/>
                <a:ea typeface="Arial"/>
                <a:cs typeface="Arial"/>
                <a:sym typeface="Arial"/>
              </a:rPr>
              <a:t>“Tôi có nghĩ rằng bắt nạt là sai hay không?”</a:t>
            </a:r>
          </a:p>
          <a:p>
            <a:pPr algn="l">
              <a:lnSpc>
                <a:spcPts val="2704"/>
              </a:lnSpc>
            </a:pPr>
          </a:p>
          <a:p>
            <a:pPr algn="l">
              <a:lnSpc>
                <a:spcPts val="2704"/>
              </a:lnSpc>
            </a:pPr>
          </a:p>
        </p:txBody>
      </p:sp>
      <p:sp>
        <p:nvSpPr>
          <p:cNvPr name="TextBox 13" id="13"/>
          <p:cNvSpPr txBox="true"/>
          <p:nvPr/>
        </p:nvSpPr>
        <p:spPr>
          <a:xfrm rot="0">
            <a:off x="2821294" y="1657667"/>
            <a:ext cx="12664830" cy="217233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Chỉ số 2 - Tự tin/ niềm tin vào khả năng ứng phó</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5244" y="-2071299"/>
            <a:ext cx="10038324" cy="15293846"/>
          </a:xfrm>
          <a:custGeom>
            <a:avLst/>
            <a:gdLst/>
            <a:ahLst/>
            <a:cxnLst/>
            <a:rect r="r" b="b" t="t" l="l"/>
            <a:pathLst>
              <a:path h="15293846" w="10038324">
                <a:moveTo>
                  <a:pt x="0" y="0"/>
                </a:moveTo>
                <a:lnTo>
                  <a:pt x="10038324" y="0"/>
                </a:lnTo>
                <a:lnTo>
                  <a:pt x="10038324" y="15293846"/>
                </a:lnTo>
                <a:lnTo>
                  <a:pt x="0" y="1529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60856">
            <a:off x="14701639" y="8805447"/>
            <a:ext cx="3582645" cy="1198558"/>
          </a:xfrm>
          <a:custGeom>
            <a:avLst/>
            <a:gdLst/>
            <a:ahLst/>
            <a:cxnLst/>
            <a:rect r="r" b="b" t="t" l="l"/>
            <a:pathLst>
              <a:path h="1198558" w="3582645">
                <a:moveTo>
                  <a:pt x="0" y="0"/>
                </a:moveTo>
                <a:lnTo>
                  <a:pt x="3582644" y="0"/>
                </a:lnTo>
                <a:lnTo>
                  <a:pt x="3582644" y="1198558"/>
                </a:lnTo>
                <a:lnTo>
                  <a:pt x="0" y="11985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402455" y="1624012"/>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5108979" y="4135755"/>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sp>
        <p:nvSpPr>
          <p:cNvPr name="Freeform 11" id="11"/>
          <p:cNvSpPr/>
          <p:nvPr/>
        </p:nvSpPr>
        <p:spPr>
          <a:xfrm flipH="false" flipV="false" rot="0">
            <a:off x="11211018" y="4786593"/>
            <a:ext cx="3897961" cy="3880559"/>
          </a:xfrm>
          <a:custGeom>
            <a:avLst/>
            <a:gdLst/>
            <a:ahLst/>
            <a:cxnLst/>
            <a:rect r="r" b="b" t="t" l="l"/>
            <a:pathLst>
              <a:path h="3880559" w="3897961">
                <a:moveTo>
                  <a:pt x="0" y="0"/>
                </a:moveTo>
                <a:lnTo>
                  <a:pt x="3897961" y="0"/>
                </a:lnTo>
                <a:lnTo>
                  <a:pt x="3897961" y="3880559"/>
                </a:lnTo>
                <a:lnTo>
                  <a:pt x="0" y="3880559"/>
                </a:lnTo>
                <a:lnTo>
                  <a:pt x="0" y="0"/>
                </a:lnTo>
                <a:close/>
              </a:path>
            </a:pathLst>
          </a:custGeom>
          <a:blipFill>
            <a:blip r:embed="rId8"/>
            <a:stretch>
              <a:fillRect l="0" t="0" r="0" b="0"/>
            </a:stretch>
          </a:blipFill>
        </p:spPr>
      </p:sp>
      <p:sp>
        <p:nvSpPr>
          <p:cNvPr name="TextBox 12" id="12"/>
          <p:cNvSpPr txBox="true"/>
          <p:nvPr/>
        </p:nvSpPr>
        <p:spPr>
          <a:xfrm rot="0">
            <a:off x="2707528" y="4041593"/>
            <a:ext cx="7968913" cy="3805683"/>
          </a:xfrm>
          <a:prstGeom prst="rect">
            <a:avLst/>
          </a:prstGeom>
        </p:spPr>
        <p:txBody>
          <a:bodyPr anchor="t" rtlCol="false" tIns="0" lIns="0" bIns="0" rIns="0">
            <a:spAutoFit/>
          </a:bodyPr>
          <a:lstStyle/>
          <a:p>
            <a:pPr algn="l">
              <a:lnSpc>
                <a:spcPts val="2704"/>
              </a:lnSpc>
            </a:pPr>
            <a:r>
              <a:rPr lang="en-US" sz="2600" b="true">
                <a:solidFill>
                  <a:srgbClr val="202F5A"/>
                </a:solidFill>
                <a:latin typeface="Arial Bold"/>
                <a:ea typeface="Arial Bold"/>
                <a:cs typeface="Arial Bold"/>
                <a:sym typeface="Arial Bold"/>
              </a:rPr>
              <a:t>Giải thích:</a:t>
            </a:r>
          </a:p>
          <a:p>
            <a:pPr algn="l">
              <a:lnSpc>
                <a:spcPts val="2704"/>
              </a:lnSpc>
            </a:pPr>
            <a:r>
              <a:rPr lang="en-US" sz="2600">
                <a:solidFill>
                  <a:srgbClr val="202F5A"/>
                </a:solidFill>
                <a:latin typeface="Arial"/>
                <a:ea typeface="Arial"/>
                <a:cs typeface="Arial"/>
                <a:sym typeface="Arial"/>
              </a:rPr>
              <a:t>In</a:t>
            </a:r>
            <a:r>
              <a:rPr lang="en-US" sz="2600">
                <a:solidFill>
                  <a:srgbClr val="202F5A"/>
                </a:solidFill>
                <a:latin typeface="Arial"/>
                <a:ea typeface="Arial"/>
                <a:cs typeface="Arial"/>
                <a:sym typeface="Arial"/>
              </a:rPr>
              <a:t>tervention Intention phản ánh mứ</a:t>
            </a:r>
            <a:r>
              <a:rPr lang="en-US" sz="2600">
                <a:solidFill>
                  <a:srgbClr val="202F5A"/>
                </a:solidFill>
                <a:latin typeface="Arial"/>
                <a:ea typeface="Arial"/>
                <a:cs typeface="Arial"/>
                <a:sym typeface="Arial"/>
              </a:rPr>
              <a:t>c độ sẵn sàng hoặc ý định thực hiện hành động khi gặp một tình huống, quy trình hoặc hành vi nào đó với mong muốn cải thiện kết quả, ngăn ngừa rủi ro hoặc giải quyết vấn đề đang xảy ra</a:t>
            </a:r>
          </a:p>
          <a:p>
            <a:pPr algn="l">
              <a:lnSpc>
                <a:spcPts val="2704"/>
              </a:lnSpc>
            </a:pPr>
          </a:p>
          <a:p>
            <a:pPr algn="l">
              <a:lnSpc>
                <a:spcPts val="2704"/>
              </a:lnSpc>
            </a:pPr>
            <a:r>
              <a:rPr lang="en-US" sz="2600" b="true">
                <a:solidFill>
                  <a:srgbClr val="202F5A"/>
                </a:solidFill>
                <a:latin typeface="Arial Bold"/>
                <a:ea typeface="Arial Bold"/>
                <a:cs typeface="Arial Bold"/>
                <a:sym typeface="Arial Bold"/>
              </a:rPr>
              <a:t>Ví</a:t>
            </a:r>
            <a:r>
              <a:rPr lang="en-US" sz="2600" b="true">
                <a:solidFill>
                  <a:srgbClr val="202F5A"/>
                </a:solidFill>
                <a:latin typeface="Arial Bold"/>
                <a:ea typeface="Arial Bold"/>
                <a:cs typeface="Arial Bold"/>
                <a:sym typeface="Arial Bold"/>
              </a:rPr>
              <a:t> dụ:</a:t>
            </a:r>
          </a:p>
          <a:p>
            <a:pPr algn="l">
              <a:lnSpc>
                <a:spcPts val="2704"/>
              </a:lnSpc>
            </a:pPr>
            <a:r>
              <a:rPr lang="en-US" sz="2600">
                <a:solidFill>
                  <a:srgbClr val="202F5A"/>
                </a:solidFill>
                <a:latin typeface="Arial"/>
                <a:ea typeface="Arial"/>
                <a:cs typeface="Arial"/>
                <a:sym typeface="Arial"/>
              </a:rPr>
              <a:t>“N</a:t>
            </a:r>
            <a:r>
              <a:rPr lang="en-US" sz="2600">
                <a:solidFill>
                  <a:srgbClr val="202F5A"/>
                </a:solidFill>
                <a:latin typeface="Arial"/>
                <a:ea typeface="Arial"/>
                <a:cs typeface="Arial"/>
                <a:sym typeface="Arial"/>
              </a:rPr>
              <a:t>ếu tôi chứng kiến một bạn bị bắt nạt, tôi sẽ cố gắng giúp đỡ bạn ấy.”</a:t>
            </a:r>
          </a:p>
          <a:p>
            <a:pPr algn="l">
              <a:lnSpc>
                <a:spcPts val="2704"/>
              </a:lnSpc>
            </a:pPr>
          </a:p>
        </p:txBody>
      </p:sp>
      <p:sp>
        <p:nvSpPr>
          <p:cNvPr name="TextBox 13" id="13"/>
          <p:cNvSpPr txBox="true"/>
          <p:nvPr/>
        </p:nvSpPr>
        <p:spPr>
          <a:xfrm rot="0">
            <a:off x="2821294" y="1657667"/>
            <a:ext cx="12664830" cy="217233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Chỉ số 3 - Ý định can thiệp</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5244" y="-2071299"/>
            <a:ext cx="10038324" cy="15293846"/>
          </a:xfrm>
          <a:custGeom>
            <a:avLst/>
            <a:gdLst/>
            <a:ahLst/>
            <a:cxnLst/>
            <a:rect r="r" b="b" t="t" l="l"/>
            <a:pathLst>
              <a:path h="15293846" w="10038324">
                <a:moveTo>
                  <a:pt x="0" y="0"/>
                </a:moveTo>
                <a:lnTo>
                  <a:pt x="10038324" y="0"/>
                </a:lnTo>
                <a:lnTo>
                  <a:pt x="10038324" y="15293846"/>
                </a:lnTo>
                <a:lnTo>
                  <a:pt x="0" y="1529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60856">
            <a:off x="14701639" y="8805447"/>
            <a:ext cx="3582645" cy="1198558"/>
          </a:xfrm>
          <a:custGeom>
            <a:avLst/>
            <a:gdLst/>
            <a:ahLst/>
            <a:cxnLst/>
            <a:rect r="r" b="b" t="t" l="l"/>
            <a:pathLst>
              <a:path h="1198558" w="3582645">
                <a:moveTo>
                  <a:pt x="0" y="0"/>
                </a:moveTo>
                <a:lnTo>
                  <a:pt x="3582644" y="0"/>
                </a:lnTo>
                <a:lnTo>
                  <a:pt x="3582644" y="1198558"/>
                </a:lnTo>
                <a:lnTo>
                  <a:pt x="0" y="11985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402455" y="1624012"/>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5108979" y="4135755"/>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sp>
        <p:nvSpPr>
          <p:cNvPr name="TextBox 11" id="11"/>
          <p:cNvSpPr txBox="true"/>
          <p:nvPr/>
        </p:nvSpPr>
        <p:spPr>
          <a:xfrm rot="0">
            <a:off x="2821294" y="1657667"/>
            <a:ext cx="12664830" cy="112458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PHÂN</a:t>
            </a:r>
            <a:r>
              <a:rPr lang="en-US" sz="8000" b="true">
                <a:solidFill>
                  <a:srgbClr val="202F5A"/>
                </a:solidFill>
                <a:latin typeface="Arial Bold"/>
                <a:ea typeface="Arial Bold"/>
                <a:cs typeface="Arial Bold"/>
                <a:sym typeface="Arial Bold"/>
              </a:rPr>
              <a:t> BIỆT 3 KHÁI NIỆM</a:t>
            </a:r>
          </a:p>
        </p:txBody>
      </p:sp>
      <p:graphicFrame>
        <p:nvGraphicFramePr>
          <p:cNvPr name="Table 12" id="12"/>
          <p:cNvGraphicFramePr>
            <a:graphicFrameLocks noGrp="true"/>
          </p:cNvGraphicFramePr>
          <p:nvPr/>
        </p:nvGraphicFramePr>
        <p:xfrm>
          <a:off x="3980212" y="3709473"/>
          <a:ext cx="10346993" cy="4496549"/>
        </p:xfrm>
        <a:graphic>
          <a:graphicData uri="http://schemas.openxmlformats.org/drawingml/2006/table">
            <a:tbl>
              <a:tblPr/>
              <a:tblGrid>
                <a:gridCol w="3848945"/>
                <a:gridCol w="6498048"/>
              </a:tblGrid>
              <a:tr h="992703">
                <a:tc>
                  <a:txBody>
                    <a:bodyPr anchor="t" rtlCol="false"/>
                    <a:lstStyle/>
                    <a:p>
                      <a:pPr algn="ctr">
                        <a:lnSpc>
                          <a:spcPts val="3359"/>
                        </a:lnSpc>
                        <a:defRPr/>
                      </a:pPr>
                      <a:r>
                        <a:rPr lang="en-US" sz="2400" b="true">
                          <a:solidFill>
                            <a:srgbClr val="FFFFFF"/>
                          </a:solidFill>
                          <a:latin typeface="Codec Pro Bold"/>
                          <a:ea typeface="Codec Pro Bold"/>
                          <a:cs typeface="Codec Pro Bold"/>
                          <a:sym typeface="Codec Pro Bold"/>
                        </a:rPr>
                        <a:t>Khái niệm</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608DF2"/>
                    </a:solidFill>
                  </a:tcPr>
                </a:tc>
                <a:tc>
                  <a:txBody>
                    <a:bodyPr anchor="t" rtlCol="false"/>
                    <a:lstStyle/>
                    <a:p>
                      <a:pPr algn="ctr">
                        <a:lnSpc>
                          <a:spcPts val="3359"/>
                        </a:lnSpc>
                        <a:defRPr/>
                      </a:pPr>
                      <a:r>
                        <a:rPr lang="en-US" sz="2400" b="true">
                          <a:solidFill>
                            <a:srgbClr val="FFFFFF"/>
                          </a:solidFill>
                          <a:latin typeface="Codec Pro Bold"/>
                          <a:ea typeface="Codec Pro Bold"/>
                          <a:cs typeface="Codec Pro Bold"/>
                          <a:sym typeface="Codec Pro Bold"/>
                        </a:rPr>
                        <a:t>Câu hỏi</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75A0FF"/>
                    </a:solidFill>
                  </a:tcPr>
                </a:tc>
              </a:tr>
              <a:tr h="1412692">
                <a:tc>
                  <a:txBody>
                    <a:bodyPr anchor="t" rtlCol="false"/>
                    <a:lstStyle/>
                    <a:p>
                      <a:pPr algn="ctr">
                        <a:lnSpc>
                          <a:spcPts val="3359"/>
                        </a:lnSpc>
                        <a:defRPr/>
                      </a:pPr>
                      <a:r>
                        <a:rPr lang="en-US" sz="2400" b="true">
                          <a:solidFill>
                            <a:srgbClr val="000000"/>
                          </a:solidFill>
                          <a:latin typeface="Codec Pro Bold"/>
                          <a:ea typeface="Codec Pro Bold"/>
                          <a:cs typeface="Codec Pro Bold"/>
                          <a:sym typeface="Codec Pro Bold"/>
                        </a:rPr>
                        <a:t>Emp</a:t>
                      </a:r>
                      <a:r>
                        <a:rPr lang="en-US" sz="2400" b="true">
                          <a:solidFill>
                            <a:srgbClr val="000000"/>
                          </a:solidFill>
                          <a:latin typeface="Codec Pro Bold"/>
                          <a:ea typeface="Codec Pro Bold"/>
                          <a:cs typeface="Codec Pro Bold"/>
                          <a:sym typeface="Codec Pro Bold"/>
                        </a:rPr>
                        <a:t>athy</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8EFFF"/>
                    </a:solidFill>
                  </a:tcPr>
                </a:tc>
                <a:tc>
                  <a:txBody>
                    <a:bodyPr anchor="t" rtlCol="false"/>
                    <a:lstStyle/>
                    <a:p>
                      <a:pPr algn="l">
                        <a:lnSpc>
                          <a:spcPts val="3359"/>
                        </a:lnSpc>
                        <a:defRPr/>
                      </a:pPr>
                      <a:r>
                        <a:rPr lang="en-US" sz="2400">
                          <a:solidFill>
                            <a:srgbClr val="000000"/>
                          </a:solidFill>
                          <a:latin typeface="Codec Pro"/>
                          <a:ea typeface="Codec Pro"/>
                          <a:cs typeface="Codec Pro"/>
                          <a:sym typeface="Codec Pro"/>
                        </a:rPr>
                        <a:t>Tôi có hiểu/cảm nhận được nỗi đau của người khác không?</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r>
              <a:tr h="1045577">
                <a:tc>
                  <a:txBody>
                    <a:bodyPr anchor="t" rtlCol="false"/>
                    <a:lstStyle/>
                    <a:p>
                      <a:pPr algn="ctr">
                        <a:lnSpc>
                          <a:spcPts val="3359"/>
                        </a:lnSpc>
                        <a:defRPr/>
                      </a:pPr>
                      <a:r>
                        <a:rPr lang="en-US" sz="2400" b="true">
                          <a:solidFill>
                            <a:srgbClr val="000000"/>
                          </a:solidFill>
                          <a:latin typeface="Codec Pro Bold"/>
                          <a:ea typeface="Codec Pro Bold"/>
                          <a:cs typeface="Codec Pro Bold"/>
                          <a:sym typeface="Codec Pro Bold"/>
                        </a:rPr>
                        <a:t>Self-efficac</a:t>
                      </a:r>
                      <a:r>
                        <a:rPr lang="en-US" sz="2400" b="true">
                          <a:solidFill>
                            <a:srgbClr val="000000"/>
                          </a:solidFill>
                          <a:latin typeface="Codec Pro Bold"/>
                          <a:ea typeface="Codec Pro Bold"/>
                          <a:cs typeface="Codec Pro Bold"/>
                          <a:sym typeface="Codec Pro Bold"/>
                        </a:rPr>
                        <a:t>y</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8EFFF"/>
                    </a:solidFill>
                  </a:tcPr>
                </a:tc>
                <a:tc>
                  <a:txBody>
                    <a:bodyPr anchor="t" rtlCol="false"/>
                    <a:lstStyle/>
                    <a:p>
                      <a:pPr algn="l">
                        <a:lnSpc>
                          <a:spcPts val="3359"/>
                        </a:lnSpc>
                        <a:defRPr/>
                      </a:pPr>
                      <a:r>
                        <a:rPr lang="en-US" sz="2400">
                          <a:solidFill>
                            <a:srgbClr val="000000"/>
                          </a:solidFill>
                          <a:latin typeface="Codec Pro"/>
                          <a:ea typeface="Codec Pro"/>
                          <a:cs typeface="Codec Pro"/>
                          <a:sym typeface="Codec Pro"/>
                        </a:rPr>
                        <a:t>Tôi có tin rằng mình làm được không?</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r>
              <a:tr h="1045577">
                <a:tc>
                  <a:txBody>
                    <a:bodyPr anchor="t" rtlCol="false"/>
                    <a:lstStyle/>
                    <a:p>
                      <a:pPr algn="ctr">
                        <a:lnSpc>
                          <a:spcPts val="3359"/>
                        </a:lnSpc>
                        <a:defRPr/>
                      </a:pPr>
                      <a:r>
                        <a:rPr lang="en-US" sz="2400" b="true">
                          <a:solidFill>
                            <a:srgbClr val="000000"/>
                          </a:solidFill>
                          <a:latin typeface="Codec Pro Bold"/>
                          <a:ea typeface="Codec Pro Bold"/>
                          <a:cs typeface="Codec Pro Bold"/>
                          <a:sym typeface="Codec Pro Bold"/>
                        </a:rPr>
                        <a:t>Intent</a:t>
                      </a:r>
                      <a:r>
                        <a:rPr lang="en-US" sz="2400" b="true">
                          <a:solidFill>
                            <a:srgbClr val="000000"/>
                          </a:solidFill>
                          <a:latin typeface="Codec Pro Bold"/>
                          <a:ea typeface="Codec Pro Bold"/>
                          <a:cs typeface="Codec Pro Bold"/>
                          <a:sym typeface="Codec Pro Bold"/>
                        </a:rPr>
                        <a:t>ion</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8EFFF"/>
                    </a:solidFill>
                  </a:tcPr>
                </a:tc>
                <a:tc>
                  <a:txBody>
                    <a:bodyPr anchor="t" rtlCol="false"/>
                    <a:lstStyle/>
                    <a:p>
                      <a:pPr algn="l">
                        <a:lnSpc>
                          <a:spcPts val="3359"/>
                        </a:lnSpc>
                        <a:defRPr/>
                      </a:pPr>
                      <a:r>
                        <a:rPr lang="en-US" sz="2400">
                          <a:solidFill>
                            <a:srgbClr val="000000"/>
                          </a:solidFill>
                          <a:latin typeface="Codec Pro"/>
                          <a:ea typeface="Codec Pro"/>
                          <a:cs typeface="Codec Pro"/>
                          <a:sym typeface="Codec Pro"/>
                        </a:rPr>
                        <a:t>Tôi có định làm hay không?</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r>
            </a:tbl>
          </a:graphicData>
        </a:graphic>
      </p:graphicFrame>
      <p:sp>
        <p:nvSpPr>
          <p:cNvPr name="TextBox 13" id="13"/>
          <p:cNvSpPr txBox="true"/>
          <p:nvPr/>
        </p:nvSpPr>
        <p:spPr>
          <a:xfrm rot="0">
            <a:off x="3256404" y="8662323"/>
            <a:ext cx="12995131" cy="761746"/>
          </a:xfrm>
          <a:prstGeom prst="rect">
            <a:avLst/>
          </a:prstGeom>
        </p:spPr>
        <p:txBody>
          <a:bodyPr anchor="t" rtlCol="false" tIns="0" lIns="0" bIns="0" rIns="0">
            <a:spAutoFit/>
          </a:bodyPr>
          <a:lstStyle/>
          <a:p>
            <a:pPr algn="l">
              <a:lnSpc>
                <a:spcPts val="2911"/>
              </a:lnSpc>
              <a:spcBef>
                <a:spcPct val="0"/>
              </a:spcBef>
            </a:pPr>
            <a:r>
              <a:rPr lang="en-US" b="true" sz="2799">
                <a:solidFill>
                  <a:srgbClr val="202F5A"/>
                </a:solidFill>
                <a:latin typeface="Arial Bold"/>
                <a:ea typeface="Arial Bold"/>
                <a:cs typeface="Arial Bold"/>
                <a:sym typeface="Arial Bold"/>
              </a:rPr>
              <a:t>Câu hỏi: Nếu mà thiếu một trong những cái mắt xích trên thì có chuyện gì có thể xảy ra?</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5244" y="-2071299"/>
            <a:ext cx="10038324" cy="15293846"/>
          </a:xfrm>
          <a:custGeom>
            <a:avLst/>
            <a:gdLst/>
            <a:ahLst/>
            <a:cxnLst/>
            <a:rect r="r" b="b" t="t" l="l"/>
            <a:pathLst>
              <a:path h="15293846" w="10038324">
                <a:moveTo>
                  <a:pt x="0" y="0"/>
                </a:moveTo>
                <a:lnTo>
                  <a:pt x="10038324" y="0"/>
                </a:lnTo>
                <a:lnTo>
                  <a:pt x="10038324" y="15293846"/>
                </a:lnTo>
                <a:lnTo>
                  <a:pt x="0" y="1529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60856">
            <a:off x="14701639" y="8805447"/>
            <a:ext cx="3582645" cy="1198558"/>
          </a:xfrm>
          <a:custGeom>
            <a:avLst/>
            <a:gdLst/>
            <a:ahLst/>
            <a:cxnLst/>
            <a:rect r="r" b="b" t="t" l="l"/>
            <a:pathLst>
              <a:path h="1198558" w="3582645">
                <a:moveTo>
                  <a:pt x="0" y="0"/>
                </a:moveTo>
                <a:lnTo>
                  <a:pt x="3582644" y="0"/>
                </a:lnTo>
                <a:lnTo>
                  <a:pt x="3582644" y="1198558"/>
                </a:lnTo>
                <a:lnTo>
                  <a:pt x="0" y="11985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402455" y="1624012"/>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5108979" y="4135755"/>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sp>
        <p:nvSpPr>
          <p:cNvPr name="TextBox 11" id="11"/>
          <p:cNvSpPr txBox="true"/>
          <p:nvPr/>
        </p:nvSpPr>
        <p:spPr>
          <a:xfrm rot="0">
            <a:off x="3015911" y="3738117"/>
            <a:ext cx="12093068" cy="6548883"/>
          </a:xfrm>
          <a:prstGeom prst="rect">
            <a:avLst/>
          </a:prstGeom>
        </p:spPr>
        <p:txBody>
          <a:bodyPr anchor="t" rtlCol="false" tIns="0" lIns="0" bIns="0" rIns="0">
            <a:spAutoFit/>
          </a:bodyPr>
          <a:lstStyle/>
          <a:p>
            <a:pPr algn="l">
              <a:lnSpc>
                <a:spcPts val="2704"/>
              </a:lnSpc>
            </a:pPr>
            <a:r>
              <a:rPr lang="en-US" sz="2600" b="true">
                <a:solidFill>
                  <a:srgbClr val="202F5A"/>
                </a:solidFill>
                <a:latin typeface="Arial Bold"/>
                <a:ea typeface="Arial Bold"/>
                <a:cs typeface="Arial Bold"/>
                <a:sym typeface="Arial Bold"/>
              </a:rPr>
              <a:t>Pr</a:t>
            </a:r>
            <a:r>
              <a:rPr lang="en-US" sz="2600" b="true">
                <a:solidFill>
                  <a:srgbClr val="202F5A"/>
                </a:solidFill>
                <a:latin typeface="Arial Bold"/>
                <a:ea typeface="Arial Bold"/>
                <a:cs typeface="Arial Bold"/>
                <a:sym typeface="Arial Bold"/>
              </a:rPr>
              <a:t>e-test: </a:t>
            </a:r>
            <a:r>
              <a:rPr lang="en-US" sz="2600">
                <a:solidFill>
                  <a:srgbClr val="202F5A"/>
                </a:solidFill>
                <a:latin typeface="Arial"/>
                <a:ea typeface="Arial"/>
                <a:cs typeface="Arial"/>
                <a:sym typeface="Arial"/>
              </a:rPr>
              <a:t>Đo trạng thái của người tham gia trước khi trải nghiệm game.</a:t>
            </a:r>
          </a:p>
          <a:p>
            <a:pPr algn="l">
              <a:lnSpc>
                <a:spcPts val="2704"/>
              </a:lnSpc>
            </a:pPr>
          </a:p>
          <a:p>
            <a:pPr algn="l">
              <a:lnSpc>
                <a:spcPts val="2704"/>
              </a:lnSpc>
            </a:pPr>
            <a:r>
              <a:rPr lang="en-US" sz="2600" b="true">
                <a:solidFill>
                  <a:srgbClr val="202F5A"/>
                </a:solidFill>
                <a:latin typeface="Arial Bold"/>
                <a:ea typeface="Arial Bold"/>
                <a:cs typeface="Arial Bold"/>
                <a:sym typeface="Arial Bold"/>
              </a:rPr>
              <a:t>Post-test</a:t>
            </a:r>
          </a:p>
          <a:p>
            <a:pPr algn="l">
              <a:lnSpc>
                <a:spcPts val="2704"/>
              </a:lnSpc>
            </a:pPr>
          </a:p>
          <a:p>
            <a:pPr algn="l">
              <a:lnSpc>
                <a:spcPts val="2704"/>
              </a:lnSpc>
            </a:pPr>
            <a:r>
              <a:rPr lang="en-US" sz="2600" b="true">
                <a:solidFill>
                  <a:srgbClr val="202F5A"/>
                </a:solidFill>
                <a:latin typeface="Arial Bold"/>
                <a:ea typeface="Arial Bold"/>
                <a:cs typeface="Arial Bold"/>
                <a:sym typeface="Arial Bold"/>
              </a:rPr>
              <a:t>Link: https://forms.gle/NYVYQHaZknUMCN24A</a:t>
            </a:r>
          </a:p>
          <a:p>
            <a:pPr algn="l">
              <a:lnSpc>
                <a:spcPts val="2704"/>
              </a:lnSpc>
            </a:pPr>
          </a:p>
          <a:p>
            <a:pPr algn="l">
              <a:lnSpc>
                <a:spcPts val="2704"/>
              </a:lnSpc>
            </a:pPr>
            <a:r>
              <a:rPr lang="en-US" sz="2600" b="true">
                <a:solidFill>
                  <a:srgbClr val="202F5A"/>
                </a:solidFill>
                <a:latin typeface="Arial Bold"/>
                <a:ea typeface="Arial Bold"/>
                <a:cs typeface="Arial Bold"/>
                <a:sym typeface="Arial Bold"/>
              </a:rPr>
              <a:t>⟶ Change = Post-test - Pre-test</a:t>
            </a:r>
          </a:p>
          <a:p>
            <a:pPr algn="l">
              <a:lnSpc>
                <a:spcPts val="2704"/>
              </a:lnSpc>
            </a:pPr>
          </a:p>
          <a:p>
            <a:pPr algn="l">
              <a:lnSpc>
                <a:spcPts val="2704"/>
              </a:lnSpc>
            </a:pPr>
            <a:r>
              <a:rPr lang="en-US" sz="2600" b="true">
                <a:solidFill>
                  <a:srgbClr val="202F5A"/>
                </a:solidFill>
                <a:latin typeface="Arial Bold"/>
                <a:ea typeface="Arial Bold"/>
                <a:cs typeface="Arial Bold"/>
                <a:sym typeface="Arial Bold"/>
              </a:rPr>
              <a:t>Nếu dương (chỉ số sau khi chơi &gt; trước khi chơi) ⟶ tích cực (tăng)</a:t>
            </a:r>
          </a:p>
          <a:p>
            <a:pPr algn="l">
              <a:lnSpc>
                <a:spcPts val="2704"/>
              </a:lnSpc>
            </a:pPr>
            <a:r>
              <a:rPr lang="en-US" sz="2600" b="true">
                <a:solidFill>
                  <a:srgbClr val="202F5A"/>
                </a:solidFill>
                <a:latin typeface="Arial Bold"/>
                <a:ea typeface="Arial Bold"/>
                <a:cs typeface="Arial Bold"/>
                <a:sym typeface="Arial Bold"/>
              </a:rPr>
              <a:t>Nếu âm ⟶ đi lùi, giải quyết vấn đề chưa ok</a:t>
            </a:r>
          </a:p>
          <a:p>
            <a:pPr algn="l">
              <a:lnSpc>
                <a:spcPts val="2704"/>
              </a:lnSpc>
            </a:pPr>
          </a:p>
          <a:p>
            <a:pPr algn="l">
              <a:lnSpc>
                <a:spcPts val="2704"/>
              </a:lnSpc>
            </a:pPr>
          </a:p>
          <a:p>
            <a:pPr algn="l">
              <a:lnSpc>
                <a:spcPts val="2704"/>
              </a:lnSpc>
            </a:pPr>
            <a:r>
              <a:rPr lang="en-US" sz="2600" b="true">
                <a:solidFill>
                  <a:srgbClr val="202F5A"/>
                </a:solidFill>
                <a:latin typeface="Arial Bold"/>
                <a:ea typeface="Arial Bold"/>
                <a:cs typeface="Arial Bold"/>
                <a:sym typeface="Arial Bold"/>
              </a:rPr>
              <a:t>Gồm:</a:t>
            </a:r>
          </a:p>
          <a:p>
            <a:pPr algn="l">
              <a:lnSpc>
                <a:spcPts val="2704"/>
              </a:lnSpc>
            </a:pPr>
            <a:r>
              <a:rPr lang="en-US" sz="2600" b="true">
                <a:solidFill>
                  <a:srgbClr val="202F5A"/>
                </a:solidFill>
                <a:latin typeface="Arial Bold"/>
                <a:ea typeface="Arial Bold"/>
                <a:cs typeface="Arial Bold"/>
                <a:sym typeface="Arial Bold"/>
              </a:rPr>
              <a:t>Tên, tuổi, ....</a:t>
            </a:r>
          </a:p>
          <a:p>
            <a:pPr algn="l">
              <a:lnSpc>
                <a:spcPts val="2704"/>
              </a:lnSpc>
            </a:pPr>
            <a:r>
              <a:rPr lang="en-US" sz="2600" b="true">
                <a:solidFill>
                  <a:srgbClr val="202F5A"/>
                </a:solidFill>
                <a:latin typeface="Arial Bold"/>
                <a:ea typeface="Arial Bold"/>
                <a:cs typeface="Arial Bold"/>
                <a:sym typeface="Arial Bold"/>
              </a:rPr>
              <a:t>Tình huống 1: ⟶ đo theo likert (5 mức điểm)</a:t>
            </a:r>
          </a:p>
          <a:p>
            <a:pPr algn="l">
              <a:lnSpc>
                <a:spcPts val="2704"/>
              </a:lnSpc>
            </a:pPr>
            <a:r>
              <a:rPr lang="en-US" sz="2600" b="true">
                <a:solidFill>
                  <a:srgbClr val="202F5A"/>
                </a:solidFill>
                <a:latin typeface="Arial Bold"/>
                <a:ea typeface="Arial Bold"/>
                <a:cs typeface="Arial Bold"/>
                <a:sym typeface="Arial Bold"/>
              </a:rPr>
              <a:t>Tình huống 2:</a:t>
            </a:r>
          </a:p>
          <a:p>
            <a:pPr algn="l">
              <a:lnSpc>
                <a:spcPts val="2704"/>
              </a:lnSpc>
            </a:pPr>
            <a:r>
              <a:rPr lang="en-US" sz="2600" b="true">
                <a:solidFill>
                  <a:srgbClr val="202F5A"/>
                </a:solidFill>
                <a:latin typeface="Arial Bold"/>
                <a:ea typeface="Arial Bold"/>
                <a:cs typeface="Arial Bold"/>
                <a:sym typeface="Arial Bold"/>
              </a:rPr>
              <a:t>...</a:t>
            </a:r>
          </a:p>
          <a:p>
            <a:pPr algn="l">
              <a:lnSpc>
                <a:spcPts val="2704"/>
              </a:lnSpc>
            </a:pPr>
            <a:r>
              <a:rPr lang="en-US" sz="2600" b="true">
                <a:solidFill>
                  <a:srgbClr val="202F5A"/>
                </a:solidFill>
                <a:latin typeface="Arial Bold"/>
                <a:ea typeface="Arial Bold"/>
                <a:cs typeface="Arial Bold"/>
                <a:sym typeface="Arial Bold"/>
              </a:rPr>
              <a:t>Tình huống n</a:t>
            </a:r>
          </a:p>
          <a:p>
            <a:pPr algn="l">
              <a:lnSpc>
                <a:spcPts val="2704"/>
              </a:lnSpc>
            </a:pPr>
            <a:r>
              <a:rPr lang="en-US" sz="2600" b="true">
                <a:solidFill>
                  <a:srgbClr val="202F5A"/>
                </a:solidFill>
                <a:latin typeface="Arial Bold"/>
                <a:ea typeface="Arial Bold"/>
                <a:cs typeface="Arial Bold"/>
                <a:sym typeface="Arial Bold"/>
              </a:rPr>
              <a:t>⟶ Tổng hợp </a:t>
            </a:r>
          </a:p>
        </p:txBody>
      </p:sp>
      <p:sp>
        <p:nvSpPr>
          <p:cNvPr name="TextBox 12" id="12"/>
          <p:cNvSpPr txBox="true"/>
          <p:nvPr/>
        </p:nvSpPr>
        <p:spPr>
          <a:xfrm rot="0">
            <a:off x="2821294" y="1657667"/>
            <a:ext cx="12664830" cy="217233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THIẾT KẾ GOOGLE FORM KHẢO SÁT</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5244" y="-2071299"/>
            <a:ext cx="10038324" cy="15293846"/>
          </a:xfrm>
          <a:custGeom>
            <a:avLst/>
            <a:gdLst/>
            <a:ahLst/>
            <a:cxnLst/>
            <a:rect r="r" b="b" t="t" l="l"/>
            <a:pathLst>
              <a:path h="15293846" w="10038324">
                <a:moveTo>
                  <a:pt x="0" y="0"/>
                </a:moveTo>
                <a:lnTo>
                  <a:pt x="10038324" y="0"/>
                </a:lnTo>
                <a:lnTo>
                  <a:pt x="10038324" y="15293846"/>
                </a:lnTo>
                <a:lnTo>
                  <a:pt x="0" y="1529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60856">
            <a:off x="14701639" y="8805447"/>
            <a:ext cx="3582645" cy="1198558"/>
          </a:xfrm>
          <a:custGeom>
            <a:avLst/>
            <a:gdLst/>
            <a:ahLst/>
            <a:cxnLst/>
            <a:rect r="r" b="b" t="t" l="l"/>
            <a:pathLst>
              <a:path h="1198558" w="3582645">
                <a:moveTo>
                  <a:pt x="0" y="0"/>
                </a:moveTo>
                <a:lnTo>
                  <a:pt x="3582644" y="0"/>
                </a:lnTo>
                <a:lnTo>
                  <a:pt x="3582644" y="1198558"/>
                </a:lnTo>
                <a:lnTo>
                  <a:pt x="0" y="11985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402455" y="1624012"/>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5108979" y="4135755"/>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sp>
        <p:nvSpPr>
          <p:cNvPr name="TextBox 11" id="11"/>
          <p:cNvSpPr txBox="true"/>
          <p:nvPr/>
        </p:nvSpPr>
        <p:spPr>
          <a:xfrm rot="0">
            <a:off x="3463934" y="4154805"/>
            <a:ext cx="11796326" cy="2776983"/>
          </a:xfrm>
          <a:prstGeom prst="rect">
            <a:avLst/>
          </a:prstGeom>
        </p:spPr>
        <p:txBody>
          <a:bodyPr anchor="t" rtlCol="false" tIns="0" lIns="0" bIns="0" rIns="0">
            <a:spAutoFit/>
          </a:bodyPr>
          <a:lstStyle/>
          <a:p>
            <a:pPr algn="l">
              <a:lnSpc>
                <a:spcPts val="2704"/>
              </a:lnSpc>
            </a:pPr>
            <a:r>
              <a:rPr lang="en-US" sz="2600" b="true">
                <a:solidFill>
                  <a:srgbClr val="202F5A"/>
                </a:solidFill>
                <a:latin typeface="Arial Bold"/>
                <a:ea typeface="Arial Bold"/>
                <a:cs typeface="Arial Bold"/>
                <a:sym typeface="Arial Bold"/>
              </a:rPr>
              <a:t>Câu 1</a:t>
            </a:r>
          </a:p>
          <a:p>
            <a:pPr algn="l">
              <a:lnSpc>
                <a:spcPts val="2704"/>
              </a:lnSpc>
            </a:pPr>
            <a:r>
              <a:rPr lang="en-US" sz="2600" b="true">
                <a:solidFill>
                  <a:srgbClr val="202F5A"/>
                </a:solidFill>
                <a:latin typeface="Arial Bold"/>
                <a:ea typeface="Arial Bold"/>
                <a:cs typeface="Arial Bold"/>
                <a:sym typeface="Arial Bold"/>
              </a:rPr>
              <a:t>Mục đích chính của </a:t>
            </a:r>
            <a:r>
              <a:rPr lang="en-US" sz="2600" b="true">
                <a:solidFill>
                  <a:srgbClr val="202F5A"/>
                </a:solidFill>
                <a:latin typeface="Arial Bold"/>
                <a:ea typeface="Arial Bold"/>
                <a:cs typeface="Arial Bold"/>
                <a:sym typeface="Arial Bold"/>
              </a:rPr>
              <a:t>Pr</a:t>
            </a:r>
            <a:r>
              <a:rPr lang="en-US" sz="2600" b="true">
                <a:solidFill>
                  <a:srgbClr val="202F5A"/>
                </a:solidFill>
                <a:latin typeface="Arial Bold"/>
                <a:ea typeface="Arial Bold"/>
                <a:cs typeface="Arial Bold"/>
                <a:sym typeface="Arial Bold"/>
              </a:rPr>
              <a:t>e-test là gì?</a:t>
            </a:r>
          </a:p>
          <a:p>
            <a:pPr algn="l">
              <a:lnSpc>
                <a:spcPts val="2704"/>
              </a:lnSpc>
            </a:pPr>
          </a:p>
          <a:p>
            <a:pPr algn="l">
              <a:lnSpc>
                <a:spcPts val="2704"/>
              </a:lnSpc>
            </a:pPr>
            <a:r>
              <a:rPr lang="en-US" sz="2600">
                <a:solidFill>
                  <a:srgbClr val="202F5A"/>
                </a:solidFill>
                <a:latin typeface="Arial"/>
                <a:ea typeface="Arial"/>
                <a:cs typeface="Arial"/>
                <a:sym typeface="Arial"/>
              </a:rPr>
              <a:t>A. Đánh giá game đẹp hay xấu.</a:t>
            </a:r>
          </a:p>
          <a:p>
            <a:pPr algn="l">
              <a:lnSpc>
                <a:spcPts val="2704"/>
              </a:lnSpc>
            </a:pPr>
            <a:r>
              <a:rPr lang="en-US" sz="2600">
                <a:solidFill>
                  <a:srgbClr val="202F5A"/>
                </a:solidFill>
                <a:latin typeface="Arial"/>
                <a:ea typeface="Arial"/>
                <a:cs typeface="Arial"/>
                <a:sym typeface="Arial"/>
              </a:rPr>
              <a:t>B. Đo mức độ ban đầu trước can thiệp.</a:t>
            </a:r>
          </a:p>
          <a:p>
            <a:pPr algn="l">
              <a:lnSpc>
                <a:spcPts val="2704"/>
              </a:lnSpc>
            </a:pPr>
            <a:r>
              <a:rPr lang="en-US" sz="2600">
                <a:solidFill>
                  <a:srgbClr val="202F5A"/>
                </a:solidFill>
                <a:latin typeface="Arial"/>
                <a:ea typeface="Arial"/>
                <a:cs typeface="Arial"/>
                <a:sym typeface="Arial"/>
              </a:rPr>
              <a:t>C. Kiểm tra người chơi có hiểu luật game</a:t>
            </a:r>
            <a:r>
              <a:rPr lang="en-US" sz="2600">
                <a:solidFill>
                  <a:srgbClr val="202F5A"/>
                </a:solidFill>
                <a:latin typeface="Arial"/>
                <a:ea typeface="Arial"/>
                <a:cs typeface="Arial"/>
                <a:sym typeface="Arial"/>
              </a:rPr>
              <a:t> không.</a:t>
            </a:r>
          </a:p>
          <a:p>
            <a:pPr algn="l">
              <a:lnSpc>
                <a:spcPts val="2704"/>
              </a:lnSpc>
            </a:pPr>
            <a:r>
              <a:rPr lang="en-US" sz="2600">
                <a:solidFill>
                  <a:srgbClr val="202F5A"/>
                </a:solidFill>
                <a:latin typeface="Arial"/>
                <a:ea typeface="Arial"/>
                <a:cs typeface="Arial"/>
                <a:sym typeface="Arial"/>
              </a:rPr>
              <a:t>D. Đánh giá giáo viên.</a:t>
            </a:r>
          </a:p>
          <a:p>
            <a:pPr algn="l">
              <a:lnSpc>
                <a:spcPts val="2704"/>
              </a:lnSpc>
            </a:pPr>
          </a:p>
        </p:txBody>
      </p:sp>
      <p:sp>
        <p:nvSpPr>
          <p:cNvPr name="TextBox 12" id="12"/>
          <p:cNvSpPr txBox="true"/>
          <p:nvPr/>
        </p:nvSpPr>
        <p:spPr>
          <a:xfrm rot="0">
            <a:off x="2821294" y="1657667"/>
            <a:ext cx="12664830" cy="217233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KIỂM TRA CUỐI BUỔI</a:t>
            </a:r>
          </a:p>
          <a:p>
            <a:pPr algn="ctr">
              <a:lnSpc>
                <a:spcPts val="8320"/>
              </a:lnSpc>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5244" y="-2071299"/>
            <a:ext cx="10038324" cy="15293846"/>
          </a:xfrm>
          <a:custGeom>
            <a:avLst/>
            <a:gdLst/>
            <a:ahLst/>
            <a:cxnLst/>
            <a:rect r="r" b="b" t="t" l="l"/>
            <a:pathLst>
              <a:path h="15293846" w="10038324">
                <a:moveTo>
                  <a:pt x="0" y="0"/>
                </a:moveTo>
                <a:lnTo>
                  <a:pt x="10038324" y="0"/>
                </a:lnTo>
                <a:lnTo>
                  <a:pt x="10038324" y="15293846"/>
                </a:lnTo>
                <a:lnTo>
                  <a:pt x="0" y="1529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60856">
            <a:off x="14701639" y="8805447"/>
            <a:ext cx="3582645" cy="1198558"/>
          </a:xfrm>
          <a:custGeom>
            <a:avLst/>
            <a:gdLst/>
            <a:ahLst/>
            <a:cxnLst/>
            <a:rect r="r" b="b" t="t" l="l"/>
            <a:pathLst>
              <a:path h="1198558" w="3582645">
                <a:moveTo>
                  <a:pt x="0" y="0"/>
                </a:moveTo>
                <a:lnTo>
                  <a:pt x="3582644" y="0"/>
                </a:lnTo>
                <a:lnTo>
                  <a:pt x="3582644" y="1198558"/>
                </a:lnTo>
                <a:lnTo>
                  <a:pt x="0" y="11985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402455" y="1624012"/>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5108979" y="4135755"/>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sp>
        <p:nvSpPr>
          <p:cNvPr name="TextBox 11" id="11"/>
          <p:cNvSpPr txBox="true"/>
          <p:nvPr/>
        </p:nvSpPr>
        <p:spPr>
          <a:xfrm rot="0">
            <a:off x="3463934" y="4154805"/>
            <a:ext cx="11796326" cy="2776983"/>
          </a:xfrm>
          <a:prstGeom prst="rect">
            <a:avLst/>
          </a:prstGeom>
        </p:spPr>
        <p:txBody>
          <a:bodyPr anchor="t" rtlCol="false" tIns="0" lIns="0" bIns="0" rIns="0">
            <a:spAutoFit/>
          </a:bodyPr>
          <a:lstStyle/>
          <a:p>
            <a:pPr algn="l">
              <a:lnSpc>
                <a:spcPts val="2704"/>
              </a:lnSpc>
            </a:pPr>
            <a:r>
              <a:rPr lang="en-US" sz="2600" b="true">
                <a:solidFill>
                  <a:srgbClr val="202F5A"/>
                </a:solidFill>
                <a:latin typeface="Arial Bold"/>
                <a:ea typeface="Arial Bold"/>
                <a:cs typeface="Arial Bold"/>
                <a:sym typeface="Arial Bold"/>
              </a:rPr>
              <a:t>Câu 2</a:t>
            </a:r>
          </a:p>
          <a:p>
            <a:pPr algn="l">
              <a:lnSpc>
                <a:spcPts val="2704"/>
              </a:lnSpc>
            </a:pPr>
            <a:r>
              <a:rPr lang="en-US" sz="2600" b="true">
                <a:solidFill>
                  <a:srgbClr val="202F5A"/>
                </a:solidFill>
                <a:latin typeface="Arial Bold"/>
                <a:ea typeface="Arial Bold"/>
                <a:cs typeface="Arial Bold"/>
                <a:sym typeface="Arial Bold"/>
              </a:rPr>
              <a:t>Câu nào</a:t>
            </a:r>
            <a:r>
              <a:rPr lang="en-US" sz="2600" b="true">
                <a:solidFill>
                  <a:srgbClr val="202F5A"/>
                </a:solidFill>
                <a:latin typeface="Arial Bold"/>
                <a:ea typeface="Arial Bold"/>
                <a:cs typeface="Arial Bold"/>
                <a:sym typeface="Arial Bold"/>
              </a:rPr>
              <a:t> đo ý định can thiệp </a:t>
            </a:r>
            <a:r>
              <a:rPr lang="en-US" sz="2600" b="true">
                <a:solidFill>
                  <a:srgbClr val="202F5A"/>
                </a:solidFill>
                <a:latin typeface="Arial Bold"/>
                <a:ea typeface="Arial Bold"/>
                <a:cs typeface="Arial Bold"/>
                <a:sym typeface="Arial Bold"/>
              </a:rPr>
              <a:t>tốt hơn?</a:t>
            </a:r>
          </a:p>
          <a:p>
            <a:pPr algn="l">
              <a:lnSpc>
                <a:spcPts val="2704"/>
              </a:lnSpc>
            </a:pPr>
          </a:p>
          <a:p>
            <a:pPr algn="l">
              <a:lnSpc>
                <a:spcPts val="2704"/>
              </a:lnSpc>
            </a:pPr>
            <a:r>
              <a:rPr lang="en-US" sz="2600">
                <a:solidFill>
                  <a:srgbClr val="202F5A"/>
                </a:solidFill>
                <a:latin typeface="Arial"/>
                <a:ea typeface="Arial"/>
                <a:cs typeface="Arial"/>
                <a:sym typeface="Arial"/>
              </a:rPr>
              <a:t>A. Tôi là người tốt.</a:t>
            </a:r>
          </a:p>
          <a:p>
            <a:pPr algn="l">
              <a:lnSpc>
                <a:spcPts val="2704"/>
              </a:lnSpc>
            </a:pPr>
            <a:r>
              <a:rPr lang="en-US" sz="2600">
                <a:solidFill>
                  <a:srgbClr val="202F5A"/>
                </a:solidFill>
                <a:latin typeface="Arial"/>
                <a:ea typeface="Arial"/>
                <a:cs typeface="Arial"/>
                <a:sym typeface="Arial"/>
              </a:rPr>
              <a:t>B. Tôi ghét bắt nạt.</a:t>
            </a:r>
          </a:p>
          <a:p>
            <a:pPr algn="l">
              <a:lnSpc>
                <a:spcPts val="2704"/>
              </a:lnSpc>
            </a:pPr>
            <a:r>
              <a:rPr lang="en-US" sz="2600">
                <a:solidFill>
                  <a:srgbClr val="202F5A"/>
                </a:solidFill>
                <a:latin typeface="Arial"/>
                <a:ea typeface="Arial"/>
                <a:cs typeface="Arial"/>
                <a:sym typeface="Arial"/>
              </a:rPr>
              <a:t>C. Tôi sẽ tìm kiếm sự giúp đỡ khi chứng kiến bắt </a:t>
            </a:r>
            <a:r>
              <a:rPr lang="en-US" sz="2600">
                <a:solidFill>
                  <a:srgbClr val="202F5A"/>
                </a:solidFill>
                <a:latin typeface="Arial"/>
                <a:ea typeface="Arial"/>
                <a:cs typeface="Arial"/>
                <a:sym typeface="Arial"/>
              </a:rPr>
              <a:t>nạt.</a:t>
            </a:r>
          </a:p>
          <a:p>
            <a:pPr algn="l">
              <a:lnSpc>
                <a:spcPts val="2704"/>
              </a:lnSpc>
            </a:pPr>
            <a:r>
              <a:rPr lang="en-US" sz="2600">
                <a:solidFill>
                  <a:srgbClr val="202F5A"/>
                </a:solidFill>
                <a:latin typeface="Arial"/>
                <a:ea typeface="Arial"/>
                <a:cs typeface="Arial"/>
                <a:sym typeface="Arial"/>
              </a:rPr>
              <a:t>D. Tôi thích trò chơi về bắt nạt.</a:t>
            </a:r>
          </a:p>
          <a:p>
            <a:pPr algn="l">
              <a:lnSpc>
                <a:spcPts val="2704"/>
              </a:lnSpc>
            </a:pPr>
          </a:p>
        </p:txBody>
      </p:sp>
      <p:sp>
        <p:nvSpPr>
          <p:cNvPr name="TextBox 12" id="12"/>
          <p:cNvSpPr txBox="true"/>
          <p:nvPr/>
        </p:nvSpPr>
        <p:spPr>
          <a:xfrm rot="0">
            <a:off x="2821294" y="1657667"/>
            <a:ext cx="12664830" cy="217233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KIỂM TRA CUỐI BUỔI</a:t>
            </a:r>
          </a:p>
          <a:p>
            <a:pPr algn="ctr">
              <a:lnSpc>
                <a:spcPts val="8320"/>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5244" y="-2071299"/>
            <a:ext cx="10038324" cy="15293846"/>
          </a:xfrm>
          <a:custGeom>
            <a:avLst/>
            <a:gdLst/>
            <a:ahLst/>
            <a:cxnLst/>
            <a:rect r="r" b="b" t="t" l="l"/>
            <a:pathLst>
              <a:path h="15293846" w="10038324">
                <a:moveTo>
                  <a:pt x="0" y="0"/>
                </a:moveTo>
                <a:lnTo>
                  <a:pt x="10038324" y="0"/>
                </a:lnTo>
                <a:lnTo>
                  <a:pt x="10038324" y="15293846"/>
                </a:lnTo>
                <a:lnTo>
                  <a:pt x="0" y="1529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60856">
            <a:off x="14701639" y="8805447"/>
            <a:ext cx="3582645" cy="1198558"/>
          </a:xfrm>
          <a:custGeom>
            <a:avLst/>
            <a:gdLst/>
            <a:ahLst/>
            <a:cxnLst/>
            <a:rect r="r" b="b" t="t" l="l"/>
            <a:pathLst>
              <a:path h="1198558" w="3582645">
                <a:moveTo>
                  <a:pt x="0" y="0"/>
                </a:moveTo>
                <a:lnTo>
                  <a:pt x="3582644" y="0"/>
                </a:lnTo>
                <a:lnTo>
                  <a:pt x="3582644" y="1198558"/>
                </a:lnTo>
                <a:lnTo>
                  <a:pt x="0" y="11985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402455" y="1624012"/>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5108979" y="4135755"/>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sp>
        <p:nvSpPr>
          <p:cNvPr name="TextBox 11" id="11"/>
          <p:cNvSpPr txBox="true"/>
          <p:nvPr/>
        </p:nvSpPr>
        <p:spPr>
          <a:xfrm rot="0">
            <a:off x="3463934" y="4154805"/>
            <a:ext cx="11796326" cy="2776983"/>
          </a:xfrm>
          <a:prstGeom prst="rect">
            <a:avLst/>
          </a:prstGeom>
        </p:spPr>
        <p:txBody>
          <a:bodyPr anchor="t" rtlCol="false" tIns="0" lIns="0" bIns="0" rIns="0">
            <a:spAutoFit/>
          </a:bodyPr>
          <a:lstStyle/>
          <a:p>
            <a:pPr algn="l">
              <a:lnSpc>
                <a:spcPts val="2704"/>
              </a:lnSpc>
            </a:pPr>
            <a:r>
              <a:rPr lang="en-US" sz="2600" b="true">
                <a:solidFill>
                  <a:srgbClr val="202F5A"/>
                </a:solidFill>
                <a:latin typeface="Arial Bold"/>
                <a:ea typeface="Arial Bold"/>
                <a:cs typeface="Arial Bold"/>
                <a:sym typeface="Arial Bold"/>
              </a:rPr>
              <a:t>Câu 3</a:t>
            </a:r>
          </a:p>
          <a:p>
            <a:pPr algn="l">
              <a:lnSpc>
                <a:spcPts val="2704"/>
              </a:lnSpc>
            </a:pPr>
            <a:r>
              <a:rPr lang="en-US" sz="2600" b="true">
                <a:solidFill>
                  <a:srgbClr val="202F5A"/>
                </a:solidFill>
                <a:latin typeface="Arial Bold"/>
                <a:ea typeface="Arial Bold"/>
                <a:cs typeface="Arial Bold"/>
                <a:sym typeface="Arial Bold"/>
              </a:rPr>
              <a:t>Tại</a:t>
            </a:r>
            <a:r>
              <a:rPr lang="en-US" sz="2600" b="true">
                <a:solidFill>
                  <a:srgbClr val="202F5A"/>
                </a:solidFill>
                <a:latin typeface="Arial Bold"/>
                <a:ea typeface="Arial Bold"/>
                <a:cs typeface="Arial Bold"/>
                <a:sym typeface="Arial Bold"/>
              </a:rPr>
              <a:t> sao</a:t>
            </a:r>
            <a:r>
              <a:rPr lang="en-US" sz="2600" b="true">
                <a:solidFill>
                  <a:srgbClr val="202F5A"/>
                </a:solidFill>
                <a:latin typeface="Arial Bold"/>
                <a:ea typeface="Arial Bold"/>
                <a:cs typeface="Arial Bold"/>
                <a:sym typeface="Arial Bold"/>
              </a:rPr>
              <a:t> cần Post-</a:t>
            </a:r>
            <a:r>
              <a:rPr lang="en-US" sz="2600" b="true">
                <a:solidFill>
                  <a:srgbClr val="202F5A"/>
                </a:solidFill>
                <a:latin typeface="Arial Bold"/>
                <a:ea typeface="Arial Bold"/>
                <a:cs typeface="Arial Bold"/>
                <a:sym typeface="Arial Bold"/>
              </a:rPr>
              <a:t>test?</a:t>
            </a:r>
          </a:p>
          <a:p>
            <a:pPr algn="l">
              <a:lnSpc>
                <a:spcPts val="2704"/>
              </a:lnSpc>
            </a:pPr>
          </a:p>
          <a:p>
            <a:pPr algn="l">
              <a:lnSpc>
                <a:spcPts val="2704"/>
              </a:lnSpc>
            </a:pPr>
            <a:r>
              <a:rPr lang="en-US" sz="2600">
                <a:solidFill>
                  <a:srgbClr val="202F5A"/>
                </a:solidFill>
                <a:latin typeface="Arial"/>
                <a:ea typeface="Arial"/>
                <a:cs typeface="Arial"/>
                <a:sym typeface="Arial"/>
              </a:rPr>
              <a:t>A. Để người chơi chơi game lần nữa.</a:t>
            </a:r>
          </a:p>
          <a:p>
            <a:pPr algn="l">
              <a:lnSpc>
                <a:spcPts val="2704"/>
              </a:lnSpc>
            </a:pPr>
            <a:r>
              <a:rPr lang="en-US" sz="2600">
                <a:solidFill>
                  <a:srgbClr val="202F5A"/>
                </a:solidFill>
                <a:latin typeface="Arial"/>
                <a:ea typeface="Arial"/>
                <a:cs typeface="Arial"/>
                <a:sym typeface="Arial"/>
              </a:rPr>
              <a:t>B</a:t>
            </a:r>
            <a:r>
              <a:rPr lang="en-US" sz="2600">
                <a:solidFill>
                  <a:srgbClr val="202F5A"/>
                </a:solidFill>
                <a:latin typeface="Arial"/>
                <a:ea typeface="Arial"/>
                <a:cs typeface="Arial"/>
                <a:sym typeface="Arial"/>
              </a:rPr>
              <a:t>. Để biết người chơi có thay đổi sau can thiệp hay không.</a:t>
            </a:r>
          </a:p>
          <a:p>
            <a:pPr algn="l">
              <a:lnSpc>
                <a:spcPts val="2704"/>
              </a:lnSpc>
            </a:pPr>
            <a:r>
              <a:rPr lang="en-US" sz="2600">
                <a:solidFill>
                  <a:srgbClr val="202F5A"/>
                </a:solidFill>
                <a:latin typeface="Arial"/>
                <a:ea typeface="Arial"/>
                <a:cs typeface="Arial"/>
                <a:sym typeface="Arial"/>
              </a:rPr>
              <a:t>C. Để thu thêm thông tin cá </a:t>
            </a:r>
            <a:r>
              <a:rPr lang="en-US" sz="2600">
                <a:solidFill>
                  <a:srgbClr val="202F5A"/>
                </a:solidFill>
                <a:latin typeface="Arial"/>
                <a:ea typeface="Arial"/>
                <a:cs typeface="Arial"/>
                <a:sym typeface="Arial"/>
              </a:rPr>
              <a:t>nhân.</a:t>
            </a:r>
          </a:p>
          <a:p>
            <a:pPr algn="l">
              <a:lnSpc>
                <a:spcPts val="2704"/>
              </a:lnSpc>
            </a:pPr>
            <a:r>
              <a:rPr lang="en-US" sz="2600">
                <a:solidFill>
                  <a:srgbClr val="202F5A"/>
                </a:solidFill>
                <a:latin typeface="Arial"/>
                <a:ea typeface="Arial"/>
                <a:cs typeface="Arial"/>
                <a:sym typeface="Arial"/>
              </a:rPr>
              <a:t>D. Không cần thiết.</a:t>
            </a:r>
          </a:p>
          <a:p>
            <a:pPr algn="l">
              <a:lnSpc>
                <a:spcPts val="2704"/>
              </a:lnSpc>
            </a:pPr>
          </a:p>
        </p:txBody>
      </p:sp>
      <p:sp>
        <p:nvSpPr>
          <p:cNvPr name="TextBox 12" id="12"/>
          <p:cNvSpPr txBox="true"/>
          <p:nvPr/>
        </p:nvSpPr>
        <p:spPr>
          <a:xfrm rot="0">
            <a:off x="2821294" y="1657667"/>
            <a:ext cx="12664830" cy="217233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KIỂM TRA CUỐI BUỔI</a:t>
            </a:r>
          </a:p>
          <a:p>
            <a:pPr algn="ctr">
              <a:lnSpc>
                <a:spcPts val="8320"/>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5244" y="-2071299"/>
            <a:ext cx="10038324" cy="15293846"/>
          </a:xfrm>
          <a:custGeom>
            <a:avLst/>
            <a:gdLst/>
            <a:ahLst/>
            <a:cxnLst/>
            <a:rect r="r" b="b" t="t" l="l"/>
            <a:pathLst>
              <a:path h="15293846" w="10038324">
                <a:moveTo>
                  <a:pt x="0" y="0"/>
                </a:moveTo>
                <a:lnTo>
                  <a:pt x="10038324" y="0"/>
                </a:lnTo>
                <a:lnTo>
                  <a:pt x="10038324" y="15293846"/>
                </a:lnTo>
                <a:lnTo>
                  <a:pt x="0" y="1529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60856">
            <a:off x="14701639" y="8805447"/>
            <a:ext cx="3582645" cy="1198558"/>
          </a:xfrm>
          <a:custGeom>
            <a:avLst/>
            <a:gdLst/>
            <a:ahLst/>
            <a:cxnLst/>
            <a:rect r="r" b="b" t="t" l="l"/>
            <a:pathLst>
              <a:path h="1198558" w="3582645">
                <a:moveTo>
                  <a:pt x="0" y="0"/>
                </a:moveTo>
                <a:lnTo>
                  <a:pt x="3582644" y="0"/>
                </a:lnTo>
                <a:lnTo>
                  <a:pt x="3582644" y="1198558"/>
                </a:lnTo>
                <a:lnTo>
                  <a:pt x="0" y="11985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402455" y="1624012"/>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5108979" y="4135755"/>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sp>
        <p:nvSpPr>
          <p:cNvPr name="TextBox 11" id="11"/>
          <p:cNvSpPr txBox="true"/>
          <p:nvPr/>
        </p:nvSpPr>
        <p:spPr>
          <a:xfrm rot="0">
            <a:off x="3463934" y="4154805"/>
            <a:ext cx="11796326" cy="1405383"/>
          </a:xfrm>
          <a:prstGeom prst="rect">
            <a:avLst/>
          </a:prstGeom>
        </p:spPr>
        <p:txBody>
          <a:bodyPr anchor="t" rtlCol="false" tIns="0" lIns="0" bIns="0" rIns="0">
            <a:spAutoFit/>
          </a:bodyPr>
          <a:lstStyle/>
          <a:p>
            <a:pPr algn="l">
              <a:lnSpc>
                <a:spcPts val="2704"/>
              </a:lnSpc>
            </a:pPr>
            <a:r>
              <a:rPr lang="en-US" sz="2600" b="true">
                <a:solidFill>
                  <a:srgbClr val="202F5A"/>
                </a:solidFill>
                <a:latin typeface="Arial Bold"/>
                <a:ea typeface="Arial Bold"/>
                <a:cs typeface="Arial Bold"/>
                <a:sym typeface="Arial Bold"/>
              </a:rPr>
              <a:t>Câu 4</a:t>
            </a:r>
          </a:p>
          <a:p>
            <a:pPr algn="l">
              <a:lnSpc>
                <a:spcPts val="2704"/>
              </a:lnSpc>
            </a:pPr>
          </a:p>
          <a:p>
            <a:pPr algn="l">
              <a:lnSpc>
                <a:spcPts val="2704"/>
              </a:lnSpc>
            </a:pPr>
            <a:r>
              <a:rPr lang="en-US" sz="2600" b="true">
                <a:solidFill>
                  <a:srgbClr val="202F5A"/>
                </a:solidFill>
                <a:latin typeface="Arial Bold"/>
                <a:ea typeface="Arial Bold"/>
                <a:cs typeface="Arial Bold"/>
                <a:sym typeface="Arial Bold"/>
              </a:rPr>
              <a:t>Nếu</a:t>
            </a:r>
            <a:r>
              <a:rPr lang="en-US" sz="2600" b="true">
                <a:solidFill>
                  <a:srgbClr val="202F5A"/>
                </a:solidFill>
                <a:latin typeface="Arial Bold"/>
                <a:ea typeface="Arial Bold"/>
                <a:cs typeface="Arial Bold"/>
                <a:sym typeface="Arial Bold"/>
              </a:rPr>
              <a:t> một người có thấu cảm cao nhưng tự tin thấp, điều </a:t>
            </a:r>
            <a:r>
              <a:rPr lang="en-US" sz="2600" b="true">
                <a:solidFill>
                  <a:srgbClr val="202F5A"/>
                </a:solidFill>
                <a:latin typeface="Arial Bold"/>
                <a:ea typeface="Arial Bold"/>
                <a:cs typeface="Arial Bold"/>
                <a:sym typeface="Arial Bold"/>
              </a:rPr>
              <a:t>gì có thể xảy ra?</a:t>
            </a:r>
          </a:p>
          <a:p>
            <a:pPr algn="l">
              <a:lnSpc>
                <a:spcPts val="2704"/>
              </a:lnSpc>
            </a:pPr>
          </a:p>
        </p:txBody>
      </p:sp>
      <p:sp>
        <p:nvSpPr>
          <p:cNvPr name="TextBox 12" id="12"/>
          <p:cNvSpPr txBox="true"/>
          <p:nvPr/>
        </p:nvSpPr>
        <p:spPr>
          <a:xfrm rot="0">
            <a:off x="2821294" y="1657667"/>
            <a:ext cx="12664830" cy="217233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KIỂM TRA CUỐI BUỔI</a:t>
            </a:r>
          </a:p>
          <a:p>
            <a:pPr algn="ctr">
              <a:lnSpc>
                <a:spcPts val="8320"/>
              </a:lnSpc>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5244" y="-2071299"/>
            <a:ext cx="10038324" cy="15293846"/>
          </a:xfrm>
          <a:custGeom>
            <a:avLst/>
            <a:gdLst/>
            <a:ahLst/>
            <a:cxnLst/>
            <a:rect r="r" b="b" t="t" l="l"/>
            <a:pathLst>
              <a:path h="15293846" w="10038324">
                <a:moveTo>
                  <a:pt x="0" y="0"/>
                </a:moveTo>
                <a:lnTo>
                  <a:pt x="10038324" y="0"/>
                </a:lnTo>
                <a:lnTo>
                  <a:pt x="10038324" y="15293846"/>
                </a:lnTo>
                <a:lnTo>
                  <a:pt x="0" y="1529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60856">
            <a:off x="14701639" y="8805447"/>
            <a:ext cx="3582645" cy="1198558"/>
          </a:xfrm>
          <a:custGeom>
            <a:avLst/>
            <a:gdLst/>
            <a:ahLst/>
            <a:cxnLst/>
            <a:rect r="r" b="b" t="t" l="l"/>
            <a:pathLst>
              <a:path h="1198558" w="3582645">
                <a:moveTo>
                  <a:pt x="0" y="0"/>
                </a:moveTo>
                <a:lnTo>
                  <a:pt x="3582644" y="0"/>
                </a:lnTo>
                <a:lnTo>
                  <a:pt x="3582644" y="1198558"/>
                </a:lnTo>
                <a:lnTo>
                  <a:pt x="0" y="11985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402455" y="1624012"/>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5108979" y="4135755"/>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sp>
        <p:nvSpPr>
          <p:cNvPr name="TextBox 11" id="11"/>
          <p:cNvSpPr txBox="true"/>
          <p:nvPr/>
        </p:nvSpPr>
        <p:spPr>
          <a:xfrm rot="0">
            <a:off x="2821294" y="1657667"/>
            <a:ext cx="12664830" cy="112458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BÀI TẬP VỀ NHÀ</a:t>
            </a:r>
          </a:p>
        </p:txBody>
      </p:sp>
      <p:sp>
        <p:nvSpPr>
          <p:cNvPr name="TextBox 12" id="12"/>
          <p:cNvSpPr txBox="true"/>
          <p:nvPr/>
        </p:nvSpPr>
        <p:spPr>
          <a:xfrm rot="0">
            <a:off x="3463934" y="4154805"/>
            <a:ext cx="11796326" cy="719583"/>
          </a:xfrm>
          <a:prstGeom prst="rect">
            <a:avLst/>
          </a:prstGeom>
        </p:spPr>
        <p:txBody>
          <a:bodyPr anchor="t" rtlCol="false" tIns="0" lIns="0" bIns="0" rIns="0">
            <a:spAutoFit/>
          </a:bodyPr>
          <a:lstStyle/>
          <a:p>
            <a:pPr algn="l">
              <a:lnSpc>
                <a:spcPts val="2704"/>
              </a:lnSpc>
            </a:pPr>
            <a:r>
              <a:rPr lang="en-US" sz="2600">
                <a:solidFill>
                  <a:srgbClr val="202F5A"/>
                </a:solidFill>
                <a:latin typeface="Arial"/>
                <a:ea typeface="Arial"/>
                <a:cs typeface="Arial"/>
                <a:sym typeface="Arial"/>
              </a:rPr>
              <a:t>Tạo form về bài hôm nay</a:t>
            </a:r>
          </a:p>
          <a:p>
            <a:pPr algn="l">
              <a:lnSpc>
                <a:spcPts val="2704"/>
              </a:lnSpc>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5244" y="-2071299"/>
            <a:ext cx="10038324" cy="15293846"/>
          </a:xfrm>
          <a:custGeom>
            <a:avLst/>
            <a:gdLst/>
            <a:ahLst/>
            <a:cxnLst/>
            <a:rect r="r" b="b" t="t" l="l"/>
            <a:pathLst>
              <a:path h="15293846" w="10038324">
                <a:moveTo>
                  <a:pt x="0" y="0"/>
                </a:moveTo>
                <a:lnTo>
                  <a:pt x="10038324" y="0"/>
                </a:lnTo>
                <a:lnTo>
                  <a:pt x="10038324" y="15293846"/>
                </a:lnTo>
                <a:lnTo>
                  <a:pt x="0" y="1529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60856">
            <a:off x="14701639" y="8805447"/>
            <a:ext cx="3582645" cy="1198558"/>
          </a:xfrm>
          <a:custGeom>
            <a:avLst/>
            <a:gdLst/>
            <a:ahLst/>
            <a:cxnLst/>
            <a:rect r="r" b="b" t="t" l="l"/>
            <a:pathLst>
              <a:path h="1198558" w="3582645">
                <a:moveTo>
                  <a:pt x="0" y="0"/>
                </a:moveTo>
                <a:lnTo>
                  <a:pt x="3582644" y="0"/>
                </a:lnTo>
                <a:lnTo>
                  <a:pt x="3582644" y="1198558"/>
                </a:lnTo>
                <a:lnTo>
                  <a:pt x="0" y="11985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518590" y="4859655"/>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5108979" y="4135755"/>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sp>
        <p:nvSpPr>
          <p:cNvPr name="TextBox 11" id="11"/>
          <p:cNvSpPr txBox="true"/>
          <p:nvPr/>
        </p:nvSpPr>
        <p:spPr>
          <a:xfrm rot="0">
            <a:off x="2444148" y="4945380"/>
            <a:ext cx="12664830" cy="112458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THANKS FOR WATCHING</a:t>
            </a:r>
          </a:p>
        </p:txBody>
      </p:sp>
    </p:spTree>
  </p:cSld>
  <p:clrMapOvr>
    <a:masterClrMapping/>
  </p:clrMapOvr>
</p:sld>
</file>

<file path=ppt/slides/slide21.xml><?xml version="1.0" encoding="utf-8"?>
<p:sld xmlns:p="http://schemas.openxmlformats.org/presentationml/2006/main" xmlns:a="http://schemas.openxmlformats.org/drawingml/2006/main">
  <p:cSld>
    <p:bg>
      <p:bgPr>
        <a:solidFill>
          <a:srgbClr val="E4EFFA"/>
        </a:solidFill>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DAHSOSIC_20</dc:identifier>
  <dcterms:modified xsi:type="dcterms:W3CDTF">2011-08-01T06:04:30Z</dcterms:modified>
  <cp:revision>1</cp:revision>
  <dc:title>Buổi 1 - Bắc Hà</dc:title>
</cp:coreProperties>
</file>