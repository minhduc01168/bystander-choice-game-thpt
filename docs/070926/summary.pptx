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A30E8A-DF85-E1FF-71AC-0785431B4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392F70-74AB-55CA-D35E-8531F8127E2F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A48039-61A7-E83C-780E-6E0C0455F8C9}"/>
              </a:ext>
            </a:extLst>
          </p:cNvPr>
          <p:cNvSpPr txBox="1"/>
          <p:nvPr/>
        </p:nvSpPr>
        <p:spPr>
          <a:xfrm>
            <a:off x="731520" y="1143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667EEA"/>
                </a:solidFill>
                <a:latin typeface="Aptos"/>
              </a:rPr>
              <a:t>FINAL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03E395-F268-07DF-93A7-66542B81BBF2}"/>
              </a:ext>
            </a:extLst>
          </p:cNvPr>
          <p:cNvSpPr txBox="1"/>
          <p:nvPr/>
        </p:nvSpPr>
        <p:spPr>
          <a:xfrm>
            <a:off x="731520" y="1645920"/>
            <a:ext cx="100584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900" b="1">
                <a:solidFill>
                  <a:srgbClr val="F5F7FA"/>
                </a:solidFill>
                <a:latin typeface="Aptos"/>
              </a:rPr>
              <a:t>TỪ Ý TƯỞNG ĐẾN</a:t>
            </a:r>
            <a:br/>
            <a:r>
              <a:rPr sz="3900" b="1">
                <a:solidFill>
                  <a:srgbClr val="F5F7FA"/>
                </a:solidFill>
                <a:latin typeface="Aptos"/>
              </a:rPr>
              <a:t>SẢN PHẨM NGHIÊN CỨU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AC107B-011C-61FC-1808-3D3B714000BC}"/>
              </a:ext>
            </a:extLst>
          </p:cNvPr>
          <p:cNvSpPr txBox="1"/>
          <p:nvPr/>
        </p:nvSpPr>
        <p:spPr>
          <a:xfrm>
            <a:off x="777240" y="33375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AAB4C3"/>
                </a:solidFill>
                <a:latin typeface="Aptos"/>
              </a:rPr>
              <a:t>Game tương tác về tâm lý và bạo lực học đường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B3BF55-B447-1C85-2318-4DE6D0246055}"/>
              </a:ext>
            </a:extLst>
          </p:cNvPr>
          <p:cNvSpPr txBox="1"/>
          <p:nvPr/>
        </p:nvSpPr>
        <p:spPr>
          <a:xfrm>
            <a:off x="777240" y="525780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8B5CF6"/>
                </a:solidFill>
                <a:latin typeface="Aptos"/>
              </a:rPr>
              <a:t>RESEARCH  •  GAME  •  PSYCHOLOGY  •  DATA</a:t>
            </a:r>
          </a:p>
        </p:txBody>
      </p:sp>
    </p:spTree>
    <p:extLst>
      <p:ext uri="{BB962C8B-B14F-4D97-AF65-F5344CB8AC3E}">
        <p14:creationId xmlns:p14="http://schemas.microsoft.com/office/powerpoint/2010/main" val="1273356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Chúng ta đã làm gì?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Nhìn lại toàn bộ hành trình của dự 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2057400" cy="182880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64008" cy="18288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1645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1645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Tìm hiểu vấn đề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7208" y="1874519"/>
            <a:ext cx="2057400" cy="182880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07208" y="1874519"/>
            <a:ext cx="64008" cy="1828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35808" y="2057400"/>
            <a:ext cx="1645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GAME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514600"/>
            <a:ext cx="1645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Mô phỏng tình huống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11496" y="1874519"/>
            <a:ext cx="2057400" cy="182880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11496" y="1874519"/>
            <a:ext cx="64008" cy="18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40096" y="2057400"/>
            <a:ext cx="1645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PSYCHOLOGY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514600"/>
            <a:ext cx="1645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Thiết kế chỉ số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5784" y="1874519"/>
            <a:ext cx="2057400" cy="182880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15784" y="1874519"/>
            <a:ext cx="64008" cy="18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44384" y="2057400"/>
            <a:ext cx="1645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4" y="2514600"/>
            <a:ext cx="1645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Thu thập dữ liệu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20072" y="1874519"/>
            <a:ext cx="2057400" cy="182880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720072" y="1874519"/>
            <a:ext cx="64008" cy="18288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48672" y="2057400"/>
            <a:ext cx="1645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8672" y="2514600"/>
            <a:ext cx="1645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Phân tích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0916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Aptos"/>
              </a:rPr>
              <a:t>RESEARCH → BUILD → COLLECT → ANALYZE → COMMUNICATE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Mọi nghiên cứu bắt đầu từ một vấn đề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Bạo lực học đường không chỉ là đánh nhau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Bắt nạt trực tiếp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1284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Chế giễu và cô lập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79776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Lan truyền hình ảnh /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46704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Bắt nạt trên mạng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13632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Chứng kiến nhưng không can thiệp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667EEA"/>
                </a:solidFill>
                <a:latin typeface="Aptos"/>
              </a:rPr>
              <a:t>Câu hỏi trung tâm: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5F7FA"/>
                </a:solidFill>
                <a:latin typeface="Aptos"/>
              </a:rPr>
              <a:t>“Nếu một học sinh chứng kiến một tình huống bắt nạt, họ sẽ làm gì?”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Tại sao chọn Game?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Biến câu hỏi giả định thành trải nghiệm ra quyết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29200" cy="182880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64008" cy="18288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617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TRUYỀN THỐNG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4617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Hỏi: “Bạn sẽ làm gì?”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029200" cy="182880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64008" cy="1828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011680"/>
            <a:ext cx="4617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DỰ ÁN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468880"/>
            <a:ext cx="4617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Đặt người chơi vào tình huống và yêu cầu họ ra quyết định.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5F7FA"/>
                </a:solidFill>
                <a:latin typeface="Aptos"/>
              </a:rPr>
              <a:t>Người chơi không chỉ trả lời — họ trải nghiệm và lựa chọn.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Từ vấn đề đến câu hỏi nghiên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Quy trình tư duy khoa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68880"/>
            <a:ext cx="1416013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468880"/>
            <a:ext cx="64008" cy="9601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453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VẤN ĐỀ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8117" y="2468880"/>
            <a:ext cx="1416013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48117" y="2468880"/>
            <a:ext cx="64008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76717" y="2651760"/>
            <a:ext cx="100453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CÂU HỎI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435" y="2468880"/>
            <a:ext cx="1416013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10435" y="2468880"/>
            <a:ext cx="64008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39035" y="2651760"/>
            <a:ext cx="100453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TÌNH HUỐNG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2753" y="2468880"/>
            <a:ext cx="1416013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72753" y="2468880"/>
            <a:ext cx="64008" cy="960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01353" y="2651760"/>
            <a:ext cx="100453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LỰA CHỌN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35070" y="2468880"/>
            <a:ext cx="1416013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935070" y="2468880"/>
            <a:ext cx="64008" cy="9601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63670" y="2651760"/>
            <a:ext cx="100453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DỮ LIỆU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97388" y="2468880"/>
            <a:ext cx="1416013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497388" y="2468880"/>
            <a:ext cx="64008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25988" y="2651760"/>
            <a:ext cx="100453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PHÂN TÍCH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9706" y="2468880"/>
            <a:ext cx="1416013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059706" y="2468880"/>
            <a:ext cx="64008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88306" y="2651760"/>
            <a:ext cx="100453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KẾT LUẬN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Một đề tài nghiên cứu cần gì?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Khung tư duy cốt lõi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514600" cy="132588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3258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210312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Research Problem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514600" cy="132588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645920"/>
            <a:ext cx="64008" cy="13258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03320" y="1828800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286000"/>
            <a:ext cx="210312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Research Question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2514600" cy="132588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645920"/>
            <a:ext cx="64008" cy="1325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1828800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286000"/>
            <a:ext cx="210312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Hypothesis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645920"/>
            <a:ext cx="2514600" cy="132588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645920"/>
            <a:ext cx="64008" cy="13258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72600" y="1828800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286000"/>
            <a:ext cx="210312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Methodology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474720"/>
            <a:ext cx="2514600" cy="132588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3474720"/>
            <a:ext cx="64008" cy="13258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657600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114800"/>
            <a:ext cx="210312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3474720"/>
            <a:ext cx="2514600" cy="132588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474720" y="3474720"/>
            <a:ext cx="64008" cy="13258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03320" y="3657600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114800"/>
            <a:ext cx="210312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Analysis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474720"/>
            <a:ext cx="2514600" cy="132588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09360" y="3474720"/>
            <a:ext cx="64008" cy="1325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60" y="3657600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114800"/>
            <a:ext cx="210312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Conclusion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Ví dụ từ chính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Kết nối câu hỏi — phương pháp —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74720" cy="182880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64008" cy="18288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30632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RESEARCH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39"/>
            <a:ext cx="306323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Học sinh có thể phản ứng khác nhau khi chứng kiến bạo lực học đường.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74720" cy="182880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64008" cy="1828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20240"/>
            <a:ext cx="30632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RESEARCH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77439"/>
            <a:ext cx="306323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Game tương tác có thể được dùng để tìm hiểu xu hướng phản ứng như thế nào?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474720" cy="182880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64008" cy="18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920240"/>
            <a:ext cx="30632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DATA →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77439"/>
            <a:ext cx="306323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Lựa chọn + điểm chỉ số → Dashboard → xu hướng.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Ba nhóm chỉ số tâm lý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Đo lường phản ứng của người chơi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29000" cy="219456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64008" cy="21945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EMPATHY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Thấu cảm</a:t>
            </a:r>
            <a:br/>
            <a:r>
              <a:rPr sz="1300" b="0">
                <a:solidFill>
                  <a:srgbClr val="AAB4C3"/>
                </a:solidFill>
                <a:latin typeface="Aptos"/>
              </a:rPr>
              <a:t>Hiểu cảm xúc và góc nhìn.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429000" cy="219456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1828800"/>
            <a:ext cx="64008" cy="2194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201168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SELF-EFFICACY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468880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Tự tin ứng phó</a:t>
            </a:r>
            <a:br/>
            <a:r>
              <a:rPr sz="1300" b="0">
                <a:solidFill>
                  <a:srgbClr val="AAB4C3"/>
                </a:solidFill>
                <a:latin typeface="Aptos"/>
              </a:rPr>
              <a:t>Niềm tin vào khả năng xử lý.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828800"/>
            <a:ext cx="3429000" cy="219456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20" y="1828800"/>
            <a:ext cx="64008" cy="2194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201168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INTERVENTION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468880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Ý định can thiệp</a:t>
            </a:r>
            <a:br/>
            <a:r>
              <a:rPr sz="1300" b="0">
                <a:solidFill>
                  <a:srgbClr val="AAB4C3"/>
                </a:solidFill>
                <a:latin typeface="Aptos"/>
              </a:rPr>
              <a:t>Sẵn sàng hành động hỗ trợ.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Tại sao dùng Ren'Py?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Biến kịch bản thành trải nghiệm tương tác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label / scene / show / hide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671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character &amp; dialogue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34056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menu và branching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00984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if / elif / else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67912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variables &amp;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3484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screen và giao diện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Cấu trúc một tình huống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Mỗi lựa chọn phải phục vụ mục tiêu nghiên cứu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68880"/>
            <a:ext cx="2040940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468880"/>
            <a:ext cx="64008" cy="9601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6294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TÌNH HUỐNG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73044" y="2468880"/>
            <a:ext cx="2040940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73044" y="2468880"/>
            <a:ext cx="64008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1644" y="2651760"/>
            <a:ext cx="16294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MÔ TẢ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60289" y="2468880"/>
            <a:ext cx="2040940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60289" y="2468880"/>
            <a:ext cx="64008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88889" y="2651760"/>
            <a:ext cx="16294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4 LỰA CHỌN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7534" y="2468880"/>
            <a:ext cx="2040940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47534" y="2468880"/>
            <a:ext cx="64008" cy="960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76134" y="2651760"/>
            <a:ext cx="16294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PHẢN ỨNG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4779" y="2468880"/>
            <a:ext cx="2040940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434779" y="2468880"/>
            <a:ext cx="64008" cy="9601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63379" y="2651760"/>
            <a:ext cx="16294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TÌNH HUỐNG TIẾP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548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5F7FA"/>
                </a:solidFill>
                <a:latin typeface="Aptos"/>
              </a:rPr>
              <a:t>Mỗi lựa chọn phải có ý nghĩa đối với mục tiêu nghiên cứu.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Game không chỉ để “chơi”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Game có thể trở thành công cụ thu thập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4937760" cy="182880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64008" cy="18288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4526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GAME TRUYỀN THỐNG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60320"/>
            <a:ext cx="4526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Người chơi → chơi → thắng / thua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920240"/>
            <a:ext cx="4937760" cy="182880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920240"/>
            <a:ext cx="64008" cy="1828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103120"/>
            <a:ext cx="4526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GAME NGHIÊN CỨU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560320"/>
            <a:ext cx="4526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Người chơi → lựa chọn → dữ liệu → phân tích → kết luận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Branching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Câu chuyện thay đổi theo quyết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554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67EEA"/>
                </a:solidFill>
                <a:latin typeface="Aptos"/>
              </a:rPr>
              <a:t>TÌNH HUỐNG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60320"/>
            <a:ext cx="2194560" cy="128016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2560320"/>
            <a:ext cx="64008" cy="12801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1783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CHOICE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200400"/>
            <a:ext cx="1783080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→ tình huống khác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2560320"/>
            <a:ext cx="2194560" cy="128016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703320" y="2560320"/>
            <a:ext cx="64008" cy="1280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31920" y="2743200"/>
            <a:ext cx="1783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CHOICE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200400"/>
            <a:ext cx="1783080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→ tình huống khác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560320"/>
            <a:ext cx="2194560" cy="128016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92240" y="2560320"/>
            <a:ext cx="64008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0840" y="2743200"/>
            <a:ext cx="1783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CHOICE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200400"/>
            <a:ext cx="1783080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→ tình huống khác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59" y="2560320"/>
            <a:ext cx="2194560" cy="128016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81159" y="2560320"/>
            <a:ext cx="64008" cy="1280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59" y="2743200"/>
            <a:ext cx="1783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CHOICE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59" y="3200400"/>
            <a:ext cx="1783080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→ tình huống khác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45720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AAB4C3"/>
                </a:solidFill>
                <a:latin typeface="Aptos"/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0292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5F7FA"/>
                </a:solidFill>
                <a:latin typeface="Aptos"/>
              </a:rPr>
              <a:t>KẾT QUẢ / TRẠNG THÁI CUỐI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Từ lựa chọn đến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Một lựa chọn có thể trở thành biến nghiên cứu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743200" cy="155448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64008" cy="15544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CHOICE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233172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report_teacher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1828800"/>
            <a:ext cx="3017520" cy="155448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023360" y="1828800"/>
            <a:ext cx="64008" cy="1554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51960" y="2011680"/>
            <a:ext cx="26060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SCORES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468880"/>
            <a:ext cx="2606039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empathy +2</a:t>
            </a:r>
            <a:br/>
            <a:r>
              <a:rPr sz="1300" b="0">
                <a:solidFill>
                  <a:srgbClr val="AAB4C3"/>
                </a:solidFill>
                <a:latin typeface="Aptos"/>
              </a:rPr>
              <a:t>self_efficacy +1</a:t>
            </a:r>
            <a:br/>
            <a:r>
              <a:rPr sz="1300" b="0">
                <a:solidFill>
                  <a:srgbClr val="AAB4C3"/>
                </a:solidFill>
                <a:latin typeface="Aptos"/>
              </a:rPr>
              <a:t>intervention +3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828800"/>
            <a:ext cx="3657600" cy="155448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89520" y="1828800"/>
            <a:ext cx="64008" cy="1554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20" y="2011680"/>
            <a:ext cx="3246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DATASET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468880"/>
            <a:ext cx="324612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scenario, choice, scores...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F5F7FA"/>
                </a:solidFill>
                <a:latin typeface="Aptos"/>
              </a:rPr>
              <a:t>Lựa chọn trong game → biến số → dữ liệu có thể phân tích.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CSV — cây cầu giữa Game và Data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Đưa dữ liệu từ game vào phân tích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68880"/>
            <a:ext cx="1676400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468880"/>
            <a:ext cx="64008" cy="9601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26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REN'PY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8504" y="2468880"/>
            <a:ext cx="1676400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08504" y="2468880"/>
            <a:ext cx="64008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37104" y="2651760"/>
            <a:ext cx="126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PLAYER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1208" y="2468880"/>
            <a:ext cx="1676400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31208" y="2468880"/>
            <a:ext cx="64008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9808" y="2651760"/>
            <a:ext cx="126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SAVE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2468880"/>
            <a:ext cx="1676400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53912" y="2468880"/>
            <a:ext cx="64008" cy="960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2651760"/>
            <a:ext cx="126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6615" y="2468880"/>
            <a:ext cx="1676400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76615" y="2468880"/>
            <a:ext cx="64008" cy="9601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05215" y="2651760"/>
            <a:ext cx="126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PYTHON / PANDAS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99319" y="2468880"/>
            <a:ext cx="1676400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799319" y="2468880"/>
            <a:ext cx="64008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27919" y="2651760"/>
            <a:ext cx="126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STREAMLIT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Tại sao cần Dashboard?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Khi dữ liệu tăng, cần tổng hợp và trực quan hóa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Tổng hợp dữ liệu nhanh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1284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Lọc và so sánh nhóm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79776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Nhìn thấy xu hướng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46704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Trực quan hóa kết quả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13632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Hỗ trợ giải thích dữ liệu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Kiến trúc toàn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Từ người chơi đến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77440"/>
            <a:ext cx="1676400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377440"/>
            <a:ext cx="64008" cy="9601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26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PLAYER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8504" y="2377440"/>
            <a:ext cx="1676400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08504" y="2377440"/>
            <a:ext cx="64008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37104" y="2560320"/>
            <a:ext cx="126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REN'PY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1208" y="2377440"/>
            <a:ext cx="1676400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31208" y="2377440"/>
            <a:ext cx="64008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9808" y="2560320"/>
            <a:ext cx="126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CSV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2377440"/>
            <a:ext cx="1676400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53912" y="2377440"/>
            <a:ext cx="64008" cy="960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2560320"/>
            <a:ext cx="126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PYTHON / PANDAS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6615" y="2377440"/>
            <a:ext cx="1676400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76615" y="2377440"/>
            <a:ext cx="64008" cy="9601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05215" y="2560320"/>
            <a:ext cx="126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STREAMLIT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99319" y="2377440"/>
            <a:ext cx="1676400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799319" y="2377440"/>
            <a:ext cx="64008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27919" y="2560320"/>
            <a:ext cx="126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DASHBOARD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Dashboard có thể trả lời gì?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Biến dữ liệu thành câu hỏi có thể trả lời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16459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4008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PLAYERS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47091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Có bao nhiêu người tham gia?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645920"/>
            <a:ext cx="5120640" cy="16459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59" y="1645920"/>
            <a:ext cx="64008" cy="1645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59" y="1828800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BEHAVIOR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286000"/>
            <a:ext cx="47091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Lựa chọn nào phổ biến?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120640" cy="16459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64008" cy="1645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931920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PSYCHOLOGY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389120"/>
            <a:ext cx="47091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Điểm các chỉ số?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749039"/>
            <a:ext cx="5120640" cy="16459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3749039"/>
            <a:ext cx="64008" cy="1645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59" y="3931920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COMPARE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4389120"/>
            <a:ext cx="47091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Nhóm / tình huống nào khác nhau?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Chọn đúng biểu đồ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Visualization phục vụ câu hỏi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29000" cy="155448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64008" cy="15544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01752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So sánh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45920"/>
            <a:ext cx="3429000" cy="155448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1645920"/>
            <a:ext cx="64008" cy="1554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182880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PIE / DONUT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286000"/>
            <a:ext cx="301752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Tỷ lệ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45920"/>
            <a:ext cx="3429000" cy="155448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20" y="1645920"/>
            <a:ext cx="64008" cy="1554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182880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286000"/>
            <a:ext cx="301752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Xu hướng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3429000" cy="155448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657600"/>
            <a:ext cx="64008" cy="1554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HISTOGRAM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97680"/>
            <a:ext cx="301752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Phân bố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657600"/>
            <a:ext cx="3429000" cy="155448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3657600"/>
            <a:ext cx="64008" cy="15544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09160" y="384048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BOX PLOT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297680"/>
            <a:ext cx="301752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Phân phối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657600"/>
            <a:ext cx="3429000" cy="155448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75320" y="3657600"/>
            <a:ext cx="64008" cy="1554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0" y="384048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HEATMAP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297680"/>
            <a:ext cx="301752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Mối quan hệ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Dashboard tốt không phải Dashboard nhiều biểu đồ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Data visualization ≠ decoration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155448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64008" cy="15544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WHAT?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39"/>
            <a:ext cx="4709159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Điều gì xảy ra?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737360"/>
            <a:ext cx="5120640" cy="155448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59" y="1737360"/>
            <a:ext cx="64008" cy="1554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59" y="1920240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WHY?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377439"/>
            <a:ext cx="4709159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Tại sao?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120640" cy="155448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64008" cy="1554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931920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WHO?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389120"/>
            <a:ext cx="4709159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Nhóm nào?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749039"/>
            <a:ext cx="5120640" cy="155448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3749039"/>
            <a:ext cx="64008" cy="1554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59" y="3931920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SO WHAT?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4389120"/>
            <a:ext cx="4709159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Ý nghĩa gì?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Đừng nhầm dữ liệu với 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Một con số chưa tự nó là 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4754880" cy="182880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64008" cy="18288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4343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DỮ LIỆU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4343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65% người chơi chọn “báo giáo viên”.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828800"/>
            <a:ext cx="4754880" cy="182880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1828800"/>
            <a:ext cx="64008" cy="18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2011680"/>
            <a:ext cx="4343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CHƯA PHẢI KẾT LUẬN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468880"/>
            <a:ext cx="4343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Không thể tự động suy ra 65% học sinh ngoài đời sẽ can thiệp.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5F7FA"/>
                </a:solidFill>
                <a:latin typeface="Aptos"/>
              </a:rPr>
              <a:t>Cần xem xét mẫu, cách đo, thiết kế và bối cảnh.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Tư duy phản biện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Luôn hỏi: dữ liệu thực sự chứng minh điều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5F7FA"/>
                </a:solidFill>
                <a:latin typeface="Aptos"/>
              </a:rPr>
              <a:t>80% người chơi chọn phương án can thiệp.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8B5CF6"/>
                </a:solidFill>
                <a:latin typeface="Aptos"/>
              </a:rPr>
              <a:t>Điều đó có nghĩa 80% học sinh ngoài đời sẽ can thiệp?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AAB4C3"/>
                </a:solidFill>
                <a:latin typeface="Aptos"/>
              </a:rPr>
              <a:t>Hãy kiểm tra: mẫu • tình huống • thang đo • bias • bối cảnh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Game không phải “máy đo tâm lý”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Measure ≠ Diagnose | Data ≠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667EEA"/>
                </a:solidFill>
                <a:latin typeface="Aptos"/>
              </a:rPr>
              <a:t>MEASURE ≠ DIAGNOSE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8B5CF6"/>
                </a:solidFill>
                <a:latin typeface="Aptos"/>
              </a:rPr>
              <a:t>DATA ≠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>
                <a:solidFill>
                  <a:srgbClr val="22C55E"/>
                </a:solidFill>
                <a:latin typeface="Aptos"/>
              </a:rPr>
              <a:t>CORRELATION ≠ CAUSATION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Đạo đức nghiên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Trách nhiệm đi cùng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Privacy — tôn trọng quyền riêng tư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671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Anonymization — ẩn danh dữ liệu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34056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Informed Consent — đồng thuận có hiểu biết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00984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Data Security — bảo vệ dữ liệu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67912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Responsible Research — nghiên cứu có trách nhiệm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Một nhà nghiên cứu tốt cần gì?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Công nghệ là công cụ; tư duy là nền tảng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011680" cy="155448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64008" cy="15544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1600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CURIOSITY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16002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Tò mò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286000"/>
            <a:ext cx="2011680" cy="155448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26080" y="2286000"/>
            <a:ext cx="64008" cy="1554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54680" y="2468880"/>
            <a:ext cx="1600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CRITICAL THINKING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926080"/>
            <a:ext cx="16002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Tư duy phản biện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2286000"/>
            <a:ext cx="2011680" cy="155448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12080" y="2286000"/>
            <a:ext cx="64008" cy="1554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40680" y="2468880"/>
            <a:ext cx="1600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ETHICS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2926080"/>
            <a:ext cx="16002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Đạo đức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2286000"/>
            <a:ext cx="2011680" cy="155448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98079" y="2286000"/>
            <a:ext cx="64008" cy="1554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26679" y="2468880"/>
            <a:ext cx="1600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COMMUNICATION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926080"/>
            <a:ext cx="16002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Giao tiếp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2286000"/>
            <a:ext cx="2011680" cy="155448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784080" y="2286000"/>
            <a:ext cx="64008" cy="15544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12680" y="2468880"/>
            <a:ext cx="1600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PROBLEM SOLVING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2926080"/>
            <a:ext cx="16002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Giải quyết vấn đề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F5F7FA"/>
                </a:solidFill>
                <a:latin typeface="Aptos"/>
              </a:rPr>
              <a:t>Công nghệ chỉ là công cụ. Câu hỏi nghiên cứu mới là trung tâm.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Những gì chúng ta đã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Roadmap của khóa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1416013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286000"/>
            <a:ext cx="64008" cy="9601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0453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RESEARCH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8117" y="2286000"/>
            <a:ext cx="1416013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48117" y="2286000"/>
            <a:ext cx="64008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76717" y="2468880"/>
            <a:ext cx="100453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435" y="2286000"/>
            <a:ext cx="1416013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10435" y="2286000"/>
            <a:ext cx="64008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39035" y="2468880"/>
            <a:ext cx="100453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REN'PY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2753" y="2286000"/>
            <a:ext cx="1416013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72753" y="2286000"/>
            <a:ext cx="64008" cy="960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01353" y="2468880"/>
            <a:ext cx="100453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35070" y="2286000"/>
            <a:ext cx="1416013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935070" y="2286000"/>
            <a:ext cx="64008" cy="9601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63670" y="2468880"/>
            <a:ext cx="100453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PYTHON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97388" y="2286000"/>
            <a:ext cx="1416013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497388" y="2286000"/>
            <a:ext cx="64008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25988" y="2468880"/>
            <a:ext cx="100453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STREAMLIT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9706" y="2286000"/>
            <a:ext cx="1416013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059706" y="2286000"/>
            <a:ext cx="64008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88306" y="2468880"/>
            <a:ext cx="100453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ANALYSIS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Skill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Các kỹ năng hội tụ trong một dự 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667EEA"/>
                </a:solidFill>
                <a:latin typeface="Aptos"/>
              </a:rPr>
              <a:t>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46888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F5F7FA"/>
                </a:solidFill>
                <a:latin typeface="Aptos"/>
              </a:rPr>
              <a:t>PSYCHOLOGY   •   GAME   •  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38328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5F7FA"/>
                </a:solidFill>
                <a:latin typeface="Aptos"/>
              </a:rPr>
              <a:t>REN'PY   •   PYTHON / PANDAS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8B5CF6"/>
                </a:solidFill>
                <a:latin typeface="Aptos"/>
              </a:rPr>
              <a:t>STREAMLIT → DASHBOARD → DATA STORYTELLING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FINAL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Thiết kế nhanh một mini research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F5F7FA"/>
                </a:solidFill>
                <a:latin typeface="Aptos"/>
              </a:rPr>
              <a:t>Trong 10 phút, hãy thiết kế một mini research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Research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1 Scenario + 4 Choices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62656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Chỉ số cần đo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29584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Dữ liệu cần lưu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96512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• 1 biểu đồ Dashboard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Research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Trình bày dự án trong 2–3 phút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1676400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64008" cy="9601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26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PROBLEM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8504" y="2103120"/>
            <a:ext cx="1676400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08504" y="2103120"/>
            <a:ext cx="64008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37104" y="2286000"/>
            <a:ext cx="126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QUESTION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1208" y="2103120"/>
            <a:ext cx="1676400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31208" y="2103120"/>
            <a:ext cx="64008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9808" y="2286000"/>
            <a:ext cx="126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GAME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2103120"/>
            <a:ext cx="1676400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53912" y="2103120"/>
            <a:ext cx="64008" cy="960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2286000"/>
            <a:ext cx="126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6615" y="2103120"/>
            <a:ext cx="1676400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76615" y="2103120"/>
            <a:ext cx="64008" cy="9601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05215" y="2286000"/>
            <a:ext cx="126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ANALYSIS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99319" y="2103120"/>
            <a:ext cx="1676400" cy="960120"/>
          </a:xfrm>
          <a:prstGeom prst="roundRect">
            <a:avLst/>
          </a:prstGeom>
          <a:solidFill>
            <a:srgbClr val="141A2B"/>
          </a:solidFill>
          <a:ln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799319" y="2103120"/>
            <a:ext cx="64008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27919" y="2286000"/>
            <a:ext cx="126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46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667EEA"/>
                </a:solidFill>
                <a:latin typeface="Aptos"/>
              </a:rPr>
              <a:t>2–3 phút / nhóm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YOU DIDN'T JUST MAKE A GAME.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YOU BUILT A RESEARCH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100" b="1">
                <a:solidFill>
                  <a:srgbClr val="F5F7FA"/>
                </a:solidFill>
                <a:latin typeface="Aptos"/>
              </a:rPr>
              <a:t>YOU DIDN'T JUST MAKE A GAME.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100" b="1">
                <a:solidFill>
                  <a:srgbClr val="667EEA"/>
                </a:solidFill>
                <a:latin typeface="Aptos"/>
              </a:rPr>
              <a:t>YOU BUILT A RESEARCH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AAB4C3"/>
                </a:solidFill>
                <a:latin typeface="Aptos"/>
              </a:rPr>
              <a:t>Problem → Question → Experience → Data → Insight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Keep asking. Keep building. Keep researching.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4C3"/>
                </a:solidFill>
                <a:latin typeface="Aptos"/>
              </a:rPr>
              <a:t>Cảm ơn các em đã đồng hành.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30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67EEA"/>
                </a:solidFill>
                <a:latin typeface="Aptos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100" b="1">
                <a:solidFill>
                  <a:srgbClr val="F5F7FA"/>
                </a:solidFill>
                <a:latin typeface="Aptos"/>
              </a:rPr>
              <a:t>KEEP ASKING.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100" b="1">
                <a:solidFill>
                  <a:srgbClr val="667EEA"/>
                </a:solidFill>
                <a:latin typeface="Aptos"/>
              </a:rPr>
              <a:t>KEEP BUILDING.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100" b="1">
                <a:solidFill>
                  <a:srgbClr val="8B5CF6"/>
                </a:solidFill>
                <a:latin typeface="Aptos"/>
              </a:rPr>
              <a:t>KEEP RESEARCHING.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AAB4C3"/>
                </a:solidFill>
                <a:latin typeface="Aptos"/>
              </a:rPr>
              <a:t>Cảm ơn các em đã đồng hành trong khóa học.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1277</Words>
  <Application>Microsoft Office PowerPoint</Application>
  <PresentationFormat>Widescreen</PresentationFormat>
  <Paragraphs>284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Lê Đăng</cp:lastModifiedBy>
  <cp:revision>2</cp:revision>
  <dcterms:created xsi:type="dcterms:W3CDTF">2013-01-27T09:14:16Z</dcterms:created>
  <dcterms:modified xsi:type="dcterms:W3CDTF">2026-09-07T14:00:44Z</dcterms:modified>
  <cp:category/>
</cp:coreProperties>
</file>